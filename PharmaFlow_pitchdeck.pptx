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8" r:id="rId8"/>
    <p:sldId id="269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84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3E15F-950E-EC16-34F2-545CC3F43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12214-83B7-5B80-348F-2F0B0B4E1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FF88E-761E-1DA6-CBE0-4445C00A9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F8207-60EA-10FD-DCE2-FC6EA80DAB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15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665C-25EB-3DB0-5416-F39DDC31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DE2E5-2A26-3EEC-4307-8C16C1A9D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08801-C462-14E6-784E-B9FD2D6E8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E593E-EAB5-165B-BDD5-96AFE8AC27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4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HEALTHCARE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PharmaFlow-AI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" y="171907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Cost Optimization Agent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Insurance Companies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8138160" cy="0"/>
          </a:xfrm>
          <a:prstGeom prst="line">
            <a:avLst/>
          </a:prstGeom>
          <a:noFill/>
          <a:ln w="15240">
            <a:solidFill>
              <a:srgbClr val="30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pharmacy claims into decision-ready savings reports  with the clinical documents to act on them.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University  ·  Agentic AI for Analytics</a:t>
            </a:r>
          </a:p>
          <a:p>
            <a:pPr marL="0" indent="0">
              <a:buNone/>
            </a:pPr>
            <a:endParaRPr lang="en-US" sz="11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Members: Aditi Mittal (am6845) 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                  Ayush Kumar (ak5486)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MULTI-AGENT PIPELINE  ·  RAG  ·  STRUCTURED OUTPUT  ·  ARTIFACT GENERATION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2651760" cy="13258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$400B+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annual drug spend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insurers &amp; health plans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115568"/>
            <a:ext cx="2651760" cy="13258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9272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10712" y="1719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top-selling brand drugs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generic equivalent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27064" y="1115568"/>
            <a:ext cx="2651760" cy="13258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18504" y="1719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makes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plans weeks late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for Insurers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2999232"/>
            <a:ext cx="73152" cy="3200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99923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fragmented: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299923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 spans NDC codes, drug names, member IDs, formulary rules, and pricing files, spread across different systems.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438144"/>
            <a:ext cx="73152" cy="3200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4381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action path: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57400" y="343814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can see the paid claim, but turning raw data into a savings opportunity with clinical backing is a slow, manual process.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77056"/>
            <a:ext cx="73152" cy="3200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87705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risk is invisible: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57400" y="387705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brand→generic switch is safe. Clinical risk, adherence impact, and pharmacy access all affect whether a switch should proceed.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64008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09728" cy="6400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0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 helps insurance companies find expensive brand-name prescription claims with lower-cost generic options, estimate savings with clinical risk adjustment, and generate the documents needed to act, all from a single claims CSV upload.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2724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724912" cy="10972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25420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76072" y="292608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Agent maps brand drugs to FDA-approved generics using Orange Book + NADAC data. No LLM guessing, pure warehouse SQL.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9272" y="1874520"/>
            <a:ext cx="2724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19272" y="1874520"/>
            <a:ext cx="2724912" cy="10972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9272" y="20116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56432" y="25420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83864" y="292608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Auditor, Clinician &amp; Social Navigator agents score each opportunity for gross savings, clinical risk, adherence impact, and pharmacy access.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27064" y="1874520"/>
            <a:ext cx="2724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27064" y="1874520"/>
            <a:ext cx="2724912" cy="10972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27064" y="201168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64224" y="25420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91656" y="292608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plan generates a 4-document Switch Package: doctor letter, patient notice, pharmacy alignment note, and internal payer memo, downloadable as a ZIP.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User: Who Pays for This?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paying customer is the insurance company, not the patient.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8321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1143000" cy="987552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91640" y="151790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Company / Health 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Pharmacy analytics analyst · Medical economics analyst · Pharmacy benefit director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91640" y="20116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drug spend, improve margins, stay competitive. Saving $40/member/month on 500 members = $20,000/month from one opportunity.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60320"/>
            <a:ext cx="8321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560320"/>
            <a:ext cx="1143000" cy="987552"/>
          </a:xfrm>
          <a:prstGeom prst="rect">
            <a:avLst/>
          </a:prstGeom>
          <a:solidFill>
            <a:srgbClr val="1F4A3C"/>
          </a:solidFill>
          <a:ln w="12700">
            <a:solidFill>
              <a:srgbClr val="1F4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SECONDARY</a:t>
            </a:r>
          </a:p>
        </p:txBody>
      </p:sp>
      <p:sp>
        <p:nvSpPr>
          <p:cNvPr id="16" name="Text 14"/>
          <p:cNvSpPr/>
          <p:nvPr/>
        </p:nvSpPr>
        <p:spPr>
          <a:xfrm>
            <a:off x="1691640" y="261518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 / Benefits Team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28803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Formulary manager · Client service lead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31089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one-off spreadsheet work with a repeatable, auditable review process for savings opportunities.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8321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657600"/>
            <a:ext cx="1143000" cy="987552"/>
          </a:xfrm>
          <a:prstGeom prst="rect">
            <a:avLst/>
          </a:prstGeom>
          <a:solidFill>
            <a:srgbClr val="3B3060"/>
          </a:solidFill>
          <a:ln w="12700">
            <a:solidFill>
              <a:srgbClr val="3B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65760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91640" y="37124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Doctors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39776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Patient · Physician · Pharmacist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91640" y="420624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copays and clearer generic-switch explanations, but they are not the buyer.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>
            <a:extLst>
              <a:ext uri="{FF2B5EF4-FFF2-40B4-BE49-F238E27FC236}">
                <a16:creationId xmlns:a16="http://schemas.microsoft.com/office/drawing/2014/main" id="{F0FC6DB5-DF55-A72B-337A-DFAEEB897B5E}"/>
              </a:ext>
            </a:extLst>
          </p:cNvPr>
          <p:cNvSpPr/>
          <p:nvPr/>
        </p:nvSpPr>
        <p:spPr>
          <a:xfrm>
            <a:off x="3098799" y="1695939"/>
            <a:ext cx="2946401" cy="120357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Packaging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2724912" cy="35661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2724912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rgbClr val="C68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$500/mo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savings scan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31136"/>
            <a:ext cx="2450592" cy="0"/>
          </a:xfrm>
          <a:prstGeom prst="line">
            <a:avLst/>
          </a:prstGeom>
          <a:noFill/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6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Brand-vs-generic opportunity list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807208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6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savings estimate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282696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6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19272" y="1078992"/>
            <a:ext cx="2724912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19272" y="1078992"/>
            <a:ext cx="2724912" cy="9144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56432" y="11887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56432" y="157276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$1200/mo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56432" y="190195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prioritization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56432" y="2231136"/>
            <a:ext cx="2450592" cy="0"/>
          </a:xfrm>
          <a:prstGeom prst="line">
            <a:avLst/>
          </a:prstGeom>
          <a:noFill/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02152" y="233172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Bronze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02152" y="2807208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+ access risk summaries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02152" y="3282696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/ Review / Do Not Switch bands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02152" y="3758184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charts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4879" y="1078992"/>
            <a:ext cx="2724912" cy="3566160"/>
          </a:xfrm>
          <a:prstGeom prst="rect">
            <a:avLst/>
          </a:prstGeom>
          <a:solidFill>
            <a:srgbClr val="FFF8E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227064" y="1078992"/>
            <a:ext cx="2724912" cy="91440"/>
          </a:xfrm>
          <a:prstGeom prst="rect">
            <a:avLst/>
          </a:prstGeom>
          <a:solidFill>
            <a:srgbClr val="C68B3A"/>
          </a:solidFill>
          <a:ln w="12700">
            <a:solidFill>
              <a:srgbClr val="C68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64224" y="118872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68B3A"/>
                </a:solidFill>
                <a:latin typeface="Calibri" pitchFamily="34" charset="0"/>
                <a:cs typeface="Calibri" pitchFamily="34" charset="-120"/>
              </a:rPr>
              <a:t>Gold</a:t>
            </a: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64224" y="157276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$2500/mo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64224" y="190195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Ready to act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64224" y="2231136"/>
            <a:ext cx="2450592" cy="0"/>
          </a:xfrm>
          <a:prstGeom prst="line">
            <a:avLst/>
          </a:prstGeom>
          <a:noFill/>
          <a:ln w="10160">
            <a:solidFill>
              <a:srgbClr val="30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9944" y="2331720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Silver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9944" y="2807208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Member-level view + CSV export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9944" y="3282696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4-document Switch Package download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9944" y="3758184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Doctor letter · Patient notice · Pharmacist note · Payer memo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9C7F5-8ABE-0258-69CE-D2C4D014E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>
            <a:extLst>
              <a:ext uri="{FF2B5EF4-FFF2-40B4-BE49-F238E27FC236}">
                <a16:creationId xmlns:a16="http://schemas.microsoft.com/office/drawing/2014/main" id="{D8CA2283-EEBF-127B-9AE5-90BB4EB4347F}"/>
              </a:ext>
            </a:extLst>
          </p:cNvPr>
          <p:cNvSpPr/>
          <p:nvPr/>
        </p:nvSpPr>
        <p:spPr>
          <a:xfrm>
            <a:off x="11430" y="0"/>
            <a:ext cx="9121140" cy="720090"/>
          </a:xfrm>
          <a:prstGeom prst="rect">
            <a:avLst/>
          </a:prstGeom>
          <a:solidFill>
            <a:srgbClr val="1E3257"/>
          </a:solidFill>
          <a:ln w="12700">
            <a:solidFill>
              <a:srgbClr val="1E3257"/>
            </a:solidFill>
            <a:prstDash val="solid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1790445B-5D9E-8938-C321-747438E5EAFA}"/>
              </a:ext>
            </a:extLst>
          </p:cNvPr>
          <p:cNvSpPr/>
          <p:nvPr/>
        </p:nvSpPr>
        <p:spPr>
          <a:xfrm>
            <a:off x="274320" y="54864"/>
            <a:ext cx="73380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$20K+/month opportunity for insurers through</a:t>
            </a:r>
            <a:endParaRPr lang="en-US" sz="20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3A0A01E2-9D71-F42D-9353-A1BCB332AC7C}"/>
              </a:ext>
            </a:extLst>
          </p:cNvPr>
          <p:cNvSpPr/>
          <p:nvPr/>
        </p:nvSpPr>
        <p:spPr>
          <a:xfrm>
            <a:off x="274320" y="377190"/>
            <a:ext cx="73380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AI's prescription cost optimization</a:t>
            </a:r>
            <a:endParaRPr lang="en-US" sz="2000" dirty="0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55F8BD30-25F2-7E70-DC57-9985C3928FD6}"/>
              </a:ext>
            </a:extLst>
          </p:cNvPr>
          <p:cNvSpPr/>
          <p:nvPr/>
        </p:nvSpPr>
        <p:spPr>
          <a:xfrm>
            <a:off x="0" y="720090"/>
            <a:ext cx="9121140" cy="17145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EB1103C7-1DE8-ABE1-05B7-BF002EC51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809244"/>
            <a:ext cx="240030" cy="240030"/>
          </a:xfrm>
          <a:prstGeom prst="rect">
            <a:avLst/>
          </a:prstGeom>
        </p:spPr>
      </p:pic>
      <p:sp>
        <p:nvSpPr>
          <p:cNvPr id="28" name="Text 6">
            <a:extLst>
              <a:ext uri="{FF2B5EF4-FFF2-40B4-BE49-F238E27FC236}">
                <a16:creationId xmlns:a16="http://schemas.microsoft.com/office/drawing/2014/main" id="{BC4BDAE5-DB39-1E2B-801C-C78DC5E41349}"/>
              </a:ext>
            </a:extLst>
          </p:cNvPr>
          <p:cNvSpPr/>
          <p:nvPr/>
        </p:nvSpPr>
        <p:spPr>
          <a:xfrm>
            <a:off x="548640" y="788670"/>
            <a:ext cx="3840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spend is a top cost driver for health plans</a:t>
            </a:r>
            <a:endParaRPr lang="en-US" sz="1400" b="1" dirty="0">
              <a:solidFill>
                <a:schemeClr val="accent2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D4C5CBF0-AEE6-2D59-4DE9-CC2A031E431F}"/>
              </a:ext>
            </a:extLst>
          </p:cNvPr>
          <p:cNvSpPr/>
          <p:nvPr/>
        </p:nvSpPr>
        <p:spPr>
          <a:xfrm>
            <a:off x="240030" y="1131571"/>
            <a:ext cx="4183380" cy="12344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1C9C613E-EFEE-ACF8-1174-F1B33B68FA3E}"/>
              </a:ext>
            </a:extLst>
          </p:cNvPr>
          <p:cNvSpPr/>
          <p:nvPr/>
        </p:nvSpPr>
        <p:spPr>
          <a:xfrm>
            <a:off x="240030" y="1200150"/>
            <a:ext cx="4183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Brand drugs inflate premiums and erode margins</a:t>
            </a:r>
            <a:endParaRPr lang="en-US" sz="12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BDE549A-8318-31C2-3D86-3B58567975D0}"/>
              </a:ext>
            </a:extLst>
          </p:cNvPr>
          <p:cNvSpPr/>
          <p:nvPr/>
        </p:nvSpPr>
        <p:spPr>
          <a:xfrm>
            <a:off x="308610" y="1525905"/>
            <a:ext cx="408051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top-selling brands have an FDA-approved generic equivalent</a:t>
            </a:r>
            <a:endParaRPr lang="en-US" sz="1050" dirty="0"/>
          </a:p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Brand-to-generic switches average $40–$75 savings per member per month</a:t>
            </a:r>
            <a:endParaRPr lang="en-US" sz="105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B6A55C3-4ADE-1505-3518-B0C70EE9F2D8}"/>
              </a:ext>
            </a:extLst>
          </p:cNvPr>
          <p:cNvSpPr/>
          <p:nvPr/>
        </p:nvSpPr>
        <p:spPr>
          <a:xfrm>
            <a:off x="240030" y="2137410"/>
            <a:ext cx="4183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Manual drug review is slow and leaves money on the table</a:t>
            </a:r>
            <a:endParaRPr lang="en-US" sz="12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386A1F1B-E0C1-E273-5C11-2919CA86F57D}"/>
              </a:ext>
            </a:extLst>
          </p:cNvPr>
          <p:cNvSpPr/>
          <p:nvPr/>
        </p:nvSpPr>
        <p:spPr>
          <a:xfrm>
            <a:off x="308610" y="2406587"/>
            <a:ext cx="4080510" cy="683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days cross-referencing NDC codes, formulary rules, and pricing files</a:t>
            </a:r>
            <a:endParaRPr lang="en-US" sz="1050" dirty="0"/>
          </a:p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for generic switches is inconsistent, clinical nuance is often missed</a:t>
            </a:r>
            <a:endParaRPr lang="en-US" sz="105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650DDC2-79F2-1F94-40D6-AB0647EE94A8}"/>
              </a:ext>
            </a:extLst>
          </p:cNvPr>
          <p:cNvSpPr/>
          <p:nvPr/>
        </p:nvSpPr>
        <p:spPr>
          <a:xfrm>
            <a:off x="240030" y="3114675"/>
            <a:ext cx="4183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Savings reinvested unlock competitive advantage</a:t>
            </a:r>
            <a:endParaRPr lang="en-US" sz="12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159FE341-5AD3-0817-B691-A277A8F6DDA5}"/>
              </a:ext>
            </a:extLst>
          </p:cNvPr>
          <p:cNvSpPr/>
          <p:nvPr/>
        </p:nvSpPr>
        <p:spPr>
          <a:xfrm>
            <a:off x="308610" y="3403854"/>
            <a:ext cx="4080510" cy="1146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drug spend improves medical loss ratio (MLR), freeing budget for member experience</a:t>
            </a:r>
            <a:endParaRPr lang="en-US" sz="1050" dirty="0"/>
          </a:p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capital can fund digital health tools, preventive care programs, and AI investments</a:t>
            </a:r>
            <a:endParaRPr lang="en-US" sz="1050" dirty="0"/>
          </a:p>
          <a:p>
            <a:pPr marL="257175" indent="-257175">
              <a:buSzPct val="100000"/>
              <a:buChar char="•"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drug costs strengthen bid competitiveness in employer &amp; marketplace plans</a:t>
            </a:r>
            <a:endParaRPr lang="en-US" sz="105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6103D80B-283C-DA2E-7B16-25849125203F}"/>
              </a:ext>
            </a:extLst>
          </p:cNvPr>
          <p:cNvSpPr/>
          <p:nvPr/>
        </p:nvSpPr>
        <p:spPr>
          <a:xfrm>
            <a:off x="4526280" y="754380"/>
            <a:ext cx="13716" cy="4183380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C1CE5684-1D2A-82F2-7E73-62D37EC91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730" y="809244"/>
            <a:ext cx="240030" cy="240030"/>
          </a:xfrm>
          <a:prstGeom prst="rect">
            <a:avLst/>
          </a:prstGeom>
        </p:spPr>
      </p:pic>
      <p:sp>
        <p:nvSpPr>
          <p:cNvPr id="38" name="Text 15">
            <a:extLst>
              <a:ext uri="{FF2B5EF4-FFF2-40B4-BE49-F238E27FC236}">
                <a16:creationId xmlns:a16="http://schemas.microsoft.com/office/drawing/2014/main" id="{809970DC-9FBF-1482-A5B1-A39D85FBB1B1}"/>
              </a:ext>
            </a:extLst>
          </p:cNvPr>
          <p:cNvSpPr/>
          <p:nvPr/>
        </p:nvSpPr>
        <p:spPr>
          <a:xfrm>
            <a:off x="5006340" y="788670"/>
            <a:ext cx="3840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gain financially &amp; operationally from PharmaFlow-driven generic switches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7B8ECA7B-DF16-5AE8-DD6F-188757109058}"/>
              </a:ext>
            </a:extLst>
          </p:cNvPr>
          <p:cNvSpPr/>
          <p:nvPr/>
        </p:nvSpPr>
        <p:spPr>
          <a:xfrm>
            <a:off x="4697730" y="1131571"/>
            <a:ext cx="4183380" cy="12344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863DB5C9-E850-C33E-F23B-B3A03E60F167}"/>
              </a:ext>
            </a:extLst>
          </p:cNvPr>
          <p:cNvSpPr/>
          <p:nvPr/>
        </p:nvSpPr>
        <p:spPr>
          <a:xfrm>
            <a:off x="4697730" y="1200150"/>
            <a:ext cx="4183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savings estimate - 1 small insurer, 500 members on high-cost brand drugs:</a:t>
            </a:r>
            <a:endParaRPr lang="en-US" sz="900" dirty="0"/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682D0578-3F4B-E5E7-FE79-89488F9EAA90}"/>
              </a:ext>
            </a:extLst>
          </p:cNvPr>
          <p:cNvSpPr/>
          <p:nvPr/>
        </p:nvSpPr>
        <p:spPr>
          <a:xfrm>
            <a:off x="4697730" y="1474470"/>
            <a:ext cx="1714500" cy="219456"/>
          </a:xfrm>
          <a:prstGeom prst="rect">
            <a:avLst/>
          </a:prstGeom>
          <a:solidFill>
            <a:srgbClr val="2E4480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4D3FBAAB-E062-92DE-286E-5A68CB0DF6E1}"/>
              </a:ext>
            </a:extLst>
          </p:cNvPr>
          <p:cNvSpPr/>
          <p:nvPr/>
        </p:nvSpPr>
        <p:spPr>
          <a:xfrm>
            <a:off x="4697730" y="1474470"/>
            <a:ext cx="1714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B97B9DCE-8E1B-B500-F4E5-10DBD35608F3}"/>
              </a:ext>
            </a:extLst>
          </p:cNvPr>
          <p:cNvSpPr/>
          <p:nvPr/>
        </p:nvSpPr>
        <p:spPr>
          <a:xfrm>
            <a:off x="6412230" y="1474470"/>
            <a:ext cx="1200150" cy="219456"/>
          </a:xfrm>
          <a:prstGeom prst="rect">
            <a:avLst/>
          </a:prstGeom>
          <a:solidFill>
            <a:srgbClr val="6B4C9A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53D76618-01D0-C9CA-86D9-84D62F72F775}"/>
              </a:ext>
            </a:extLst>
          </p:cNvPr>
          <p:cNvSpPr/>
          <p:nvPr/>
        </p:nvSpPr>
        <p:spPr>
          <a:xfrm>
            <a:off x="6412230" y="1474470"/>
            <a:ext cx="12001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PharmaFlow</a:t>
            </a:r>
            <a:endParaRPr lang="en-US" sz="1000" dirty="0"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11D21E21-5810-1ED2-6A15-CBC8C1985ACC}"/>
              </a:ext>
            </a:extLst>
          </p:cNvPr>
          <p:cNvSpPr/>
          <p:nvPr/>
        </p:nvSpPr>
        <p:spPr>
          <a:xfrm>
            <a:off x="7612380" y="1474470"/>
            <a:ext cx="1200150" cy="219456"/>
          </a:xfrm>
          <a:prstGeom prst="rect">
            <a:avLst/>
          </a:prstGeom>
          <a:solidFill>
            <a:srgbClr val="E8622A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2270B27B-6281-8EAA-868D-493EB1C41FC1}"/>
              </a:ext>
            </a:extLst>
          </p:cNvPr>
          <p:cNvSpPr/>
          <p:nvPr/>
        </p:nvSpPr>
        <p:spPr>
          <a:xfrm>
            <a:off x="7612380" y="1474470"/>
            <a:ext cx="12001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1000" dirty="0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530C776D-53B3-493F-D051-67A5D96FCF10}"/>
              </a:ext>
            </a:extLst>
          </p:cNvPr>
          <p:cNvSpPr/>
          <p:nvPr/>
        </p:nvSpPr>
        <p:spPr>
          <a:xfrm>
            <a:off x="4697730" y="1693926"/>
            <a:ext cx="171450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7C8F6A7F-0816-8642-3403-1247ADA32B66}"/>
              </a:ext>
            </a:extLst>
          </p:cNvPr>
          <p:cNvSpPr/>
          <p:nvPr/>
        </p:nvSpPr>
        <p:spPr>
          <a:xfrm>
            <a:off x="4732020" y="169392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brand drug spend</a:t>
            </a:r>
            <a:endParaRPr lang="en-US" sz="1000" dirty="0"/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728117BB-F384-083D-90F0-CE23C6793FDC}"/>
              </a:ext>
            </a:extLst>
          </p:cNvPr>
          <p:cNvSpPr/>
          <p:nvPr/>
        </p:nvSpPr>
        <p:spPr>
          <a:xfrm>
            <a:off x="6412230" y="169392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F6F17699-A967-908B-355D-06FF5E94458F}"/>
              </a:ext>
            </a:extLst>
          </p:cNvPr>
          <p:cNvSpPr/>
          <p:nvPr/>
        </p:nvSpPr>
        <p:spPr>
          <a:xfrm>
            <a:off x="6446520" y="169392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$1,500,000</a:t>
            </a:r>
            <a:endParaRPr lang="en-US" sz="1000" dirty="0"/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6AAD2EA0-1BB3-2646-9EEB-500AFE1C231D}"/>
              </a:ext>
            </a:extLst>
          </p:cNvPr>
          <p:cNvSpPr/>
          <p:nvPr/>
        </p:nvSpPr>
        <p:spPr>
          <a:xfrm>
            <a:off x="7612380" y="169392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1B5B9DF6-E7E8-AEED-B167-8B743A60DEF5}"/>
              </a:ext>
            </a:extLst>
          </p:cNvPr>
          <p:cNvSpPr/>
          <p:nvPr/>
        </p:nvSpPr>
        <p:spPr>
          <a:xfrm>
            <a:off x="7646670" y="169392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$1,350,000</a:t>
            </a:r>
            <a:endParaRPr lang="en-US" sz="1000" dirty="0"/>
          </a:p>
        </p:txBody>
      </p:sp>
      <p:sp>
        <p:nvSpPr>
          <p:cNvPr id="53" name="Shape 30">
            <a:extLst>
              <a:ext uri="{FF2B5EF4-FFF2-40B4-BE49-F238E27FC236}">
                <a16:creationId xmlns:a16="http://schemas.microsoft.com/office/drawing/2014/main" id="{FE42BD0C-0348-5F20-89D3-07AA94DC1060}"/>
              </a:ext>
            </a:extLst>
          </p:cNvPr>
          <p:cNvSpPr/>
          <p:nvPr/>
        </p:nvSpPr>
        <p:spPr>
          <a:xfrm>
            <a:off x="4697730" y="1899666"/>
            <a:ext cx="171450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BF9B7AB7-342F-8528-735D-DF74CEADA97F}"/>
              </a:ext>
            </a:extLst>
          </p:cNvPr>
          <p:cNvSpPr/>
          <p:nvPr/>
        </p:nvSpPr>
        <p:spPr>
          <a:xfrm>
            <a:off x="4732020" y="189966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switch rate</a:t>
            </a:r>
            <a:endParaRPr lang="en-US" sz="1000" dirty="0"/>
          </a:p>
        </p:txBody>
      </p:sp>
      <p:sp>
        <p:nvSpPr>
          <p:cNvPr id="55" name="Shape 32">
            <a:extLst>
              <a:ext uri="{FF2B5EF4-FFF2-40B4-BE49-F238E27FC236}">
                <a16:creationId xmlns:a16="http://schemas.microsoft.com/office/drawing/2014/main" id="{08052754-B851-A5F3-1A5E-4255EF1829D3}"/>
              </a:ext>
            </a:extLst>
          </p:cNvPr>
          <p:cNvSpPr/>
          <p:nvPr/>
        </p:nvSpPr>
        <p:spPr>
          <a:xfrm>
            <a:off x="6412230" y="189966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498D4301-F4F4-F900-4881-133072A431D3}"/>
              </a:ext>
            </a:extLst>
          </p:cNvPr>
          <p:cNvSpPr/>
          <p:nvPr/>
        </p:nvSpPr>
        <p:spPr>
          <a:xfrm>
            <a:off x="6446520" y="189966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</a:t>
            </a:r>
            <a:endParaRPr lang="en-US" sz="1000" dirty="0"/>
          </a:p>
        </p:txBody>
      </p:sp>
      <p:sp>
        <p:nvSpPr>
          <p:cNvPr id="57" name="Shape 34">
            <a:extLst>
              <a:ext uri="{FF2B5EF4-FFF2-40B4-BE49-F238E27FC236}">
                <a16:creationId xmlns:a16="http://schemas.microsoft.com/office/drawing/2014/main" id="{07CA733E-268D-D1EE-3060-C45109CE2DE3}"/>
              </a:ext>
            </a:extLst>
          </p:cNvPr>
          <p:cNvSpPr/>
          <p:nvPr/>
        </p:nvSpPr>
        <p:spPr>
          <a:xfrm>
            <a:off x="7612380" y="189966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29076430-D12C-1BE8-87BC-7DE8FC2D7837}"/>
              </a:ext>
            </a:extLst>
          </p:cNvPr>
          <p:cNvSpPr/>
          <p:nvPr/>
        </p:nvSpPr>
        <p:spPr>
          <a:xfrm>
            <a:off x="7646670" y="189966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 (+100%)</a:t>
            </a:r>
            <a:endParaRPr lang="en-US" sz="1000" dirty="0"/>
          </a:p>
        </p:txBody>
      </p:sp>
      <p:sp>
        <p:nvSpPr>
          <p:cNvPr id="59" name="Shape 36">
            <a:extLst>
              <a:ext uri="{FF2B5EF4-FFF2-40B4-BE49-F238E27FC236}">
                <a16:creationId xmlns:a16="http://schemas.microsoft.com/office/drawing/2014/main" id="{2BC9DF55-9B02-F1F7-1B48-A21055668ADB}"/>
              </a:ext>
            </a:extLst>
          </p:cNvPr>
          <p:cNvSpPr/>
          <p:nvPr/>
        </p:nvSpPr>
        <p:spPr>
          <a:xfrm>
            <a:off x="4697730" y="2105406"/>
            <a:ext cx="171450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0D858A88-C0E2-4247-2633-5929DB98F50C}"/>
              </a:ext>
            </a:extLst>
          </p:cNvPr>
          <p:cNvSpPr/>
          <p:nvPr/>
        </p:nvSpPr>
        <p:spPr>
          <a:xfrm>
            <a:off x="4732020" y="210540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savings per switch</a:t>
            </a:r>
            <a:endParaRPr lang="en-US" sz="1000" dirty="0"/>
          </a:p>
        </p:txBody>
      </p:sp>
      <p:sp>
        <p:nvSpPr>
          <p:cNvPr id="61" name="Shape 38">
            <a:extLst>
              <a:ext uri="{FF2B5EF4-FFF2-40B4-BE49-F238E27FC236}">
                <a16:creationId xmlns:a16="http://schemas.microsoft.com/office/drawing/2014/main" id="{AF407E99-A8E3-8EB8-1CEC-BE116953A39E}"/>
              </a:ext>
            </a:extLst>
          </p:cNvPr>
          <p:cNvSpPr/>
          <p:nvPr/>
        </p:nvSpPr>
        <p:spPr>
          <a:xfrm>
            <a:off x="6412230" y="210540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2" name="Text 39">
            <a:extLst>
              <a:ext uri="{FF2B5EF4-FFF2-40B4-BE49-F238E27FC236}">
                <a16:creationId xmlns:a16="http://schemas.microsoft.com/office/drawing/2014/main" id="{4C407122-3E24-114C-C0F5-E258ED325E1F}"/>
              </a:ext>
            </a:extLst>
          </p:cNvPr>
          <p:cNvSpPr/>
          <p:nvPr/>
        </p:nvSpPr>
        <p:spPr>
          <a:xfrm>
            <a:off x="6446520" y="210540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$50/member/mo</a:t>
            </a:r>
            <a:endParaRPr lang="en-US" sz="1000" dirty="0"/>
          </a:p>
        </p:txBody>
      </p:sp>
      <p:sp>
        <p:nvSpPr>
          <p:cNvPr id="63" name="Shape 40">
            <a:extLst>
              <a:ext uri="{FF2B5EF4-FFF2-40B4-BE49-F238E27FC236}">
                <a16:creationId xmlns:a16="http://schemas.microsoft.com/office/drawing/2014/main" id="{B8187277-AC30-0AB7-D8D5-4CCBEB5A6BC8}"/>
              </a:ext>
            </a:extLst>
          </p:cNvPr>
          <p:cNvSpPr/>
          <p:nvPr/>
        </p:nvSpPr>
        <p:spPr>
          <a:xfrm>
            <a:off x="7612380" y="210540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4" name="Text 41">
            <a:extLst>
              <a:ext uri="{FF2B5EF4-FFF2-40B4-BE49-F238E27FC236}">
                <a16:creationId xmlns:a16="http://schemas.microsoft.com/office/drawing/2014/main" id="{04D8CED7-953F-A9EC-DB9F-8D58F0449896}"/>
              </a:ext>
            </a:extLst>
          </p:cNvPr>
          <p:cNvSpPr/>
          <p:nvPr/>
        </p:nvSpPr>
        <p:spPr>
          <a:xfrm>
            <a:off x="7646670" y="210540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$50/member/mo</a:t>
            </a:r>
            <a:endParaRPr lang="en-US" sz="1000" dirty="0"/>
          </a:p>
        </p:txBody>
      </p:sp>
      <p:sp>
        <p:nvSpPr>
          <p:cNvPr id="65" name="Shape 42">
            <a:extLst>
              <a:ext uri="{FF2B5EF4-FFF2-40B4-BE49-F238E27FC236}">
                <a16:creationId xmlns:a16="http://schemas.microsoft.com/office/drawing/2014/main" id="{E6D80D9B-D97B-BAC6-6DA2-F6D7830A22A7}"/>
              </a:ext>
            </a:extLst>
          </p:cNvPr>
          <p:cNvSpPr/>
          <p:nvPr/>
        </p:nvSpPr>
        <p:spPr>
          <a:xfrm>
            <a:off x="4697730" y="2311146"/>
            <a:ext cx="171450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6" name="Text 43">
            <a:extLst>
              <a:ext uri="{FF2B5EF4-FFF2-40B4-BE49-F238E27FC236}">
                <a16:creationId xmlns:a16="http://schemas.microsoft.com/office/drawing/2014/main" id="{35F14CD8-90F2-87A9-6CE0-73171468D1EF}"/>
              </a:ext>
            </a:extLst>
          </p:cNvPr>
          <p:cNvSpPr/>
          <p:nvPr/>
        </p:nvSpPr>
        <p:spPr>
          <a:xfrm>
            <a:off x="4732020" y="231114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savings captured</a:t>
            </a:r>
            <a:endParaRPr lang="en-US" sz="1000" dirty="0"/>
          </a:p>
        </p:txBody>
      </p:sp>
      <p:sp>
        <p:nvSpPr>
          <p:cNvPr id="67" name="Shape 44">
            <a:extLst>
              <a:ext uri="{FF2B5EF4-FFF2-40B4-BE49-F238E27FC236}">
                <a16:creationId xmlns:a16="http://schemas.microsoft.com/office/drawing/2014/main" id="{EA490F1D-65F3-6F2C-E50C-6FB068DFAF1B}"/>
              </a:ext>
            </a:extLst>
          </p:cNvPr>
          <p:cNvSpPr/>
          <p:nvPr/>
        </p:nvSpPr>
        <p:spPr>
          <a:xfrm>
            <a:off x="6412230" y="231114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8" name="Text 45">
            <a:extLst>
              <a:ext uri="{FF2B5EF4-FFF2-40B4-BE49-F238E27FC236}">
                <a16:creationId xmlns:a16="http://schemas.microsoft.com/office/drawing/2014/main" id="{37AC5199-F077-56A0-4E95-FD1E1B7453DB}"/>
              </a:ext>
            </a:extLst>
          </p:cNvPr>
          <p:cNvSpPr/>
          <p:nvPr/>
        </p:nvSpPr>
        <p:spPr>
          <a:xfrm>
            <a:off x="6446520" y="231114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647CD580-DDFB-3738-EA82-712052395F99}"/>
              </a:ext>
            </a:extLst>
          </p:cNvPr>
          <p:cNvSpPr/>
          <p:nvPr/>
        </p:nvSpPr>
        <p:spPr>
          <a:xfrm>
            <a:off x="7612380" y="231114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0" name="Text 47">
            <a:extLst>
              <a:ext uri="{FF2B5EF4-FFF2-40B4-BE49-F238E27FC236}">
                <a16:creationId xmlns:a16="http://schemas.microsoft.com/office/drawing/2014/main" id="{01B51860-E73C-1553-8BB3-A53CCB00B437}"/>
              </a:ext>
            </a:extLst>
          </p:cNvPr>
          <p:cNvSpPr/>
          <p:nvPr/>
        </p:nvSpPr>
        <p:spPr>
          <a:xfrm>
            <a:off x="7646670" y="231114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$20,000+</a:t>
            </a:r>
            <a:endParaRPr lang="en-US" sz="1000" dirty="0"/>
          </a:p>
        </p:txBody>
      </p:sp>
      <p:sp>
        <p:nvSpPr>
          <p:cNvPr id="71" name="Shape 48">
            <a:extLst>
              <a:ext uri="{FF2B5EF4-FFF2-40B4-BE49-F238E27FC236}">
                <a16:creationId xmlns:a16="http://schemas.microsoft.com/office/drawing/2014/main" id="{3EB5395A-1C09-03B5-7ED5-9E8AC32680AC}"/>
              </a:ext>
            </a:extLst>
          </p:cNvPr>
          <p:cNvSpPr/>
          <p:nvPr/>
        </p:nvSpPr>
        <p:spPr>
          <a:xfrm>
            <a:off x="4697730" y="2516886"/>
            <a:ext cx="171450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2" name="Text 49">
            <a:extLst>
              <a:ext uri="{FF2B5EF4-FFF2-40B4-BE49-F238E27FC236}">
                <a16:creationId xmlns:a16="http://schemas.microsoft.com/office/drawing/2014/main" id="{8D32BA0D-F675-77FC-73AD-E7581D013600}"/>
              </a:ext>
            </a:extLst>
          </p:cNvPr>
          <p:cNvSpPr/>
          <p:nvPr/>
        </p:nvSpPr>
        <p:spPr>
          <a:xfrm>
            <a:off x="4732020" y="251688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1000" dirty="0"/>
          </a:p>
        </p:txBody>
      </p:sp>
      <p:sp>
        <p:nvSpPr>
          <p:cNvPr id="73" name="Shape 50">
            <a:extLst>
              <a:ext uri="{FF2B5EF4-FFF2-40B4-BE49-F238E27FC236}">
                <a16:creationId xmlns:a16="http://schemas.microsoft.com/office/drawing/2014/main" id="{2A066901-52A6-2BC5-F7EE-7EA74D10FE45}"/>
              </a:ext>
            </a:extLst>
          </p:cNvPr>
          <p:cNvSpPr/>
          <p:nvPr/>
        </p:nvSpPr>
        <p:spPr>
          <a:xfrm>
            <a:off x="6412230" y="251688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4" name="Text 51">
            <a:extLst>
              <a:ext uri="{FF2B5EF4-FFF2-40B4-BE49-F238E27FC236}">
                <a16:creationId xmlns:a16="http://schemas.microsoft.com/office/drawing/2014/main" id="{1854B955-8CFF-A255-23BB-2E7F596E1282}"/>
              </a:ext>
            </a:extLst>
          </p:cNvPr>
          <p:cNvSpPr/>
          <p:nvPr/>
        </p:nvSpPr>
        <p:spPr>
          <a:xfrm>
            <a:off x="6446520" y="251688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5" name="Shape 52">
            <a:extLst>
              <a:ext uri="{FF2B5EF4-FFF2-40B4-BE49-F238E27FC236}">
                <a16:creationId xmlns:a16="http://schemas.microsoft.com/office/drawing/2014/main" id="{194D9E09-A595-E97D-E064-75B27A21C391}"/>
              </a:ext>
            </a:extLst>
          </p:cNvPr>
          <p:cNvSpPr/>
          <p:nvPr/>
        </p:nvSpPr>
        <p:spPr>
          <a:xfrm>
            <a:off x="7612380" y="2516886"/>
            <a:ext cx="1200150" cy="205740"/>
          </a:xfrm>
          <a:prstGeom prst="rect">
            <a:avLst/>
          </a:prstGeom>
          <a:solidFill>
            <a:srgbClr val="24366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6" name="Text 53">
            <a:extLst>
              <a:ext uri="{FF2B5EF4-FFF2-40B4-BE49-F238E27FC236}">
                <a16:creationId xmlns:a16="http://schemas.microsoft.com/office/drawing/2014/main" id="{6F6E6733-BEF3-6BD9-CE53-7BDA2D0A5FE5}"/>
              </a:ext>
            </a:extLst>
          </p:cNvPr>
          <p:cNvSpPr/>
          <p:nvPr/>
        </p:nvSpPr>
        <p:spPr>
          <a:xfrm>
            <a:off x="7646670" y="251688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$240,000</a:t>
            </a:r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77" name="Shape 54">
            <a:extLst>
              <a:ext uri="{FF2B5EF4-FFF2-40B4-BE49-F238E27FC236}">
                <a16:creationId xmlns:a16="http://schemas.microsoft.com/office/drawing/2014/main" id="{968DE5CA-8583-07F8-3346-603FFA554AC6}"/>
              </a:ext>
            </a:extLst>
          </p:cNvPr>
          <p:cNvSpPr/>
          <p:nvPr/>
        </p:nvSpPr>
        <p:spPr>
          <a:xfrm>
            <a:off x="4697730" y="2722626"/>
            <a:ext cx="171450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8" name="Text 55">
            <a:extLst>
              <a:ext uri="{FF2B5EF4-FFF2-40B4-BE49-F238E27FC236}">
                <a16:creationId xmlns:a16="http://schemas.microsoft.com/office/drawing/2014/main" id="{4341D805-26C0-0234-2A74-9E2771E3B0B0}"/>
              </a:ext>
            </a:extLst>
          </p:cNvPr>
          <p:cNvSpPr/>
          <p:nvPr/>
        </p:nvSpPr>
        <p:spPr>
          <a:xfrm>
            <a:off x="4732020" y="272262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cost (Gold plan)</a:t>
            </a:r>
            <a:endParaRPr lang="en-US" sz="1000" dirty="0"/>
          </a:p>
        </p:txBody>
      </p:sp>
      <p:sp>
        <p:nvSpPr>
          <p:cNvPr id="79" name="Shape 56">
            <a:extLst>
              <a:ext uri="{FF2B5EF4-FFF2-40B4-BE49-F238E27FC236}">
                <a16:creationId xmlns:a16="http://schemas.microsoft.com/office/drawing/2014/main" id="{68778462-CB06-5F52-F26A-36AC0D573D7A}"/>
              </a:ext>
            </a:extLst>
          </p:cNvPr>
          <p:cNvSpPr/>
          <p:nvPr/>
        </p:nvSpPr>
        <p:spPr>
          <a:xfrm>
            <a:off x="6412230" y="272262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0" name="Text 57">
            <a:extLst>
              <a:ext uri="{FF2B5EF4-FFF2-40B4-BE49-F238E27FC236}">
                <a16:creationId xmlns:a16="http://schemas.microsoft.com/office/drawing/2014/main" id="{32199236-63AE-1ED0-4144-7E974AE22063}"/>
              </a:ext>
            </a:extLst>
          </p:cNvPr>
          <p:cNvSpPr/>
          <p:nvPr/>
        </p:nvSpPr>
        <p:spPr>
          <a:xfrm>
            <a:off x="6446520" y="272262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1" name="Shape 58">
            <a:extLst>
              <a:ext uri="{FF2B5EF4-FFF2-40B4-BE49-F238E27FC236}">
                <a16:creationId xmlns:a16="http://schemas.microsoft.com/office/drawing/2014/main" id="{6B1A3CAB-0AD4-2B2D-F716-6558A489E58D}"/>
              </a:ext>
            </a:extLst>
          </p:cNvPr>
          <p:cNvSpPr/>
          <p:nvPr/>
        </p:nvSpPr>
        <p:spPr>
          <a:xfrm>
            <a:off x="7612380" y="2722626"/>
            <a:ext cx="1200150" cy="205740"/>
          </a:xfrm>
          <a:prstGeom prst="rect">
            <a:avLst/>
          </a:prstGeom>
          <a:solidFill>
            <a:srgbClr val="1D2F55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2" name="Text 59">
            <a:extLst>
              <a:ext uri="{FF2B5EF4-FFF2-40B4-BE49-F238E27FC236}">
                <a16:creationId xmlns:a16="http://schemas.microsoft.com/office/drawing/2014/main" id="{1431EF58-DC37-497D-B35D-6F7AE7ACB2BA}"/>
              </a:ext>
            </a:extLst>
          </p:cNvPr>
          <p:cNvSpPr/>
          <p:nvPr/>
        </p:nvSpPr>
        <p:spPr>
          <a:xfrm>
            <a:off x="7646670" y="272262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$2,500/mo</a:t>
            </a:r>
            <a:endParaRPr lang="en-US" sz="1000" dirty="0"/>
          </a:p>
        </p:txBody>
      </p:sp>
      <p:sp>
        <p:nvSpPr>
          <p:cNvPr id="83" name="Shape 60">
            <a:extLst>
              <a:ext uri="{FF2B5EF4-FFF2-40B4-BE49-F238E27FC236}">
                <a16:creationId xmlns:a16="http://schemas.microsoft.com/office/drawing/2014/main" id="{188FFAE9-75BC-DC4E-79AE-8DA6D70095E8}"/>
              </a:ext>
            </a:extLst>
          </p:cNvPr>
          <p:cNvSpPr/>
          <p:nvPr/>
        </p:nvSpPr>
        <p:spPr>
          <a:xfrm>
            <a:off x="4697730" y="2928366"/>
            <a:ext cx="1714500" cy="205740"/>
          </a:xfrm>
          <a:prstGeom prst="rect">
            <a:avLst/>
          </a:prstGeom>
          <a:solidFill>
            <a:srgbClr val="1C3A6E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4" name="Text 61">
            <a:extLst>
              <a:ext uri="{FF2B5EF4-FFF2-40B4-BE49-F238E27FC236}">
                <a16:creationId xmlns:a16="http://schemas.microsoft.com/office/drawing/2014/main" id="{36F4411F-D467-D5A7-17E9-43A930F96833}"/>
              </a:ext>
            </a:extLst>
          </p:cNvPr>
          <p:cNvSpPr/>
          <p:nvPr/>
        </p:nvSpPr>
        <p:spPr>
          <a:xfrm>
            <a:off x="4732020" y="292836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ROI</a:t>
            </a:r>
            <a:endParaRPr lang="en-US" sz="1000" dirty="0"/>
          </a:p>
        </p:txBody>
      </p:sp>
      <p:sp>
        <p:nvSpPr>
          <p:cNvPr id="85" name="Shape 62">
            <a:extLst>
              <a:ext uri="{FF2B5EF4-FFF2-40B4-BE49-F238E27FC236}">
                <a16:creationId xmlns:a16="http://schemas.microsoft.com/office/drawing/2014/main" id="{6560DAD8-D9C2-1E05-9495-12D8DE0689C9}"/>
              </a:ext>
            </a:extLst>
          </p:cNvPr>
          <p:cNvSpPr/>
          <p:nvPr/>
        </p:nvSpPr>
        <p:spPr>
          <a:xfrm>
            <a:off x="6412230" y="2928366"/>
            <a:ext cx="1200150" cy="205740"/>
          </a:xfrm>
          <a:prstGeom prst="rect">
            <a:avLst/>
          </a:prstGeom>
          <a:solidFill>
            <a:srgbClr val="1C3A6E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6" name="Text 63">
            <a:extLst>
              <a:ext uri="{FF2B5EF4-FFF2-40B4-BE49-F238E27FC236}">
                <a16:creationId xmlns:a16="http://schemas.microsoft.com/office/drawing/2014/main" id="{0C914B91-73DB-4A4D-8E6A-8B7F45B73CBE}"/>
              </a:ext>
            </a:extLst>
          </p:cNvPr>
          <p:cNvSpPr/>
          <p:nvPr/>
        </p:nvSpPr>
        <p:spPr>
          <a:xfrm>
            <a:off x="6446520" y="292836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7" name="Shape 64">
            <a:extLst>
              <a:ext uri="{FF2B5EF4-FFF2-40B4-BE49-F238E27FC236}">
                <a16:creationId xmlns:a16="http://schemas.microsoft.com/office/drawing/2014/main" id="{56CE2EBD-D833-393E-ED20-BA0107F61D8B}"/>
              </a:ext>
            </a:extLst>
          </p:cNvPr>
          <p:cNvSpPr/>
          <p:nvPr/>
        </p:nvSpPr>
        <p:spPr>
          <a:xfrm>
            <a:off x="7612380" y="2928366"/>
            <a:ext cx="1200150" cy="205740"/>
          </a:xfrm>
          <a:prstGeom prst="rect">
            <a:avLst/>
          </a:prstGeom>
          <a:solidFill>
            <a:srgbClr val="1C3A6E"/>
          </a:solidFill>
          <a:ln w="635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8" name="Text 65">
            <a:extLst>
              <a:ext uri="{FF2B5EF4-FFF2-40B4-BE49-F238E27FC236}">
                <a16:creationId xmlns:a16="http://schemas.microsoft.com/office/drawing/2014/main" id="{53C8368E-1E17-5E60-9D33-70D8D4E12B6B}"/>
              </a:ext>
            </a:extLst>
          </p:cNvPr>
          <p:cNvSpPr/>
          <p:nvPr/>
        </p:nvSpPr>
        <p:spPr>
          <a:xfrm>
            <a:off x="7646670" y="2928366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+$210,000</a:t>
            </a:r>
            <a:endParaRPr lang="en-US" sz="1000" dirty="0"/>
          </a:p>
        </p:txBody>
      </p:sp>
      <p:sp>
        <p:nvSpPr>
          <p:cNvPr id="89" name="Text 66">
            <a:extLst>
              <a:ext uri="{FF2B5EF4-FFF2-40B4-BE49-F238E27FC236}">
                <a16:creationId xmlns:a16="http://schemas.microsoft.com/office/drawing/2014/main" id="{E2E76220-0421-D7B0-26F7-3432A5DD71AF}"/>
              </a:ext>
            </a:extLst>
          </p:cNvPr>
          <p:cNvSpPr/>
          <p:nvPr/>
        </p:nvSpPr>
        <p:spPr>
          <a:xfrm>
            <a:off x="4681650" y="3428883"/>
            <a:ext cx="754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Impact: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90" name="Text 67">
            <a:extLst>
              <a:ext uri="{FF2B5EF4-FFF2-40B4-BE49-F238E27FC236}">
                <a16:creationId xmlns:a16="http://schemas.microsoft.com/office/drawing/2014/main" id="{DF356E80-F878-2659-FC75-BB61D050A438}"/>
              </a:ext>
            </a:extLst>
          </p:cNvPr>
          <p:cNvSpPr/>
          <p:nvPr/>
        </p:nvSpPr>
        <p:spPr>
          <a:xfrm>
            <a:off x="5899911" y="3449213"/>
            <a:ext cx="2855488" cy="4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DBFB8"/>
                </a:solidFill>
                <a:latin typeface="Calibri" pitchFamily="34" charset="0"/>
                <a:cs typeface="Calibri" pitchFamily="34" charset="-120"/>
              </a:rPr>
              <a:t>Very high ROI — $200K annual savings vs. $30,000/yr tool cost. Even 5–10 switches/month justify the Gold plan.</a:t>
            </a:r>
          </a:p>
        </p:txBody>
      </p:sp>
      <p:sp>
        <p:nvSpPr>
          <p:cNvPr id="91" name="Text 68">
            <a:extLst>
              <a:ext uri="{FF2B5EF4-FFF2-40B4-BE49-F238E27FC236}">
                <a16:creationId xmlns:a16="http://schemas.microsoft.com/office/drawing/2014/main" id="{4B57F4CE-529A-D0AD-F476-90724600CF11}"/>
              </a:ext>
            </a:extLst>
          </p:cNvPr>
          <p:cNvSpPr/>
          <p:nvPr/>
        </p:nvSpPr>
        <p:spPr>
          <a:xfrm>
            <a:off x="4677156" y="4223121"/>
            <a:ext cx="1125581" cy="378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</a:t>
            </a: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cs typeface="Calibri" pitchFamily="34" charset="-120"/>
              </a:rPr>
              <a:t>savings</a:t>
            </a: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 reinvested: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92" name="Text 69">
            <a:extLst>
              <a:ext uri="{FF2B5EF4-FFF2-40B4-BE49-F238E27FC236}">
                <a16:creationId xmlns:a16="http://schemas.microsoft.com/office/drawing/2014/main" id="{F9FC502A-7FC8-7830-1143-3FBA38ED47F4}"/>
              </a:ext>
            </a:extLst>
          </p:cNvPr>
          <p:cNvSpPr/>
          <p:nvPr/>
        </p:nvSpPr>
        <p:spPr>
          <a:xfrm>
            <a:off x="5915894" y="4223156"/>
            <a:ext cx="289663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D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premiums · Preventive care · Digital health · AI tooling · Member benefits</a:t>
            </a:r>
            <a:endParaRPr lang="en-US" sz="1050" dirty="0"/>
          </a:p>
        </p:txBody>
      </p:sp>
      <p:sp>
        <p:nvSpPr>
          <p:cNvPr id="95" name="Text 24">
            <a:extLst>
              <a:ext uri="{FF2B5EF4-FFF2-40B4-BE49-F238E27FC236}">
                <a16:creationId xmlns:a16="http://schemas.microsoft.com/office/drawing/2014/main" id="{53F215D4-13D5-9CAA-0EA1-8C005948FB3C}"/>
              </a:ext>
            </a:extLst>
          </p:cNvPr>
          <p:cNvSpPr/>
          <p:nvPr/>
        </p:nvSpPr>
        <p:spPr>
          <a:xfrm>
            <a:off x="429768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954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0135-7AB1-51CB-098C-A641CE95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>
            <a:extLst>
              <a:ext uri="{FF2B5EF4-FFF2-40B4-BE49-F238E27FC236}">
                <a16:creationId xmlns:a16="http://schemas.microsoft.com/office/drawing/2014/main" id="{0CE078D2-F640-7CA3-30AA-BA366E8FFC83}"/>
              </a:ext>
            </a:extLst>
          </p:cNvPr>
          <p:cNvSpPr/>
          <p:nvPr/>
        </p:nvSpPr>
        <p:spPr>
          <a:xfrm>
            <a:off x="0" y="0"/>
            <a:ext cx="9144001" cy="5143499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pPr algn="ctr"/>
            <a:endParaRPr lang="en-US" sz="54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634E8-2C12-C001-F42C-472756558F2F}"/>
              </a:ext>
            </a:extLst>
          </p:cNvPr>
          <p:cNvSpPr txBox="1"/>
          <p:nvPr/>
        </p:nvSpPr>
        <p:spPr>
          <a:xfrm>
            <a:off x="3054693" y="1959414"/>
            <a:ext cx="30346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6552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821</Words>
  <Application>Microsoft Macintosh PowerPoint</Application>
  <PresentationFormat>On-screen Show (16:9)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PharmaFlow AI</dc:title>
  <dc:subject>PptxGenJS Presentation</dc:subject>
  <dc:creator>PptxGenJS</dc:creator>
  <cp:lastModifiedBy>ak5486</cp:lastModifiedBy>
  <cp:revision>5</cp:revision>
  <dcterms:created xsi:type="dcterms:W3CDTF">2026-05-03T20:56:43Z</dcterms:created>
  <dcterms:modified xsi:type="dcterms:W3CDTF">2026-05-04T22:54:37Z</dcterms:modified>
</cp:coreProperties>
</file>