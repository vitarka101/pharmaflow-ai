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1" r:id="rId6"/>
    <p:sldId id="262" r:id="rId7"/>
    <p:sldId id="260" r:id="rId8"/>
    <p:sldId id="263" r:id="rId9"/>
    <p:sldId id="266" r:id="rId10"/>
    <p:sldId id="268" r:id="rId11"/>
    <p:sldId id="269" r:id="rId12"/>
    <p:sldId id="265" r:id="rId13"/>
    <p:sldId id="264"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varScale="1">
        <p:scale>
          <a:sx n="163" d="100"/>
          <a:sy n="163" d="100"/>
        </p:scale>
        <p:origin x="18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84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3E15F-950E-EC16-34F2-545CC3F43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12214-83B7-5B80-348F-2F0B0B4E1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FF88E-761E-1DA6-CBE0-4445C00A99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CF8207-60EA-10FD-DCE2-FC6EA80DABC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56115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4665C-25EB-3DB0-5416-F39DDC319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DE2E5-2A26-3EEC-4307-8C16C1A9D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08801-C462-14E6-784E-B9FD2D6E88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0E593E-EAB5-165B-BDD5-96AFE8AC277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111447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52"/>
        </a:solidFill>
        <a:effectLst/>
      </p:bgPr>
    </p:bg>
    <p:spTree>
      <p:nvGrpSpPr>
        <p:cNvPr id="1" name=""/>
        <p:cNvGrpSpPr/>
        <p:nvPr/>
      </p:nvGrpSpPr>
      <p:grpSpPr>
        <a:xfrm>
          <a:off x="0" y="0"/>
          <a:ext cx="0" cy="0"/>
          <a:chOff x="0" y="0"/>
          <a:chExt cx="0" cy="0"/>
        </a:xfrm>
      </p:grpSpPr>
      <p:sp>
        <p:nvSpPr>
          <p:cNvPr id="2" name="Text 0"/>
          <p:cNvSpPr/>
          <p:nvPr/>
        </p:nvSpPr>
        <p:spPr>
          <a:xfrm>
            <a:off x="502920" y="292608"/>
            <a:ext cx="2011680" cy="201168"/>
          </a:xfrm>
          <a:prstGeom prst="rect">
            <a:avLst/>
          </a:prstGeom>
          <a:noFill/>
          <a:ln/>
        </p:spPr>
        <p:txBody>
          <a:bodyPr wrap="square" rtlCol="0" anchor="ctr"/>
          <a:lstStyle/>
          <a:p>
            <a:pPr marL="0" indent="0">
              <a:buNone/>
            </a:pPr>
            <a:r>
              <a:rPr lang="en-US" sz="900" b="1" kern="0" spc="150" dirty="0">
                <a:solidFill>
                  <a:srgbClr val="E8622A"/>
                </a:solidFill>
                <a:latin typeface="Calibri" pitchFamily="34" charset="0"/>
                <a:ea typeface="Calibri" pitchFamily="34" charset="-122"/>
                <a:cs typeface="Calibri" pitchFamily="34" charset="-120"/>
              </a:rPr>
              <a:t>AI, HEALTHCARE</a:t>
            </a:r>
            <a:endParaRPr lang="en-US" sz="900" dirty="0"/>
          </a:p>
        </p:txBody>
      </p:sp>
      <p:sp>
        <p:nvSpPr>
          <p:cNvPr id="3" name="Text 1"/>
          <p:cNvSpPr/>
          <p:nvPr/>
        </p:nvSpPr>
        <p:spPr>
          <a:xfrm>
            <a:off x="502920" y="594360"/>
            <a:ext cx="7772400" cy="1097280"/>
          </a:xfrm>
          <a:prstGeom prst="rect">
            <a:avLst/>
          </a:prstGeom>
          <a:noFill/>
          <a:ln/>
        </p:spPr>
        <p:txBody>
          <a:bodyPr wrap="square" rtlCol="0" anchor="t"/>
          <a:lstStyle/>
          <a:p>
            <a:pPr marL="0" indent="0">
              <a:buNone/>
            </a:pPr>
            <a:r>
              <a:rPr lang="en-US" sz="5600" b="1" dirty="0">
                <a:solidFill>
                  <a:srgbClr val="FFFFFF"/>
                </a:solidFill>
                <a:latin typeface="Calibri" pitchFamily="34" charset="0"/>
                <a:ea typeface="Calibri" pitchFamily="34" charset="-122"/>
                <a:cs typeface="Calibri" pitchFamily="34" charset="-120"/>
              </a:rPr>
              <a:t>PharmaFlow-AI</a:t>
            </a:r>
            <a:endParaRPr lang="en-US" sz="5600" dirty="0"/>
          </a:p>
        </p:txBody>
      </p:sp>
      <p:sp>
        <p:nvSpPr>
          <p:cNvPr id="4" name="Text 2"/>
          <p:cNvSpPr/>
          <p:nvPr/>
        </p:nvSpPr>
        <p:spPr>
          <a:xfrm>
            <a:off x="502920" y="1719072"/>
            <a:ext cx="6858000" cy="822960"/>
          </a:xfrm>
          <a:prstGeom prst="rect">
            <a:avLst/>
          </a:prstGeom>
          <a:noFill/>
          <a:ln/>
        </p:spPr>
        <p:txBody>
          <a:bodyPr wrap="square" rtlCol="0" anchor="t"/>
          <a:lstStyle/>
          <a:p>
            <a:pPr marL="0" indent="0">
              <a:buNone/>
            </a:pPr>
            <a:r>
              <a:rPr lang="en-US" sz="2000" dirty="0">
                <a:solidFill>
                  <a:srgbClr val="00A896"/>
                </a:solidFill>
                <a:latin typeface="Calibri" pitchFamily="34" charset="0"/>
                <a:ea typeface="Calibri" pitchFamily="34" charset="-122"/>
                <a:cs typeface="Calibri" pitchFamily="34" charset="-120"/>
              </a:rPr>
              <a:t>Prescription Cost Optimization Agent</a:t>
            </a:r>
            <a:endParaRPr lang="en-US" sz="2000" dirty="0"/>
          </a:p>
          <a:p>
            <a:pPr marL="0" indent="0">
              <a:buNone/>
            </a:pPr>
            <a:r>
              <a:rPr lang="en-US" sz="2000" dirty="0">
                <a:solidFill>
                  <a:srgbClr val="00A896"/>
                </a:solidFill>
                <a:latin typeface="Calibri" pitchFamily="34" charset="0"/>
                <a:ea typeface="Calibri" pitchFamily="34" charset="-122"/>
                <a:cs typeface="Calibri" pitchFamily="34" charset="-120"/>
              </a:rPr>
              <a:t>for Insurance Companies</a:t>
            </a:r>
            <a:endParaRPr lang="en-US" sz="2000" dirty="0"/>
          </a:p>
        </p:txBody>
      </p:sp>
      <p:sp>
        <p:nvSpPr>
          <p:cNvPr id="5" name="Shape 3"/>
          <p:cNvSpPr/>
          <p:nvPr/>
        </p:nvSpPr>
        <p:spPr>
          <a:xfrm>
            <a:off x="502920" y="2651760"/>
            <a:ext cx="8138160" cy="0"/>
          </a:xfrm>
          <a:prstGeom prst="line">
            <a:avLst/>
          </a:prstGeom>
          <a:noFill/>
          <a:ln w="15240">
            <a:solidFill>
              <a:srgbClr val="304A7A"/>
            </a:solidFill>
            <a:prstDash val="solid"/>
          </a:ln>
        </p:spPr>
        <p:txBody>
          <a:bodyPr/>
          <a:lstStyle/>
          <a:p>
            <a:endParaRPr lang="en-US"/>
          </a:p>
        </p:txBody>
      </p:sp>
      <p:sp>
        <p:nvSpPr>
          <p:cNvPr id="6" name="Text 4"/>
          <p:cNvSpPr/>
          <p:nvPr/>
        </p:nvSpPr>
        <p:spPr>
          <a:xfrm>
            <a:off x="502920" y="2788920"/>
            <a:ext cx="8229600" cy="457200"/>
          </a:xfrm>
          <a:prstGeom prst="rect">
            <a:avLst/>
          </a:prstGeom>
          <a:noFill/>
          <a:ln/>
        </p:spPr>
        <p:txBody>
          <a:bodyPr wrap="square" rtlCol="0" anchor="ctr"/>
          <a:lstStyle/>
          <a:p>
            <a:pPr marL="0" indent="0">
              <a:buNone/>
            </a:pPr>
            <a:r>
              <a:rPr lang="en-US" sz="1300" i="1" dirty="0">
                <a:solidFill>
                  <a:srgbClr val="A0B4D4"/>
                </a:solidFill>
                <a:latin typeface="Calibri" pitchFamily="34" charset="0"/>
                <a:ea typeface="Calibri" pitchFamily="34" charset="-122"/>
                <a:cs typeface="Calibri" pitchFamily="34" charset="-120"/>
              </a:rPr>
              <a:t>Turns raw pharmacy claims into decision-ready savings reports  with the clinical documents to act on them.</a:t>
            </a:r>
            <a:endParaRPr lang="en-US" sz="1300" dirty="0"/>
          </a:p>
        </p:txBody>
      </p:sp>
      <p:sp>
        <p:nvSpPr>
          <p:cNvPr id="7" name="Text 5"/>
          <p:cNvSpPr/>
          <p:nvPr/>
        </p:nvSpPr>
        <p:spPr>
          <a:xfrm>
            <a:off x="502920" y="3337560"/>
            <a:ext cx="5486400" cy="914400"/>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Columbia University  ·  Agentic AI for Analytics</a:t>
            </a:r>
          </a:p>
          <a:p>
            <a:pPr marL="0" indent="0">
              <a:buNone/>
            </a:pPr>
            <a:endParaRPr lang="en-US" sz="1100" dirty="0">
              <a:solidFill>
                <a:schemeClr val="bg1"/>
              </a:solidFill>
              <a:latin typeface="Calibri" pitchFamily="34" charset="0"/>
              <a:cs typeface="Calibri" pitchFamily="34" charset="-120"/>
            </a:endParaRPr>
          </a:p>
          <a:p>
            <a:pPr marL="0" indent="0">
              <a:buNone/>
            </a:pPr>
            <a:r>
              <a:rPr lang="en-US" sz="1100" dirty="0">
                <a:solidFill>
                  <a:schemeClr val="bg1"/>
                </a:solidFill>
                <a:latin typeface="Calibri" pitchFamily="34" charset="0"/>
                <a:cs typeface="Calibri" pitchFamily="34" charset="-120"/>
              </a:rPr>
              <a:t>Members: Aditi Mittal (am6845) </a:t>
            </a:r>
          </a:p>
          <a:p>
            <a:pPr marL="0" indent="0">
              <a:buNone/>
            </a:pPr>
            <a:r>
              <a:rPr lang="en-US" sz="1100" dirty="0">
                <a:solidFill>
                  <a:schemeClr val="bg1"/>
                </a:solidFill>
                <a:latin typeface="Calibri" pitchFamily="34" charset="0"/>
                <a:cs typeface="Calibri" pitchFamily="34" charset="-120"/>
              </a:rPr>
              <a:t>                   Ayush Kumar (ak5486) </a:t>
            </a:r>
            <a:endParaRPr lang="en-US" sz="1100" dirty="0">
              <a:solidFill>
                <a:schemeClr val="bg1"/>
              </a:solidFill>
            </a:endParaRPr>
          </a:p>
        </p:txBody>
      </p:sp>
      <p:sp>
        <p:nvSpPr>
          <p:cNvPr id="8" name="Shape 6"/>
          <p:cNvSpPr/>
          <p:nvPr/>
        </p:nvSpPr>
        <p:spPr>
          <a:xfrm>
            <a:off x="0" y="4956048"/>
            <a:ext cx="9144000" cy="192024"/>
          </a:xfrm>
          <a:prstGeom prst="rect">
            <a:avLst/>
          </a:prstGeom>
          <a:solidFill>
            <a:srgbClr val="E8622A"/>
          </a:solidFill>
          <a:ln w="12700">
            <a:solidFill>
              <a:srgbClr val="E8622A"/>
            </a:solidFill>
            <a:prstDash val="solid"/>
          </a:ln>
        </p:spPr>
        <p:txBody>
          <a:bodyPr/>
          <a:lstStyle/>
          <a:p>
            <a:endParaRPr lang="en-US"/>
          </a:p>
        </p:txBody>
      </p:sp>
      <p:sp>
        <p:nvSpPr>
          <p:cNvPr id="9" name="Text 7"/>
          <p:cNvSpPr/>
          <p:nvPr/>
        </p:nvSpPr>
        <p:spPr>
          <a:xfrm>
            <a:off x="0" y="4956048"/>
            <a:ext cx="9144000" cy="192024"/>
          </a:xfrm>
          <a:prstGeom prst="rect">
            <a:avLst/>
          </a:prstGeom>
          <a:noFill/>
          <a:ln/>
        </p:spPr>
        <p:txBody>
          <a:bodyPr wrap="square" lIns="0" tIns="0" rIns="0" bIns="0" rtlCol="0" anchor="ctr"/>
          <a:lstStyle/>
          <a:p>
            <a:pPr marL="0" indent="0" algn="ctr">
              <a:buNone/>
            </a:pPr>
            <a:r>
              <a:rPr lang="en-US" sz="750" kern="0" spc="100" dirty="0">
                <a:solidFill>
                  <a:srgbClr val="FFFFFF"/>
                </a:solidFill>
                <a:latin typeface="Calibri" pitchFamily="34" charset="0"/>
                <a:ea typeface="Calibri" pitchFamily="34" charset="-122"/>
                <a:cs typeface="Calibri" pitchFamily="34" charset="-120"/>
              </a:rPr>
              <a:t>AGENTIC AI  ·  MULTI-AGENT PIPELINE  ·  RAG  ·  STRUCTURED OUTPUT  ·  ARTIFACT GENERATION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2"/>
          </a:solidFill>
          <a:ln w="12700">
            <a:solidFill>
              <a:srgbClr val="1A2B52"/>
            </a:solidFill>
            <a:prstDash val="solid"/>
          </a:ln>
        </p:spPr>
        <p:txBody>
          <a:bodyPr/>
          <a:lstStyle/>
          <a:p>
            <a:endParaRPr lang="en-US"/>
          </a:p>
        </p:txBody>
      </p:sp>
      <p:sp>
        <p:nvSpPr>
          <p:cNvPr id="3" name="Text 1"/>
          <p:cNvSpPr/>
          <p:nvPr/>
        </p:nvSpPr>
        <p:spPr>
          <a:xfrm>
            <a:off x="411480" y="0"/>
            <a:ext cx="7315200" cy="9601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The Problem</a:t>
            </a:r>
            <a:endParaRPr lang="en-US" sz="3400" dirty="0"/>
          </a:p>
        </p:txBody>
      </p:sp>
      <p:sp>
        <p:nvSpPr>
          <p:cNvPr id="6" name="Shape 4"/>
          <p:cNvSpPr/>
          <p:nvPr/>
        </p:nvSpPr>
        <p:spPr>
          <a:xfrm>
            <a:off x="411480" y="1115568"/>
            <a:ext cx="2651760" cy="1325880"/>
          </a:xfrm>
          <a:prstGeom prst="rect">
            <a:avLst/>
          </a:prstGeom>
          <a:solidFill>
            <a:srgbClr val="1A2B52"/>
          </a:solidFill>
          <a:ln w="12700">
            <a:solidFill>
              <a:srgbClr val="1A2B52"/>
            </a:solidFill>
            <a:prstDash val="solid"/>
          </a:ln>
          <a:effectLst>
            <a:outerShdw blurRad="101600" dist="25400" dir="8100000" algn="bl" rotWithShape="0">
              <a:srgbClr val="000000">
                <a:alpha val="13000"/>
              </a:srgbClr>
            </a:outerShdw>
          </a:effectLst>
        </p:spPr>
        <p:txBody>
          <a:bodyPr/>
          <a:lstStyle/>
          <a:p>
            <a:endParaRPr lang="en-US"/>
          </a:p>
        </p:txBody>
      </p:sp>
      <p:sp>
        <p:nvSpPr>
          <p:cNvPr id="7" name="Text 5"/>
          <p:cNvSpPr/>
          <p:nvPr/>
        </p:nvSpPr>
        <p:spPr>
          <a:xfrm>
            <a:off x="411480" y="1143000"/>
            <a:ext cx="2651760" cy="640080"/>
          </a:xfrm>
          <a:prstGeom prst="rect">
            <a:avLst/>
          </a:prstGeom>
          <a:noFill/>
          <a:ln/>
        </p:spPr>
        <p:txBody>
          <a:bodyPr wrap="square" rtlCol="0" anchor="ctr"/>
          <a:lstStyle/>
          <a:p>
            <a:pPr marL="0" indent="0" algn="ctr">
              <a:buNone/>
            </a:pPr>
            <a:r>
              <a:rPr lang="en-US" sz="3200" b="1" dirty="0">
                <a:solidFill>
                  <a:srgbClr val="E8622A"/>
                </a:solidFill>
                <a:latin typeface="Calibri" pitchFamily="34" charset="0"/>
                <a:ea typeface="Calibri" pitchFamily="34" charset="-122"/>
                <a:cs typeface="Calibri" pitchFamily="34" charset="-120"/>
              </a:rPr>
              <a:t>$400B+</a:t>
            </a:r>
            <a:endParaRPr lang="en-US" sz="3200" dirty="0"/>
          </a:p>
        </p:txBody>
      </p:sp>
      <p:sp>
        <p:nvSpPr>
          <p:cNvPr id="8" name="Text 6"/>
          <p:cNvSpPr/>
          <p:nvPr/>
        </p:nvSpPr>
        <p:spPr>
          <a:xfrm>
            <a:off x="502920" y="1719072"/>
            <a:ext cx="2468880" cy="640080"/>
          </a:xfrm>
          <a:prstGeom prst="rect">
            <a:avLst/>
          </a:prstGeom>
          <a:noFill/>
          <a:ln/>
        </p:spPr>
        <p:txBody>
          <a:bodyPr wrap="square" rtlCol="0" anchor="t"/>
          <a:lstStyle/>
          <a:p>
            <a:pPr marL="0" indent="0" algn="ctr">
              <a:buNone/>
            </a:pPr>
            <a:r>
              <a:rPr lang="en-US" sz="1100" dirty="0">
                <a:solidFill>
                  <a:srgbClr val="A0B4D4"/>
                </a:solidFill>
                <a:latin typeface="Calibri" pitchFamily="34" charset="0"/>
                <a:ea typeface="Calibri" pitchFamily="34" charset="-122"/>
                <a:cs typeface="Calibri" pitchFamily="34" charset="-120"/>
              </a:rPr>
              <a:t>U.S. annual drug spend</a:t>
            </a:r>
            <a:endParaRPr lang="en-US" sz="1100" dirty="0"/>
          </a:p>
          <a:p>
            <a:pPr marL="0" indent="0" algn="ctr">
              <a:buNone/>
            </a:pPr>
            <a:r>
              <a:rPr lang="en-US" sz="1100" dirty="0">
                <a:solidFill>
                  <a:srgbClr val="A0B4D4"/>
                </a:solidFill>
                <a:latin typeface="Calibri" pitchFamily="34" charset="0"/>
                <a:ea typeface="Calibri" pitchFamily="34" charset="-122"/>
                <a:cs typeface="Calibri" pitchFamily="34" charset="-120"/>
              </a:rPr>
              <a:t>by insurers &amp; health plans</a:t>
            </a:r>
            <a:endParaRPr lang="en-US" sz="1100" dirty="0"/>
          </a:p>
        </p:txBody>
      </p:sp>
      <p:sp>
        <p:nvSpPr>
          <p:cNvPr id="9" name="Shape 7"/>
          <p:cNvSpPr/>
          <p:nvPr/>
        </p:nvSpPr>
        <p:spPr>
          <a:xfrm>
            <a:off x="3319272" y="1115568"/>
            <a:ext cx="2651760" cy="1325880"/>
          </a:xfrm>
          <a:prstGeom prst="rect">
            <a:avLst/>
          </a:prstGeom>
          <a:solidFill>
            <a:srgbClr val="1A2B52"/>
          </a:solidFill>
          <a:ln w="12700">
            <a:solidFill>
              <a:srgbClr val="1A2B52"/>
            </a:solidFill>
            <a:prstDash val="solid"/>
          </a:ln>
          <a:effectLst>
            <a:outerShdw blurRad="101600" dist="25400" dir="8100000" algn="bl" rotWithShape="0">
              <a:srgbClr val="000000">
                <a:alpha val="13000"/>
              </a:srgbClr>
            </a:outerShdw>
          </a:effectLst>
        </p:spPr>
        <p:txBody>
          <a:bodyPr/>
          <a:lstStyle/>
          <a:p>
            <a:endParaRPr lang="en-US"/>
          </a:p>
        </p:txBody>
      </p:sp>
      <p:sp>
        <p:nvSpPr>
          <p:cNvPr id="10" name="Text 8"/>
          <p:cNvSpPr/>
          <p:nvPr/>
        </p:nvSpPr>
        <p:spPr>
          <a:xfrm>
            <a:off x="3319272" y="1143000"/>
            <a:ext cx="2651760" cy="640080"/>
          </a:xfrm>
          <a:prstGeom prst="rect">
            <a:avLst/>
          </a:prstGeom>
          <a:noFill/>
          <a:ln/>
        </p:spPr>
        <p:txBody>
          <a:bodyPr wrap="square" rtlCol="0" anchor="ctr"/>
          <a:lstStyle/>
          <a:p>
            <a:pPr marL="0" indent="0" algn="ctr">
              <a:buNone/>
            </a:pPr>
            <a:r>
              <a:rPr lang="en-US" sz="3200" b="1" dirty="0">
                <a:solidFill>
                  <a:srgbClr val="E8622A"/>
                </a:solidFill>
                <a:latin typeface="Calibri" pitchFamily="34" charset="0"/>
                <a:ea typeface="Calibri" pitchFamily="34" charset="-122"/>
                <a:cs typeface="Calibri" pitchFamily="34" charset="-120"/>
              </a:rPr>
              <a:t>90%</a:t>
            </a:r>
            <a:endParaRPr lang="en-US" sz="3200" dirty="0"/>
          </a:p>
        </p:txBody>
      </p:sp>
      <p:sp>
        <p:nvSpPr>
          <p:cNvPr id="11" name="Text 9"/>
          <p:cNvSpPr/>
          <p:nvPr/>
        </p:nvSpPr>
        <p:spPr>
          <a:xfrm>
            <a:off x="3410712" y="1719072"/>
            <a:ext cx="2468880" cy="640080"/>
          </a:xfrm>
          <a:prstGeom prst="rect">
            <a:avLst/>
          </a:prstGeom>
          <a:noFill/>
          <a:ln/>
        </p:spPr>
        <p:txBody>
          <a:bodyPr wrap="square" rtlCol="0" anchor="t"/>
          <a:lstStyle/>
          <a:p>
            <a:pPr marL="0" indent="0" algn="ctr">
              <a:buNone/>
            </a:pPr>
            <a:r>
              <a:rPr lang="en-US" sz="1100" dirty="0">
                <a:solidFill>
                  <a:srgbClr val="A0B4D4"/>
                </a:solidFill>
                <a:latin typeface="Calibri" pitchFamily="34" charset="0"/>
                <a:ea typeface="Calibri" pitchFamily="34" charset="-122"/>
                <a:cs typeface="Calibri" pitchFamily="34" charset="-120"/>
              </a:rPr>
              <a:t>of top-selling brand drugs</a:t>
            </a:r>
            <a:endParaRPr lang="en-US" sz="1100" dirty="0"/>
          </a:p>
          <a:p>
            <a:pPr marL="0" indent="0" algn="ctr">
              <a:buNone/>
            </a:pPr>
            <a:r>
              <a:rPr lang="en-US" sz="1100" dirty="0">
                <a:solidFill>
                  <a:srgbClr val="A0B4D4"/>
                </a:solidFill>
                <a:latin typeface="Calibri" pitchFamily="34" charset="0"/>
                <a:ea typeface="Calibri" pitchFamily="34" charset="-122"/>
                <a:cs typeface="Calibri" pitchFamily="34" charset="-120"/>
              </a:rPr>
              <a:t>have a generic equivalent</a:t>
            </a:r>
            <a:endParaRPr lang="en-US" sz="1100" dirty="0"/>
          </a:p>
        </p:txBody>
      </p:sp>
      <p:sp>
        <p:nvSpPr>
          <p:cNvPr id="12" name="Shape 10"/>
          <p:cNvSpPr/>
          <p:nvPr/>
        </p:nvSpPr>
        <p:spPr>
          <a:xfrm>
            <a:off x="6227064" y="1115568"/>
            <a:ext cx="2651760" cy="1325880"/>
          </a:xfrm>
          <a:prstGeom prst="rect">
            <a:avLst/>
          </a:prstGeom>
          <a:solidFill>
            <a:srgbClr val="1A2B52"/>
          </a:solidFill>
          <a:ln w="12700">
            <a:solidFill>
              <a:srgbClr val="1A2B52"/>
            </a:solidFill>
            <a:prstDash val="solid"/>
          </a:ln>
          <a:effectLst>
            <a:outerShdw blurRad="101600" dist="25400" dir="8100000" algn="bl" rotWithShape="0">
              <a:srgbClr val="000000">
                <a:alpha val="13000"/>
              </a:srgbClr>
            </a:outerShdw>
          </a:effectLst>
        </p:spPr>
        <p:txBody>
          <a:bodyPr/>
          <a:lstStyle/>
          <a:p>
            <a:endParaRPr lang="en-US"/>
          </a:p>
        </p:txBody>
      </p:sp>
      <p:sp>
        <p:nvSpPr>
          <p:cNvPr id="13" name="Text 11"/>
          <p:cNvSpPr/>
          <p:nvPr/>
        </p:nvSpPr>
        <p:spPr>
          <a:xfrm>
            <a:off x="6227064" y="1143000"/>
            <a:ext cx="2651760" cy="640080"/>
          </a:xfrm>
          <a:prstGeom prst="rect">
            <a:avLst/>
          </a:prstGeom>
          <a:noFill/>
          <a:ln/>
        </p:spPr>
        <p:txBody>
          <a:bodyPr wrap="square" rtlCol="0" anchor="ctr"/>
          <a:lstStyle/>
          <a:p>
            <a:pPr marL="0" indent="0" algn="ctr">
              <a:buNone/>
            </a:pPr>
            <a:r>
              <a:rPr lang="en-US" sz="3200" b="1" dirty="0">
                <a:solidFill>
                  <a:srgbClr val="E8622A"/>
                </a:solidFill>
                <a:latin typeface="Calibri" pitchFamily="34" charset="0"/>
                <a:ea typeface="Calibri" pitchFamily="34" charset="-122"/>
                <a:cs typeface="Calibri" pitchFamily="34" charset="-120"/>
              </a:rPr>
              <a:t>Slow</a:t>
            </a:r>
            <a:endParaRPr lang="en-US" sz="3200" dirty="0"/>
          </a:p>
        </p:txBody>
      </p:sp>
      <p:sp>
        <p:nvSpPr>
          <p:cNvPr id="14" name="Text 12"/>
          <p:cNvSpPr/>
          <p:nvPr/>
        </p:nvSpPr>
        <p:spPr>
          <a:xfrm>
            <a:off x="6318504" y="1719072"/>
            <a:ext cx="2468880" cy="640080"/>
          </a:xfrm>
          <a:prstGeom prst="rect">
            <a:avLst/>
          </a:prstGeom>
          <a:noFill/>
          <a:ln/>
        </p:spPr>
        <p:txBody>
          <a:bodyPr wrap="square" rtlCol="0" anchor="t"/>
          <a:lstStyle/>
          <a:p>
            <a:pPr marL="0" indent="0" algn="ctr">
              <a:buNone/>
            </a:pPr>
            <a:r>
              <a:rPr lang="en-US" sz="1100" dirty="0">
                <a:solidFill>
                  <a:srgbClr val="A0B4D4"/>
                </a:solidFill>
                <a:latin typeface="Calibri" pitchFamily="34" charset="0"/>
                <a:ea typeface="Calibri" pitchFamily="34" charset="-122"/>
                <a:cs typeface="Calibri" pitchFamily="34" charset="-120"/>
              </a:rPr>
              <a:t>Manual analysis makes</a:t>
            </a:r>
            <a:endParaRPr lang="en-US" sz="1100" dirty="0"/>
          </a:p>
          <a:p>
            <a:pPr marL="0" indent="0" algn="ctr">
              <a:buNone/>
            </a:pPr>
            <a:r>
              <a:rPr lang="en-US" sz="1100" dirty="0">
                <a:solidFill>
                  <a:srgbClr val="A0B4D4"/>
                </a:solidFill>
                <a:latin typeface="Calibri" pitchFamily="34" charset="0"/>
                <a:ea typeface="Calibri" pitchFamily="34" charset="-122"/>
                <a:cs typeface="Calibri" pitchFamily="34" charset="-120"/>
              </a:rPr>
              <a:t>action plans weeks late</a:t>
            </a:r>
            <a:endParaRPr lang="en-US" sz="1100" dirty="0"/>
          </a:p>
        </p:txBody>
      </p:sp>
      <p:sp>
        <p:nvSpPr>
          <p:cNvPr id="15" name="Text 13"/>
          <p:cNvSpPr/>
          <p:nvPr/>
        </p:nvSpPr>
        <p:spPr>
          <a:xfrm>
            <a:off x="411480" y="2578608"/>
            <a:ext cx="8229600" cy="347472"/>
          </a:xfrm>
          <a:prstGeom prst="rect">
            <a:avLst/>
          </a:prstGeom>
          <a:noFill/>
          <a:ln/>
        </p:spPr>
        <p:txBody>
          <a:bodyPr wrap="square" rtlCol="0" anchor="ctr"/>
          <a:lstStyle/>
          <a:p>
            <a:pPr marL="0" indent="0">
              <a:buNone/>
            </a:pPr>
            <a:r>
              <a:rPr lang="en-US" sz="1500" b="1" dirty="0">
                <a:solidFill>
                  <a:srgbClr val="1A2B52"/>
                </a:solidFill>
                <a:latin typeface="Calibri" pitchFamily="34" charset="0"/>
                <a:ea typeface="Calibri" pitchFamily="34" charset="-122"/>
                <a:cs typeface="Calibri" pitchFamily="34" charset="-120"/>
              </a:rPr>
              <a:t>Pain Points for Insurers</a:t>
            </a:r>
            <a:endParaRPr lang="en-US" sz="1500" dirty="0"/>
          </a:p>
        </p:txBody>
      </p:sp>
      <p:sp>
        <p:nvSpPr>
          <p:cNvPr id="16" name="Shape 14"/>
          <p:cNvSpPr/>
          <p:nvPr/>
        </p:nvSpPr>
        <p:spPr>
          <a:xfrm>
            <a:off x="411480" y="2999232"/>
            <a:ext cx="73152" cy="320040"/>
          </a:xfrm>
          <a:prstGeom prst="rect">
            <a:avLst/>
          </a:prstGeom>
          <a:solidFill>
            <a:srgbClr val="E8622A"/>
          </a:solidFill>
          <a:ln w="12700">
            <a:solidFill>
              <a:srgbClr val="E8622A"/>
            </a:solidFill>
            <a:prstDash val="solid"/>
          </a:ln>
        </p:spPr>
        <p:txBody>
          <a:bodyPr/>
          <a:lstStyle/>
          <a:p>
            <a:endParaRPr lang="en-US"/>
          </a:p>
        </p:txBody>
      </p:sp>
      <p:sp>
        <p:nvSpPr>
          <p:cNvPr id="17" name="Text 15"/>
          <p:cNvSpPr/>
          <p:nvPr/>
        </p:nvSpPr>
        <p:spPr>
          <a:xfrm>
            <a:off x="594360" y="2999232"/>
            <a:ext cx="1508760" cy="320040"/>
          </a:xfrm>
          <a:prstGeom prst="rect">
            <a:avLst/>
          </a:prstGeom>
          <a:noFill/>
          <a:ln/>
        </p:spPr>
        <p:txBody>
          <a:bodyPr wrap="square" rtlCol="0" anchor="ctr"/>
          <a:lstStyle/>
          <a:p>
            <a:pPr marL="0" indent="0">
              <a:buNone/>
            </a:pPr>
            <a:r>
              <a:rPr lang="en-US" sz="1200" b="1" dirty="0">
                <a:solidFill>
                  <a:srgbClr val="1A2B52"/>
                </a:solidFill>
                <a:latin typeface="Calibri" pitchFamily="34" charset="0"/>
                <a:ea typeface="Calibri" pitchFamily="34" charset="-122"/>
                <a:cs typeface="Calibri" pitchFamily="34" charset="-120"/>
              </a:rPr>
              <a:t>Data is fragmented: </a:t>
            </a:r>
            <a:endParaRPr lang="en-US" sz="1200" dirty="0"/>
          </a:p>
        </p:txBody>
      </p:sp>
      <p:sp>
        <p:nvSpPr>
          <p:cNvPr id="18" name="Text 16"/>
          <p:cNvSpPr/>
          <p:nvPr/>
        </p:nvSpPr>
        <p:spPr>
          <a:xfrm>
            <a:off x="2057400" y="2999232"/>
            <a:ext cx="6675120" cy="32004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Claims data spans NDC codes, drug names, member IDs, formulary rules, and pricing files, spread across different systems.</a:t>
            </a:r>
            <a:endParaRPr lang="en-US" sz="1200" dirty="0"/>
          </a:p>
        </p:txBody>
      </p:sp>
      <p:sp>
        <p:nvSpPr>
          <p:cNvPr id="19" name="Shape 17"/>
          <p:cNvSpPr/>
          <p:nvPr/>
        </p:nvSpPr>
        <p:spPr>
          <a:xfrm>
            <a:off x="411480" y="3438144"/>
            <a:ext cx="73152" cy="320040"/>
          </a:xfrm>
          <a:prstGeom prst="rect">
            <a:avLst/>
          </a:prstGeom>
          <a:solidFill>
            <a:srgbClr val="E8622A"/>
          </a:solidFill>
          <a:ln w="12700">
            <a:solidFill>
              <a:srgbClr val="E8622A"/>
            </a:solidFill>
            <a:prstDash val="solid"/>
          </a:ln>
        </p:spPr>
        <p:txBody>
          <a:bodyPr/>
          <a:lstStyle/>
          <a:p>
            <a:endParaRPr lang="en-US"/>
          </a:p>
        </p:txBody>
      </p:sp>
      <p:sp>
        <p:nvSpPr>
          <p:cNvPr id="20" name="Text 18"/>
          <p:cNvSpPr/>
          <p:nvPr/>
        </p:nvSpPr>
        <p:spPr>
          <a:xfrm>
            <a:off x="594360" y="3438144"/>
            <a:ext cx="1508760" cy="320040"/>
          </a:xfrm>
          <a:prstGeom prst="rect">
            <a:avLst/>
          </a:prstGeom>
          <a:noFill/>
          <a:ln/>
        </p:spPr>
        <p:txBody>
          <a:bodyPr wrap="square" rtlCol="0" anchor="ctr"/>
          <a:lstStyle/>
          <a:p>
            <a:pPr marL="0" indent="0">
              <a:buNone/>
            </a:pPr>
            <a:r>
              <a:rPr lang="en-US" sz="1200" b="1" dirty="0">
                <a:solidFill>
                  <a:srgbClr val="1A2B52"/>
                </a:solidFill>
                <a:latin typeface="Calibri" pitchFamily="34" charset="0"/>
                <a:ea typeface="Calibri" pitchFamily="34" charset="-122"/>
                <a:cs typeface="Calibri" pitchFamily="34" charset="-120"/>
              </a:rPr>
              <a:t>No clear action path: </a:t>
            </a:r>
            <a:endParaRPr lang="en-US" sz="1200" dirty="0"/>
          </a:p>
        </p:txBody>
      </p:sp>
      <p:sp>
        <p:nvSpPr>
          <p:cNvPr id="21" name="Text 19"/>
          <p:cNvSpPr/>
          <p:nvPr/>
        </p:nvSpPr>
        <p:spPr>
          <a:xfrm>
            <a:off x="2057400" y="3438144"/>
            <a:ext cx="6675120" cy="32004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Insurers can see the paid claim, but turning raw data into a savings opportunity with clinical backing is a slow, manual process.</a:t>
            </a:r>
            <a:endParaRPr lang="en-US" sz="1200" dirty="0"/>
          </a:p>
        </p:txBody>
      </p:sp>
      <p:sp>
        <p:nvSpPr>
          <p:cNvPr id="22" name="Shape 20"/>
          <p:cNvSpPr/>
          <p:nvPr/>
        </p:nvSpPr>
        <p:spPr>
          <a:xfrm>
            <a:off x="411480" y="3877056"/>
            <a:ext cx="73152" cy="320040"/>
          </a:xfrm>
          <a:prstGeom prst="rect">
            <a:avLst/>
          </a:prstGeom>
          <a:solidFill>
            <a:srgbClr val="E8622A"/>
          </a:solidFill>
          <a:ln w="12700">
            <a:solidFill>
              <a:srgbClr val="E8622A"/>
            </a:solidFill>
            <a:prstDash val="solid"/>
          </a:ln>
        </p:spPr>
        <p:txBody>
          <a:bodyPr/>
          <a:lstStyle/>
          <a:p>
            <a:endParaRPr lang="en-US"/>
          </a:p>
        </p:txBody>
      </p:sp>
      <p:sp>
        <p:nvSpPr>
          <p:cNvPr id="23" name="Text 21"/>
          <p:cNvSpPr/>
          <p:nvPr/>
        </p:nvSpPr>
        <p:spPr>
          <a:xfrm>
            <a:off x="594360" y="3877056"/>
            <a:ext cx="1508760" cy="320040"/>
          </a:xfrm>
          <a:prstGeom prst="rect">
            <a:avLst/>
          </a:prstGeom>
          <a:noFill/>
          <a:ln/>
        </p:spPr>
        <p:txBody>
          <a:bodyPr wrap="square" rtlCol="0" anchor="ctr"/>
          <a:lstStyle/>
          <a:p>
            <a:pPr marL="0" indent="0">
              <a:buNone/>
            </a:pPr>
            <a:r>
              <a:rPr lang="en-US" sz="1200" b="1" dirty="0">
                <a:solidFill>
                  <a:srgbClr val="1A2B52"/>
                </a:solidFill>
                <a:latin typeface="Calibri" pitchFamily="34" charset="0"/>
                <a:ea typeface="Calibri" pitchFamily="34" charset="-122"/>
                <a:cs typeface="Calibri" pitchFamily="34" charset="-120"/>
              </a:rPr>
              <a:t>Generic risk is invisible: </a:t>
            </a:r>
            <a:endParaRPr lang="en-US" sz="1200" dirty="0"/>
          </a:p>
        </p:txBody>
      </p:sp>
      <p:sp>
        <p:nvSpPr>
          <p:cNvPr id="24" name="Text 22"/>
          <p:cNvSpPr/>
          <p:nvPr/>
        </p:nvSpPr>
        <p:spPr>
          <a:xfrm>
            <a:off x="2057400" y="3877056"/>
            <a:ext cx="6675120" cy="32004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Not every brand→generic switch is safe. Clinical risk, adherence impact, and pharmacy access all affect whether a switch should proceed.</a:t>
            </a:r>
            <a:endParaRPr lang="en-US" sz="1200" dirty="0"/>
          </a:p>
        </p:txBody>
      </p:sp>
      <p:sp>
        <p:nvSpPr>
          <p:cNvPr id="26" name="Text 24"/>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2"/>
          </a:solidFill>
          <a:ln w="12700">
            <a:solidFill>
              <a:srgbClr val="1A2B52"/>
            </a:solidFill>
            <a:prstDash val="solid"/>
          </a:ln>
        </p:spPr>
        <p:txBody>
          <a:bodyPr/>
          <a:lstStyle/>
          <a:p>
            <a:endParaRPr lang="en-US"/>
          </a:p>
        </p:txBody>
      </p:sp>
      <p:sp>
        <p:nvSpPr>
          <p:cNvPr id="3" name="Text 1"/>
          <p:cNvSpPr/>
          <p:nvPr/>
        </p:nvSpPr>
        <p:spPr>
          <a:xfrm>
            <a:off x="411480" y="0"/>
            <a:ext cx="7315200" cy="9601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Solution Overview</a:t>
            </a:r>
            <a:endParaRPr lang="en-US" sz="3400" dirty="0"/>
          </a:p>
        </p:txBody>
      </p:sp>
      <p:sp>
        <p:nvSpPr>
          <p:cNvPr id="6" name="Shape 4"/>
          <p:cNvSpPr/>
          <p:nvPr/>
        </p:nvSpPr>
        <p:spPr>
          <a:xfrm>
            <a:off x="411480" y="1078992"/>
            <a:ext cx="8321040" cy="640080"/>
          </a:xfrm>
          <a:prstGeom prst="rect">
            <a:avLst/>
          </a:prstGeom>
          <a:solidFill>
            <a:srgbClr val="1A2B52"/>
          </a:solidFill>
          <a:ln w="12700">
            <a:solidFill>
              <a:srgbClr val="1A2B52"/>
            </a:solidFill>
            <a:prstDash val="solid"/>
          </a:ln>
        </p:spPr>
        <p:txBody>
          <a:bodyPr/>
          <a:lstStyle/>
          <a:p>
            <a:endParaRPr lang="en-US"/>
          </a:p>
        </p:txBody>
      </p:sp>
      <p:sp>
        <p:nvSpPr>
          <p:cNvPr id="7" name="Shape 5"/>
          <p:cNvSpPr/>
          <p:nvPr/>
        </p:nvSpPr>
        <p:spPr>
          <a:xfrm>
            <a:off x="411480" y="1078992"/>
            <a:ext cx="109728" cy="640080"/>
          </a:xfrm>
          <a:prstGeom prst="rect">
            <a:avLst/>
          </a:prstGeom>
          <a:solidFill>
            <a:srgbClr val="E8622A"/>
          </a:solidFill>
          <a:ln w="12700">
            <a:solidFill>
              <a:srgbClr val="E8622A"/>
            </a:solidFill>
            <a:prstDash val="solid"/>
          </a:ln>
        </p:spPr>
        <p:txBody>
          <a:bodyPr/>
          <a:lstStyle/>
          <a:p>
            <a:endParaRPr lang="en-US"/>
          </a:p>
        </p:txBody>
      </p:sp>
      <p:sp>
        <p:nvSpPr>
          <p:cNvPr id="8" name="Text 6"/>
          <p:cNvSpPr/>
          <p:nvPr/>
        </p:nvSpPr>
        <p:spPr>
          <a:xfrm>
            <a:off x="658368" y="1078992"/>
            <a:ext cx="7955280" cy="640080"/>
          </a:xfrm>
          <a:prstGeom prst="rect">
            <a:avLst/>
          </a:prstGeom>
          <a:noFill/>
          <a:ln/>
        </p:spPr>
        <p:txBody>
          <a:bodyPr wrap="square" rtlCol="0" anchor="ctr"/>
          <a:lstStyle/>
          <a:p>
            <a:pPr marL="0" indent="0">
              <a:buNone/>
            </a:pPr>
            <a:r>
              <a:rPr lang="en-US" sz="1200" i="1" dirty="0">
                <a:solidFill>
                  <a:srgbClr val="D0DEF5"/>
                </a:solidFill>
                <a:latin typeface="Calibri" pitchFamily="34" charset="0"/>
                <a:ea typeface="Calibri" pitchFamily="34" charset="-122"/>
                <a:cs typeface="Calibri" pitchFamily="34" charset="-120"/>
              </a:rPr>
              <a:t>PharmaFlow AI helps insurance companies find expensive brand-name prescription claims with lower-cost generic options, estimate savings with clinical risk adjustment, and generate the documents needed to act, all from a single claims CSV upload.</a:t>
            </a:r>
            <a:endParaRPr lang="en-US" sz="1200" dirty="0"/>
          </a:p>
        </p:txBody>
      </p:sp>
      <p:sp>
        <p:nvSpPr>
          <p:cNvPr id="9" name="Shape 7"/>
          <p:cNvSpPr/>
          <p:nvPr/>
        </p:nvSpPr>
        <p:spPr>
          <a:xfrm>
            <a:off x="411480" y="1874520"/>
            <a:ext cx="2724912" cy="2606040"/>
          </a:xfrm>
          <a:prstGeom prst="rect">
            <a:avLst/>
          </a:prstGeom>
          <a:solidFill>
            <a:srgbClr val="FFFFFF"/>
          </a:solidFill>
          <a:ln w="12700">
            <a:solidFill>
              <a:srgbClr val="D1DCF0"/>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11480" y="1874520"/>
            <a:ext cx="2724912" cy="109728"/>
          </a:xfrm>
          <a:prstGeom prst="rect">
            <a:avLst/>
          </a:prstGeom>
          <a:solidFill>
            <a:srgbClr val="E8622A"/>
          </a:solidFill>
          <a:ln w="12700">
            <a:solidFill>
              <a:srgbClr val="E8622A"/>
            </a:solidFill>
            <a:prstDash val="solid"/>
          </a:ln>
        </p:spPr>
        <p:txBody>
          <a:bodyPr/>
          <a:lstStyle/>
          <a:p>
            <a:endParaRPr lang="en-US"/>
          </a:p>
        </p:txBody>
      </p:sp>
      <p:sp>
        <p:nvSpPr>
          <p:cNvPr id="11" name="Text 9"/>
          <p:cNvSpPr/>
          <p:nvPr/>
        </p:nvSpPr>
        <p:spPr>
          <a:xfrm>
            <a:off x="411480" y="2011680"/>
            <a:ext cx="2724912" cy="502920"/>
          </a:xfrm>
          <a:prstGeom prst="rect">
            <a:avLst/>
          </a:prstGeom>
          <a:noFill/>
          <a:ln/>
        </p:spPr>
        <p:txBody>
          <a:bodyPr wrap="square"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Text 10"/>
          <p:cNvSpPr/>
          <p:nvPr/>
        </p:nvSpPr>
        <p:spPr>
          <a:xfrm>
            <a:off x="548640" y="2542032"/>
            <a:ext cx="2450592" cy="347472"/>
          </a:xfrm>
          <a:prstGeom prst="rect">
            <a:avLst/>
          </a:prstGeom>
          <a:noFill/>
          <a:ln/>
        </p:spPr>
        <p:txBody>
          <a:bodyPr wrap="square" rtlCol="0" anchor="ctr"/>
          <a:lstStyle/>
          <a:p>
            <a:pPr marL="0" indent="0" algn="ctr">
              <a:buNone/>
            </a:pPr>
            <a:r>
              <a:rPr lang="en-US" sz="1700" b="1" dirty="0">
                <a:solidFill>
                  <a:srgbClr val="1A2B52"/>
                </a:solidFill>
                <a:latin typeface="Calibri" pitchFamily="34" charset="0"/>
                <a:ea typeface="Calibri" pitchFamily="34" charset="-122"/>
                <a:cs typeface="Calibri" pitchFamily="34" charset="-120"/>
              </a:rPr>
              <a:t>Find</a:t>
            </a:r>
            <a:endParaRPr lang="en-US" sz="1700" dirty="0"/>
          </a:p>
        </p:txBody>
      </p:sp>
      <p:sp>
        <p:nvSpPr>
          <p:cNvPr id="13" name="Text 11"/>
          <p:cNvSpPr/>
          <p:nvPr/>
        </p:nvSpPr>
        <p:spPr>
          <a:xfrm>
            <a:off x="576072" y="2926080"/>
            <a:ext cx="2395728" cy="1463040"/>
          </a:xfrm>
          <a:prstGeom prst="rect">
            <a:avLst/>
          </a:prstGeom>
          <a:noFill/>
          <a:ln/>
        </p:spPr>
        <p:txBody>
          <a:bodyPr wrap="square" rtlCol="0" anchor="t"/>
          <a:lstStyle/>
          <a:p>
            <a:pPr marL="0" indent="0" algn="ctr">
              <a:buNone/>
            </a:pPr>
            <a:r>
              <a:rPr lang="en-US" sz="1200" dirty="0">
                <a:solidFill>
                  <a:srgbClr val="2D3748"/>
                </a:solidFill>
                <a:latin typeface="Calibri" pitchFamily="34" charset="0"/>
                <a:ea typeface="Calibri" pitchFamily="34" charset="-122"/>
                <a:cs typeface="Calibri" pitchFamily="34" charset="-120"/>
              </a:rPr>
              <a:t>Librarian Agent maps brand drugs to FDA-approved generics using Orange Book + NADAC data. No LLM guessing, pure warehouse SQL.</a:t>
            </a:r>
            <a:endParaRPr lang="en-US" sz="1200" dirty="0"/>
          </a:p>
        </p:txBody>
      </p:sp>
      <p:sp>
        <p:nvSpPr>
          <p:cNvPr id="14" name="Shape 12"/>
          <p:cNvSpPr/>
          <p:nvPr/>
        </p:nvSpPr>
        <p:spPr>
          <a:xfrm>
            <a:off x="3319272" y="1874520"/>
            <a:ext cx="2724912" cy="2606040"/>
          </a:xfrm>
          <a:prstGeom prst="rect">
            <a:avLst/>
          </a:prstGeom>
          <a:solidFill>
            <a:srgbClr val="FFFFFF"/>
          </a:solidFill>
          <a:ln w="12700">
            <a:solidFill>
              <a:srgbClr val="D1DCF0"/>
            </a:solidFill>
            <a:prstDash val="solid"/>
          </a:ln>
          <a:effectLst>
            <a:outerShdw blurRad="76200" dist="25400" dir="8100000" algn="bl" rotWithShape="0">
              <a:srgbClr val="000000">
                <a:alpha val="10000"/>
              </a:srgbClr>
            </a:outerShdw>
          </a:effectLst>
        </p:spPr>
        <p:txBody>
          <a:bodyPr/>
          <a:lstStyle/>
          <a:p>
            <a:endParaRPr lang="en-US"/>
          </a:p>
        </p:txBody>
      </p:sp>
      <p:sp>
        <p:nvSpPr>
          <p:cNvPr id="15" name="Shape 13"/>
          <p:cNvSpPr/>
          <p:nvPr/>
        </p:nvSpPr>
        <p:spPr>
          <a:xfrm>
            <a:off x="3319272" y="1874520"/>
            <a:ext cx="2724912" cy="109728"/>
          </a:xfrm>
          <a:prstGeom prst="rect">
            <a:avLst/>
          </a:prstGeom>
          <a:solidFill>
            <a:srgbClr val="E8622A"/>
          </a:solidFill>
          <a:ln w="12700">
            <a:solidFill>
              <a:srgbClr val="E8622A"/>
            </a:solidFill>
            <a:prstDash val="solid"/>
          </a:ln>
        </p:spPr>
        <p:txBody>
          <a:bodyPr/>
          <a:lstStyle/>
          <a:p>
            <a:endParaRPr lang="en-US"/>
          </a:p>
        </p:txBody>
      </p:sp>
      <p:sp>
        <p:nvSpPr>
          <p:cNvPr id="16" name="Text 14"/>
          <p:cNvSpPr/>
          <p:nvPr/>
        </p:nvSpPr>
        <p:spPr>
          <a:xfrm>
            <a:off x="3319272" y="2011680"/>
            <a:ext cx="2724912" cy="502920"/>
          </a:xfrm>
          <a:prstGeom prst="rect">
            <a:avLst/>
          </a:prstGeom>
          <a:noFill/>
          <a:ln/>
        </p:spPr>
        <p:txBody>
          <a:bodyPr wrap="square"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7" name="Text 15"/>
          <p:cNvSpPr/>
          <p:nvPr/>
        </p:nvSpPr>
        <p:spPr>
          <a:xfrm>
            <a:off x="3456432" y="2542032"/>
            <a:ext cx="2450592" cy="347472"/>
          </a:xfrm>
          <a:prstGeom prst="rect">
            <a:avLst/>
          </a:prstGeom>
          <a:noFill/>
          <a:ln/>
        </p:spPr>
        <p:txBody>
          <a:bodyPr wrap="square" rtlCol="0" anchor="ctr"/>
          <a:lstStyle/>
          <a:p>
            <a:pPr marL="0" indent="0" algn="ctr">
              <a:buNone/>
            </a:pPr>
            <a:r>
              <a:rPr lang="en-US" sz="1700" b="1" dirty="0">
                <a:solidFill>
                  <a:srgbClr val="1A2B52"/>
                </a:solidFill>
                <a:latin typeface="Calibri" pitchFamily="34" charset="0"/>
                <a:ea typeface="Calibri" pitchFamily="34" charset="-122"/>
                <a:cs typeface="Calibri" pitchFamily="34" charset="-120"/>
              </a:rPr>
              <a:t>Assess</a:t>
            </a:r>
            <a:endParaRPr lang="en-US" sz="1700" dirty="0"/>
          </a:p>
        </p:txBody>
      </p:sp>
      <p:sp>
        <p:nvSpPr>
          <p:cNvPr id="18" name="Text 16"/>
          <p:cNvSpPr/>
          <p:nvPr/>
        </p:nvSpPr>
        <p:spPr>
          <a:xfrm>
            <a:off x="3483864" y="2926080"/>
            <a:ext cx="2395728" cy="1463040"/>
          </a:xfrm>
          <a:prstGeom prst="rect">
            <a:avLst/>
          </a:prstGeom>
          <a:noFill/>
          <a:ln/>
        </p:spPr>
        <p:txBody>
          <a:bodyPr wrap="square" rtlCol="0" anchor="t"/>
          <a:lstStyle/>
          <a:p>
            <a:pPr marL="0" indent="0" algn="ctr">
              <a:buNone/>
            </a:pPr>
            <a:r>
              <a:rPr lang="en-US" sz="1200" dirty="0">
                <a:solidFill>
                  <a:srgbClr val="2D3748"/>
                </a:solidFill>
                <a:latin typeface="Calibri" pitchFamily="34" charset="0"/>
                <a:ea typeface="Calibri" pitchFamily="34" charset="-122"/>
                <a:cs typeface="Calibri" pitchFamily="34" charset="-120"/>
              </a:rPr>
              <a:t>Auditor, Clinician &amp; Social Navigator agents score each opportunity for gross savings, clinical risk, adherence impact, and pharmacy access.</a:t>
            </a:r>
            <a:endParaRPr lang="en-US" sz="1200" dirty="0"/>
          </a:p>
        </p:txBody>
      </p:sp>
      <p:sp>
        <p:nvSpPr>
          <p:cNvPr id="19" name="Shape 17"/>
          <p:cNvSpPr/>
          <p:nvPr/>
        </p:nvSpPr>
        <p:spPr>
          <a:xfrm>
            <a:off x="6227064" y="1874520"/>
            <a:ext cx="2724912" cy="2606040"/>
          </a:xfrm>
          <a:prstGeom prst="rect">
            <a:avLst/>
          </a:prstGeom>
          <a:solidFill>
            <a:srgbClr val="FFFFFF"/>
          </a:solidFill>
          <a:ln w="12700">
            <a:solidFill>
              <a:srgbClr val="D1DCF0"/>
            </a:solidFill>
            <a:prstDash val="solid"/>
          </a:ln>
          <a:effectLst>
            <a:outerShdw blurRad="76200" dist="25400" dir="8100000" algn="bl" rotWithShape="0">
              <a:srgbClr val="000000">
                <a:alpha val="10000"/>
              </a:srgbClr>
            </a:outerShdw>
          </a:effectLst>
        </p:spPr>
        <p:txBody>
          <a:bodyPr/>
          <a:lstStyle/>
          <a:p>
            <a:endParaRPr lang="en-US"/>
          </a:p>
        </p:txBody>
      </p:sp>
      <p:sp>
        <p:nvSpPr>
          <p:cNvPr id="20" name="Shape 18"/>
          <p:cNvSpPr/>
          <p:nvPr/>
        </p:nvSpPr>
        <p:spPr>
          <a:xfrm>
            <a:off x="6227064" y="1874520"/>
            <a:ext cx="2724912" cy="109728"/>
          </a:xfrm>
          <a:prstGeom prst="rect">
            <a:avLst/>
          </a:prstGeom>
          <a:solidFill>
            <a:srgbClr val="E8622A"/>
          </a:solidFill>
          <a:ln w="12700">
            <a:solidFill>
              <a:srgbClr val="E8622A"/>
            </a:solidFill>
            <a:prstDash val="solid"/>
          </a:ln>
        </p:spPr>
        <p:txBody>
          <a:bodyPr/>
          <a:lstStyle/>
          <a:p>
            <a:endParaRPr lang="en-US"/>
          </a:p>
        </p:txBody>
      </p:sp>
      <p:sp>
        <p:nvSpPr>
          <p:cNvPr id="21" name="Text 19"/>
          <p:cNvSpPr/>
          <p:nvPr/>
        </p:nvSpPr>
        <p:spPr>
          <a:xfrm>
            <a:off x="6227064" y="2011680"/>
            <a:ext cx="2724912" cy="502920"/>
          </a:xfrm>
          <a:prstGeom prst="rect">
            <a:avLst/>
          </a:prstGeom>
          <a:noFill/>
          <a:ln/>
        </p:spPr>
        <p:txBody>
          <a:bodyPr wrap="square"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2" name="Text 20"/>
          <p:cNvSpPr/>
          <p:nvPr/>
        </p:nvSpPr>
        <p:spPr>
          <a:xfrm>
            <a:off x="6364224" y="2542032"/>
            <a:ext cx="2450592" cy="347472"/>
          </a:xfrm>
          <a:prstGeom prst="rect">
            <a:avLst/>
          </a:prstGeom>
          <a:noFill/>
          <a:ln/>
        </p:spPr>
        <p:txBody>
          <a:bodyPr wrap="square" rtlCol="0" anchor="ctr"/>
          <a:lstStyle/>
          <a:p>
            <a:pPr marL="0" indent="0" algn="ctr">
              <a:buNone/>
            </a:pPr>
            <a:r>
              <a:rPr lang="en-US" sz="1700" b="1" dirty="0">
                <a:solidFill>
                  <a:srgbClr val="1A2B52"/>
                </a:solidFill>
                <a:latin typeface="Calibri" pitchFamily="34" charset="0"/>
                <a:ea typeface="Calibri" pitchFamily="34" charset="-122"/>
                <a:cs typeface="Calibri" pitchFamily="34" charset="-120"/>
              </a:rPr>
              <a:t>Act</a:t>
            </a:r>
            <a:endParaRPr lang="en-US" sz="1700" dirty="0"/>
          </a:p>
        </p:txBody>
      </p:sp>
      <p:sp>
        <p:nvSpPr>
          <p:cNvPr id="23" name="Text 21"/>
          <p:cNvSpPr/>
          <p:nvPr/>
        </p:nvSpPr>
        <p:spPr>
          <a:xfrm>
            <a:off x="6391656" y="2926080"/>
            <a:ext cx="2395728" cy="1463040"/>
          </a:xfrm>
          <a:prstGeom prst="rect">
            <a:avLst/>
          </a:prstGeom>
          <a:noFill/>
          <a:ln/>
        </p:spPr>
        <p:txBody>
          <a:bodyPr wrap="square" rtlCol="0" anchor="t"/>
          <a:lstStyle/>
          <a:p>
            <a:pPr marL="0" indent="0" algn="ctr">
              <a:buNone/>
            </a:pPr>
            <a:r>
              <a:rPr lang="en-US" sz="1200" dirty="0">
                <a:solidFill>
                  <a:srgbClr val="2D3748"/>
                </a:solidFill>
                <a:latin typeface="Calibri" pitchFamily="34" charset="0"/>
                <a:ea typeface="Calibri" pitchFamily="34" charset="-122"/>
                <a:cs typeface="Calibri" pitchFamily="34" charset="-120"/>
              </a:rPr>
              <a:t>Gold plan generates a 4-document Switch Package: doctor letter, patient notice, pharmacy alignment note, and internal payer memo, downloadable as a ZIP.</a:t>
            </a:r>
            <a:endParaRPr lang="en-US" sz="1200" dirty="0"/>
          </a:p>
        </p:txBody>
      </p:sp>
      <p:sp>
        <p:nvSpPr>
          <p:cNvPr id="25" name="Text 23"/>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2"/>
          </a:solidFill>
          <a:ln w="12700">
            <a:solidFill>
              <a:srgbClr val="1A2B52"/>
            </a:solidFill>
            <a:prstDash val="solid"/>
          </a:ln>
        </p:spPr>
        <p:txBody>
          <a:bodyPr/>
          <a:lstStyle/>
          <a:p>
            <a:endParaRPr lang="en-US"/>
          </a:p>
        </p:txBody>
      </p:sp>
      <p:sp>
        <p:nvSpPr>
          <p:cNvPr id="3" name="Text 1"/>
          <p:cNvSpPr/>
          <p:nvPr/>
        </p:nvSpPr>
        <p:spPr>
          <a:xfrm>
            <a:off x="411480" y="0"/>
            <a:ext cx="7772400" cy="9601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The User: Who Pays for This?</a:t>
            </a:r>
            <a:endParaRPr lang="en-US" sz="3400" dirty="0"/>
          </a:p>
        </p:txBody>
      </p:sp>
      <p:sp>
        <p:nvSpPr>
          <p:cNvPr id="6" name="Text 4"/>
          <p:cNvSpPr/>
          <p:nvPr/>
        </p:nvSpPr>
        <p:spPr>
          <a:xfrm>
            <a:off x="411480" y="1024128"/>
            <a:ext cx="8321040" cy="329184"/>
          </a:xfrm>
          <a:prstGeom prst="rect">
            <a:avLst/>
          </a:prstGeom>
          <a:noFill/>
          <a:ln/>
        </p:spPr>
        <p:txBody>
          <a:bodyPr wrap="square" rtlCol="0" anchor="ctr"/>
          <a:lstStyle/>
          <a:p>
            <a:pPr marL="0" indent="0">
              <a:buNone/>
            </a:pPr>
            <a:r>
              <a:rPr lang="en-US" sz="1400" b="1" dirty="0">
                <a:solidFill>
                  <a:srgbClr val="E8622A"/>
                </a:solidFill>
                <a:latin typeface="Calibri" pitchFamily="34" charset="0"/>
                <a:ea typeface="Calibri" pitchFamily="34" charset="-122"/>
                <a:cs typeface="Calibri" pitchFamily="34" charset="-120"/>
              </a:rPr>
              <a:t>The paying customer is the insurance company, not the patient.</a:t>
            </a:r>
            <a:endParaRPr lang="en-US" sz="1400" dirty="0"/>
          </a:p>
        </p:txBody>
      </p:sp>
      <p:sp>
        <p:nvSpPr>
          <p:cNvPr id="7" name="Shape 5"/>
          <p:cNvSpPr/>
          <p:nvPr/>
        </p:nvSpPr>
        <p:spPr>
          <a:xfrm>
            <a:off x="411480" y="1463040"/>
            <a:ext cx="8321040" cy="987552"/>
          </a:xfrm>
          <a:prstGeom prst="rect">
            <a:avLst/>
          </a:prstGeom>
          <a:solidFill>
            <a:srgbClr val="FFFFFF"/>
          </a:solidFill>
          <a:ln w="12700">
            <a:solidFill>
              <a:srgbClr val="D1DCF0"/>
            </a:solidFill>
            <a:prstDash val="solid"/>
          </a:ln>
          <a:effectLst>
            <a:outerShdw blurRad="63500" dist="12700" dir="8100000" algn="bl" rotWithShape="0">
              <a:srgbClr val="000000">
                <a:alpha val="9000"/>
              </a:srgbClr>
            </a:outerShdw>
          </a:effectLst>
        </p:spPr>
        <p:txBody>
          <a:bodyPr/>
          <a:lstStyle/>
          <a:p>
            <a:endParaRPr lang="en-US"/>
          </a:p>
        </p:txBody>
      </p:sp>
      <p:sp>
        <p:nvSpPr>
          <p:cNvPr id="8" name="Shape 6"/>
          <p:cNvSpPr/>
          <p:nvPr/>
        </p:nvSpPr>
        <p:spPr>
          <a:xfrm>
            <a:off x="411480" y="1463040"/>
            <a:ext cx="1143000" cy="987552"/>
          </a:xfrm>
          <a:prstGeom prst="rect">
            <a:avLst/>
          </a:prstGeom>
          <a:solidFill>
            <a:srgbClr val="1A2B52"/>
          </a:solidFill>
          <a:ln w="12700">
            <a:solidFill>
              <a:srgbClr val="1A2B52"/>
            </a:solidFill>
            <a:prstDash val="solid"/>
          </a:ln>
        </p:spPr>
        <p:txBody>
          <a:bodyPr/>
          <a:lstStyle/>
          <a:p>
            <a:endParaRPr lang="en-US"/>
          </a:p>
        </p:txBody>
      </p:sp>
      <p:sp>
        <p:nvSpPr>
          <p:cNvPr id="9" name="Text 7"/>
          <p:cNvSpPr/>
          <p:nvPr/>
        </p:nvSpPr>
        <p:spPr>
          <a:xfrm>
            <a:off x="411480" y="1463040"/>
            <a:ext cx="1143000" cy="987552"/>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PRIMARY</a:t>
            </a:r>
            <a:endParaRPr lang="en-US" sz="950" dirty="0"/>
          </a:p>
        </p:txBody>
      </p:sp>
      <p:sp>
        <p:nvSpPr>
          <p:cNvPr id="10" name="Text 8"/>
          <p:cNvSpPr/>
          <p:nvPr/>
        </p:nvSpPr>
        <p:spPr>
          <a:xfrm>
            <a:off x="1691640" y="1517904"/>
            <a:ext cx="6858000" cy="274320"/>
          </a:xfrm>
          <a:prstGeom prst="rect">
            <a:avLst/>
          </a:prstGeom>
          <a:noFill/>
          <a:ln/>
        </p:spPr>
        <p:txBody>
          <a:bodyPr wrap="square" rtlCol="0" anchor="ctr"/>
          <a:lstStyle/>
          <a:p>
            <a:pPr marL="0" indent="0">
              <a:buNone/>
            </a:pPr>
            <a:r>
              <a:rPr lang="en-US" sz="1300" b="1" dirty="0">
                <a:solidFill>
                  <a:srgbClr val="1A2B52"/>
                </a:solidFill>
                <a:latin typeface="Calibri" pitchFamily="34" charset="0"/>
                <a:ea typeface="Calibri" pitchFamily="34" charset="-122"/>
                <a:cs typeface="Calibri" pitchFamily="34" charset="-120"/>
              </a:rPr>
              <a:t>Insurance Company / Health Plan</a:t>
            </a:r>
            <a:endParaRPr lang="en-US" sz="1300" dirty="0"/>
          </a:p>
        </p:txBody>
      </p:sp>
      <p:sp>
        <p:nvSpPr>
          <p:cNvPr id="11" name="Text 9"/>
          <p:cNvSpPr/>
          <p:nvPr/>
        </p:nvSpPr>
        <p:spPr>
          <a:xfrm>
            <a:off x="1691640" y="1783080"/>
            <a:ext cx="6858000" cy="228600"/>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Users: Pharmacy analytics analyst · Medical economics analyst · Pharmacy benefit director</a:t>
            </a:r>
            <a:endParaRPr lang="en-US" sz="1050" dirty="0"/>
          </a:p>
        </p:txBody>
      </p:sp>
      <p:sp>
        <p:nvSpPr>
          <p:cNvPr id="12" name="Text 10"/>
          <p:cNvSpPr/>
          <p:nvPr/>
        </p:nvSpPr>
        <p:spPr>
          <a:xfrm>
            <a:off x="1691640" y="2011680"/>
            <a:ext cx="685800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Reduce drug spend, improve margins, stay competitive. Saving $40/member/month on 500 members = $20,000/month from one opportunity.</a:t>
            </a:r>
            <a:endParaRPr lang="en-US" sz="1100" dirty="0"/>
          </a:p>
        </p:txBody>
      </p:sp>
      <p:sp>
        <p:nvSpPr>
          <p:cNvPr id="13" name="Shape 11"/>
          <p:cNvSpPr/>
          <p:nvPr/>
        </p:nvSpPr>
        <p:spPr>
          <a:xfrm>
            <a:off x="411480" y="2560320"/>
            <a:ext cx="8321040" cy="987552"/>
          </a:xfrm>
          <a:prstGeom prst="rect">
            <a:avLst/>
          </a:prstGeom>
          <a:solidFill>
            <a:srgbClr val="FFFFFF"/>
          </a:solidFill>
          <a:ln w="12700">
            <a:solidFill>
              <a:srgbClr val="D1DCF0"/>
            </a:solidFill>
            <a:prstDash val="solid"/>
          </a:ln>
          <a:effectLst>
            <a:outerShdw blurRad="63500" dist="12700" dir="8100000" algn="bl" rotWithShape="0">
              <a:srgbClr val="000000">
                <a:alpha val="9000"/>
              </a:srgbClr>
            </a:outerShdw>
          </a:effectLst>
        </p:spPr>
        <p:txBody>
          <a:bodyPr/>
          <a:lstStyle/>
          <a:p>
            <a:endParaRPr lang="en-US"/>
          </a:p>
        </p:txBody>
      </p:sp>
      <p:sp>
        <p:nvSpPr>
          <p:cNvPr id="14" name="Shape 12"/>
          <p:cNvSpPr/>
          <p:nvPr/>
        </p:nvSpPr>
        <p:spPr>
          <a:xfrm>
            <a:off x="411480" y="2560320"/>
            <a:ext cx="1143000" cy="987552"/>
          </a:xfrm>
          <a:prstGeom prst="rect">
            <a:avLst/>
          </a:prstGeom>
          <a:solidFill>
            <a:srgbClr val="1F4A3C"/>
          </a:solidFill>
          <a:ln w="12700">
            <a:solidFill>
              <a:srgbClr val="1F4A3C"/>
            </a:solidFill>
            <a:prstDash val="solid"/>
          </a:ln>
        </p:spPr>
        <p:txBody>
          <a:bodyPr/>
          <a:lstStyle/>
          <a:p>
            <a:endParaRPr lang="en-US"/>
          </a:p>
        </p:txBody>
      </p:sp>
      <p:sp>
        <p:nvSpPr>
          <p:cNvPr id="15" name="Text 13"/>
          <p:cNvSpPr/>
          <p:nvPr/>
        </p:nvSpPr>
        <p:spPr>
          <a:xfrm>
            <a:off x="411480" y="2560320"/>
            <a:ext cx="1143000" cy="987552"/>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cs typeface="Calibri" pitchFamily="34" charset="-120"/>
              </a:rPr>
              <a:t>SECONDARY</a:t>
            </a:r>
          </a:p>
        </p:txBody>
      </p:sp>
      <p:sp>
        <p:nvSpPr>
          <p:cNvPr id="16" name="Text 14"/>
          <p:cNvSpPr/>
          <p:nvPr/>
        </p:nvSpPr>
        <p:spPr>
          <a:xfrm>
            <a:off x="1691640" y="2615184"/>
            <a:ext cx="6858000" cy="274320"/>
          </a:xfrm>
          <a:prstGeom prst="rect">
            <a:avLst/>
          </a:prstGeom>
          <a:noFill/>
          <a:ln/>
        </p:spPr>
        <p:txBody>
          <a:bodyPr wrap="square" rtlCol="0" anchor="ctr"/>
          <a:lstStyle/>
          <a:p>
            <a:pPr marL="0" indent="0">
              <a:buNone/>
            </a:pPr>
            <a:r>
              <a:rPr lang="en-US" sz="1300" b="1" dirty="0">
                <a:solidFill>
                  <a:srgbClr val="1A2B52"/>
                </a:solidFill>
                <a:latin typeface="Calibri" pitchFamily="34" charset="0"/>
                <a:ea typeface="Calibri" pitchFamily="34" charset="-122"/>
                <a:cs typeface="Calibri" pitchFamily="34" charset="-120"/>
              </a:rPr>
              <a:t>PBM / Benefits Team</a:t>
            </a:r>
            <a:endParaRPr lang="en-US" sz="1300" dirty="0"/>
          </a:p>
        </p:txBody>
      </p:sp>
      <p:sp>
        <p:nvSpPr>
          <p:cNvPr id="17" name="Text 15"/>
          <p:cNvSpPr/>
          <p:nvPr/>
        </p:nvSpPr>
        <p:spPr>
          <a:xfrm>
            <a:off x="1691640" y="2880360"/>
            <a:ext cx="6858000" cy="228600"/>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Users: Formulary manager · Client service lead</a:t>
            </a:r>
            <a:endParaRPr lang="en-US" sz="1050" dirty="0"/>
          </a:p>
        </p:txBody>
      </p:sp>
      <p:sp>
        <p:nvSpPr>
          <p:cNvPr id="18" name="Text 16"/>
          <p:cNvSpPr/>
          <p:nvPr/>
        </p:nvSpPr>
        <p:spPr>
          <a:xfrm>
            <a:off x="1691640" y="3108960"/>
            <a:ext cx="685800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Replaces one-off spreadsheet work with a repeatable, auditable review process for savings opportunities.</a:t>
            </a:r>
            <a:endParaRPr lang="en-US" sz="1100" dirty="0"/>
          </a:p>
        </p:txBody>
      </p:sp>
      <p:sp>
        <p:nvSpPr>
          <p:cNvPr id="19" name="Shape 17"/>
          <p:cNvSpPr/>
          <p:nvPr/>
        </p:nvSpPr>
        <p:spPr>
          <a:xfrm>
            <a:off x="411480" y="3657600"/>
            <a:ext cx="8321040" cy="987552"/>
          </a:xfrm>
          <a:prstGeom prst="rect">
            <a:avLst/>
          </a:prstGeom>
          <a:solidFill>
            <a:srgbClr val="FFFFFF"/>
          </a:solidFill>
          <a:ln w="12700">
            <a:solidFill>
              <a:srgbClr val="D1DCF0"/>
            </a:solidFill>
            <a:prstDash val="solid"/>
          </a:ln>
          <a:effectLst>
            <a:outerShdw blurRad="63500" dist="12700" dir="8100000" algn="bl" rotWithShape="0">
              <a:srgbClr val="000000">
                <a:alpha val="9000"/>
              </a:srgbClr>
            </a:outerShdw>
          </a:effectLst>
        </p:spPr>
        <p:txBody>
          <a:bodyPr/>
          <a:lstStyle/>
          <a:p>
            <a:endParaRPr lang="en-US"/>
          </a:p>
        </p:txBody>
      </p:sp>
      <p:sp>
        <p:nvSpPr>
          <p:cNvPr id="20" name="Shape 18"/>
          <p:cNvSpPr/>
          <p:nvPr/>
        </p:nvSpPr>
        <p:spPr>
          <a:xfrm>
            <a:off x="411480" y="3657600"/>
            <a:ext cx="1143000" cy="987552"/>
          </a:xfrm>
          <a:prstGeom prst="rect">
            <a:avLst/>
          </a:prstGeom>
          <a:solidFill>
            <a:srgbClr val="3B3060"/>
          </a:solidFill>
          <a:ln w="12700">
            <a:solidFill>
              <a:srgbClr val="3B3060"/>
            </a:solidFill>
            <a:prstDash val="solid"/>
          </a:ln>
        </p:spPr>
        <p:txBody>
          <a:bodyPr/>
          <a:lstStyle/>
          <a:p>
            <a:endParaRPr lang="en-US"/>
          </a:p>
        </p:txBody>
      </p:sp>
      <p:sp>
        <p:nvSpPr>
          <p:cNvPr id="21" name="Text 19"/>
          <p:cNvSpPr/>
          <p:nvPr/>
        </p:nvSpPr>
        <p:spPr>
          <a:xfrm>
            <a:off x="411480" y="3657600"/>
            <a:ext cx="1143000" cy="987552"/>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INDIRECT</a:t>
            </a:r>
            <a:endParaRPr lang="en-US" sz="950" dirty="0"/>
          </a:p>
        </p:txBody>
      </p:sp>
      <p:sp>
        <p:nvSpPr>
          <p:cNvPr id="22" name="Text 20"/>
          <p:cNvSpPr/>
          <p:nvPr/>
        </p:nvSpPr>
        <p:spPr>
          <a:xfrm>
            <a:off x="1691640" y="3712464"/>
            <a:ext cx="6858000" cy="274320"/>
          </a:xfrm>
          <a:prstGeom prst="rect">
            <a:avLst/>
          </a:prstGeom>
          <a:noFill/>
          <a:ln/>
        </p:spPr>
        <p:txBody>
          <a:bodyPr wrap="square" rtlCol="0" anchor="ctr"/>
          <a:lstStyle/>
          <a:p>
            <a:pPr marL="0" indent="0">
              <a:buNone/>
            </a:pPr>
            <a:r>
              <a:rPr lang="en-US" sz="1300" b="1" dirty="0">
                <a:solidFill>
                  <a:srgbClr val="1A2B52"/>
                </a:solidFill>
                <a:latin typeface="Calibri" pitchFamily="34" charset="0"/>
                <a:ea typeface="Calibri" pitchFamily="34" charset="-122"/>
                <a:cs typeface="Calibri" pitchFamily="34" charset="-120"/>
              </a:rPr>
              <a:t>Patients &amp; Doctors</a:t>
            </a:r>
            <a:endParaRPr lang="en-US" sz="1300" dirty="0"/>
          </a:p>
        </p:txBody>
      </p:sp>
      <p:sp>
        <p:nvSpPr>
          <p:cNvPr id="23" name="Text 21"/>
          <p:cNvSpPr/>
          <p:nvPr/>
        </p:nvSpPr>
        <p:spPr>
          <a:xfrm>
            <a:off x="1691640" y="3977640"/>
            <a:ext cx="6858000" cy="228600"/>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Users: Patient · Physician · Pharmacist</a:t>
            </a:r>
            <a:endParaRPr lang="en-US" sz="1050" dirty="0"/>
          </a:p>
        </p:txBody>
      </p:sp>
      <p:sp>
        <p:nvSpPr>
          <p:cNvPr id="24" name="Text 22"/>
          <p:cNvSpPr/>
          <p:nvPr/>
        </p:nvSpPr>
        <p:spPr>
          <a:xfrm>
            <a:off x="1691640" y="4206240"/>
            <a:ext cx="685800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Lower copays and clearer generic-switch explanations, but they are not the buyer.</a:t>
            </a:r>
            <a:endParaRPr lang="en-US" sz="1100" dirty="0"/>
          </a:p>
        </p:txBody>
      </p:sp>
      <p:sp>
        <p:nvSpPr>
          <p:cNvPr id="26" name="Text 24"/>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A2B52"/>
        </a:solidFill>
        <a:effectLst/>
      </p:bgPr>
    </p:bg>
    <p:spTree>
      <p:nvGrpSpPr>
        <p:cNvPr id="1" name=""/>
        <p:cNvGrpSpPr/>
        <p:nvPr/>
      </p:nvGrpSpPr>
      <p:grpSpPr>
        <a:xfrm>
          <a:off x="0" y="0"/>
          <a:ext cx="0" cy="0"/>
          <a:chOff x="0" y="0"/>
          <a:chExt cx="0" cy="0"/>
        </a:xfrm>
      </p:grpSpPr>
      <p:sp>
        <p:nvSpPr>
          <p:cNvPr id="42" name="Shape 0">
            <a:extLst>
              <a:ext uri="{FF2B5EF4-FFF2-40B4-BE49-F238E27FC236}">
                <a16:creationId xmlns:a16="http://schemas.microsoft.com/office/drawing/2014/main" id="{F0FC6DB5-DF55-A72B-337A-DFAEEB897B5E}"/>
              </a:ext>
            </a:extLst>
          </p:cNvPr>
          <p:cNvSpPr/>
          <p:nvPr/>
        </p:nvSpPr>
        <p:spPr>
          <a:xfrm>
            <a:off x="3098799" y="1695939"/>
            <a:ext cx="2946401" cy="1203570"/>
          </a:xfrm>
          <a:prstGeom prst="rect">
            <a:avLst/>
          </a:prstGeom>
          <a:solidFill>
            <a:srgbClr val="1A2B52"/>
          </a:solidFill>
          <a:ln w="12700">
            <a:solidFill>
              <a:srgbClr val="1A2B52"/>
            </a:solidFill>
            <a:prstDash val="solid"/>
          </a:ln>
        </p:spPr>
        <p:txBody>
          <a:bodyPr/>
          <a:lstStyle/>
          <a:p>
            <a:r>
              <a:rPr lang="en-US" sz="8000" b="1" dirty="0">
                <a:solidFill>
                  <a:srgbClr val="FFFFFF"/>
                </a:solidFill>
                <a:latin typeface="Calibri" pitchFamily="34" charset="0"/>
                <a:cs typeface="Calibri" pitchFamily="34" charset="-120"/>
              </a:rPr>
              <a:t>DEMO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EE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2"/>
          </a:solidFill>
          <a:ln w="12700">
            <a:solidFill>
              <a:srgbClr val="1A2B52"/>
            </a:solidFill>
            <a:prstDash val="solid"/>
          </a:ln>
        </p:spPr>
        <p:txBody>
          <a:bodyPr/>
          <a:lstStyle/>
          <a:p>
            <a:endParaRPr lang="en-US"/>
          </a:p>
        </p:txBody>
      </p:sp>
      <p:sp>
        <p:nvSpPr>
          <p:cNvPr id="3" name="Text 1"/>
          <p:cNvSpPr/>
          <p:nvPr/>
        </p:nvSpPr>
        <p:spPr>
          <a:xfrm>
            <a:off x="411480" y="0"/>
            <a:ext cx="7315200" cy="9601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Pricing &amp; Packaging</a:t>
            </a:r>
            <a:endParaRPr lang="en-US" sz="3400" dirty="0"/>
          </a:p>
        </p:txBody>
      </p:sp>
      <p:sp>
        <p:nvSpPr>
          <p:cNvPr id="6" name="Shape 4"/>
          <p:cNvSpPr/>
          <p:nvPr/>
        </p:nvSpPr>
        <p:spPr>
          <a:xfrm>
            <a:off x="411480" y="1078992"/>
            <a:ext cx="2724912" cy="3566160"/>
          </a:xfrm>
          <a:prstGeom prst="rect">
            <a:avLst/>
          </a:prstGeom>
          <a:solidFill>
            <a:schemeClr val="accent3">
              <a:lumMod val="40000"/>
              <a:lumOff val="60000"/>
            </a:schemeClr>
          </a:solidFill>
          <a:ln w="12700">
            <a:solidFill>
              <a:srgbClr val="D1DCF0"/>
            </a:solidFill>
            <a:prstDash val="solid"/>
          </a:ln>
          <a:effectLst>
            <a:outerShdw blurRad="101600" dist="38100" dir="8100000" algn="bl" rotWithShape="0">
              <a:srgbClr val="000000">
                <a:alpha val="8000"/>
              </a:srgbClr>
            </a:outerShdw>
          </a:effectLst>
        </p:spPr>
        <p:txBody>
          <a:bodyPr/>
          <a:lstStyle/>
          <a:p>
            <a:endParaRPr lang="en-US"/>
          </a:p>
        </p:txBody>
      </p:sp>
      <p:sp>
        <p:nvSpPr>
          <p:cNvPr id="7" name="Shape 5"/>
          <p:cNvSpPr/>
          <p:nvPr/>
        </p:nvSpPr>
        <p:spPr>
          <a:xfrm>
            <a:off x="411480" y="1078992"/>
            <a:ext cx="2724912" cy="91440"/>
          </a:xfrm>
          <a:prstGeom prst="rect">
            <a:avLst/>
          </a:prstGeom>
          <a:solidFill>
            <a:schemeClr val="tx1">
              <a:lumMod val="75000"/>
              <a:lumOff val="25000"/>
            </a:schemeClr>
          </a:solidFill>
          <a:ln w="12700">
            <a:solidFill>
              <a:srgbClr val="C68B3A"/>
            </a:solidFill>
            <a:prstDash val="solid"/>
          </a:ln>
        </p:spPr>
        <p:txBody>
          <a:bodyPr/>
          <a:lstStyle/>
          <a:p>
            <a:endParaRPr lang="en-US"/>
          </a:p>
        </p:txBody>
      </p:sp>
      <p:sp>
        <p:nvSpPr>
          <p:cNvPr id="8" name="Text 6"/>
          <p:cNvSpPr/>
          <p:nvPr/>
        </p:nvSpPr>
        <p:spPr>
          <a:xfrm>
            <a:off x="548640" y="1188720"/>
            <a:ext cx="2450592" cy="411480"/>
          </a:xfrm>
          <a:prstGeom prst="rect">
            <a:avLst/>
          </a:prstGeom>
          <a:noFill/>
          <a:ln/>
        </p:spPr>
        <p:txBody>
          <a:bodyPr wrap="square" rtlCol="0" anchor="ctr"/>
          <a:lstStyle/>
          <a:p>
            <a:pPr marL="0" indent="0">
              <a:buNone/>
            </a:pPr>
            <a:r>
              <a:rPr lang="en-US" sz="1800" b="1" dirty="0">
                <a:solidFill>
                  <a:schemeClr val="tx1">
                    <a:lumMod val="65000"/>
                    <a:lumOff val="35000"/>
                  </a:schemeClr>
                </a:solidFill>
                <a:latin typeface="Calibri" pitchFamily="34" charset="0"/>
                <a:ea typeface="Calibri" pitchFamily="34" charset="-122"/>
                <a:cs typeface="Calibri" pitchFamily="34" charset="-120"/>
              </a:rPr>
              <a:t>Bronze</a:t>
            </a:r>
            <a:endParaRPr lang="en-US" sz="1800" dirty="0">
              <a:solidFill>
                <a:schemeClr val="tx1">
                  <a:lumMod val="65000"/>
                  <a:lumOff val="35000"/>
                </a:schemeClr>
              </a:solidFill>
            </a:endParaRPr>
          </a:p>
        </p:txBody>
      </p:sp>
      <p:sp>
        <p:nvSpPr>
          <p:cNvPr id="9" name="Text 7"/>
          <p:cNvSpPr/>
          <p:nvPr/>
        </p:nvSpPr>
        <p:spPr>
          <a:xfrm>
            <a:off x="548640" y="1572768"/>
            <a:ext cx="2450592" cy="365760"/>
          </a:xfrm>
          <a:prstGeom prst="rect">
            <a:avLst/>
          </a:prstGeom>
          <a:noFill/>
          <a:ln/>
        </p:spPr>
        <p:txBody>
          <a:bodyPr wrap="square" rtlCol="0" anchor="ctr"/>
          <a:lstStyle/>
          <a:p>
            <a:pPr marL="0" indent="0">
              <a:buNone/>
            </a:pPr>
            <a:r>
              <a:rPr lang="en-US" sz="2200" b="1" dirty="0">
                <a:solidFill>
                  <a:srgbClr val="1A2B52"/>
                </a:solidFill>
                <a:latin typeface="Calibri" pitchFamily="34" charset="0"/>
                <a:ea typeface="Calibri" pitchFamily="34" charset="-122"/>
                <a:cs typeface="Calibri" pitchFamily="34" charset="-120"/>
              </a:rPr>
              <a:t>$500/mo</a:t>
            </a:r>
            <a:endParaRPr lang="en-US" sz="2200" dirty="0"/>
          </a:p>
        </p:txBody>
      </p:sp>
      <p:sp>
        <p:nvSpPr>
          <p:cNvPr id="10" name="Text 8"/>
          <p:cNvSpPr/>
          <p:nvPr/>
        </p:nvSpPr>
        <p:spPr>
          <a:xfrm>
            <a:off x="548640" y="1901952"/>
            <a:ext cx="2450592"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Quick savings scan</a:t>
            </a:r>
            <a:endParaRPr lang="en-US" sz="1100" dirty="0"/>
          </a:p>
        </p:txBody>
      </p:sp>
      <p:sp>
        <p:nvSpPr>
          <p:cNvPr id="11" name="Shape 9"/>
          <p:cNvSpPr/>
          <p:nvPr/>
        </p:nvSpPr>
        <p:spPr>
          <a:xfrm>
            <a:off x="548640" y="2231136"/>
            <a:ext cx="2450592" cy="0"/>
          </a:xfrm>
          <a:prstGeom prst="line">
            <a:avLst/>
          </a:prstGeom>
          <a:noFill/>
          <a:ln w="10160">
            <a:solidFill>
              <a:srgbClr val="D1DCF0"/>
            </a:solidFill>
            <a:prstDash val="solid"/>
          </a:ln>
        </p:spPr>
        <p:txBody>
          <a:bodyPr/>
          <a:lstStyle/>
          <a:p>
            <a:endParaRPr lang="en-US"/>
          </a:p>
        </p:txBody>
      </p:sp>
      <p:sp>
        <p:nvSpPr>
          <p:cNvPr id="12" name="Text 10"/>
          <p:cNvSpPr/>
          <p:nvPr/>
        </p:nvSpPr>
        <p:spPr>
          <a:xfrm>
            <a:off x="594360" y="2331720"/>
            <a:ext cx="2359152" cy="420624"/>
          </a:xfrm>
          <a:prstGeom prst="rect">
            <a:avLst/>
          </a:prstGeom>
          <a:noFill/>
          <a:ln/>
        </p:spPr>
        <p:txBody>
          <a:bodyPr wrap="square" rtlCol="0" anchor="t"/>
          <a:lstStyle/>
          <a:p>
            <a:pPr marL="0" indent="0">
              <a:buNone/>
            </a:pPr>
            <a:r>
              <a:rPr lang="en-US" sz="1050" b="1" dirty="0">
                <a:solidFill>
                  <a:srgbClr val="C68B3A"/>
                </a:solidFill>
                <a:latin typeface="Calibri" pitchFamily="34" charset="0"/>
                <a:ea typeface="Calibri" pitchFamily="34" charset="-122"/>
                <a:cs typeface="Calibri" pitchFamily="34" charset="-120"/>
              </a:rPr>
              <a:t>✓  </a:t>
            </a:r>
            <a:r>
              <a:rPr lang="en-US" sz="1050" dirty="0">
                <a:solidFill>
                  <a:srgbClr val="2D3748"/>
                </a:solidFill>
                <a:latin typeface="Calibri" pitchFamily="34" charset="0"/>
                <a:ea typeface="Calibri" pitchFamily="34" charset="-122"/>
                <a:cs typeface="Calibri" pitchFamily="34" charset="-120"/>
              </a:rPr>
              <a:t>Brand-vs-generic opportunity list</a:t>
            </a:r>
            <a:endParaRPr lang="en-US" sz="1050" dirty="0"/>
          </a:p>
        </p:txBody>
      </p:sp>
      <p:sp>
        <p:nvSpPr>
          <p:cNvPr id="13" name="Text 11"/>
          <p:cNvSpPr/>
          <p:nvPr/>
        </p:nvSpPr>
        <p:spPr>
          <a:xfrm>
            <a:off x="594360" y="2807208"/>
            <a:ext cx="2359152" cy="420624"/>
          </a:xfrm>
          <a:prstGeom prst="rect">
            <a:avLst/>
          </a:prstGeom>
          <a:noFill/>
          <a:ln/>
        </p:spPr>
        <p:txBody>
          <a:bodyPr wrap="square" rtlCol="0" anchor="t"/>
          <a:lstStyle/>
          <a:p>
            <a:pPr marL="0" indent="0">
              <a:buNone/>
            </a:pPr>
            <a:r>
              <a:rPr lang="en-US" sz="1050" b="1" dirty="0">
                <a:solidFill>
                  <a:srgbClr val="C68B3A"/>
                </a:solidFill>
                <a:latin typeface="Calibri" pitchFamily="34" charset="0"/>
                <a:ea typeface="Calibri" pitchFamily="34" charset="-122"/>
                <a:cs typeface="Calibri" pitchFamily="34" charset="-120"/>
              </a:rPr>
              <a:t>✓  </a:t>
            </a:r>
            <a:r>
              <a:rPr lang="en-US" sz="1050" dirty="0">
                <a:solidFill>
                  <a:srgbClr val="2D3748"/>
                </a:solidFill>
                <a:latin typeface="Calibri" pitchFamily="34" charset="0"/>
                <a:ea typeface="Calibri" pitchFamily="34" charset="-122"/>
                <a:cs typeface="Calibri" pitchFamily="34" charset="-120"/>
              </a:rPr>
              <a:t>Gross savings estimate</a:t>
            </a:r>
            <a:endParaRPr lang="en-US" sz="1050" dirty="0"/>
          </a:p>
        </p:txBody>
      </p:sp>
      <p:sp>
        <p:nvSpPr>
          <p:cNvPr id="14" name="Text 12"/>
          <p:cNvSpPr/>
          <p:nvPr/>
        </p:nvSpPr>
        <p:spPr>
          <a:xfrm>
            <a:off x="594360" y="3282696"/>
            <a:ext cx="2359152" cy="420624"/>
          </a:xfrm>
          <a:prstGeom prst="rect">
            <a:avLst/>
          </a:prstGeom>
          <a:noFill/>
          <a:ln/>
        </p:spPr>
        <p:txBody>
          <a:bodyPr wrap="square" rtlCol="0" anchor="t"/>
          <a:lstStyle/>
          <a:p>
            <a:pPr marL="0" indent="0">
              <a:buNone/>
            </a:pPr>
            <a:r>
              <a:rPr lang="en-US" sz="1050" b="1" dirty="0">
                <a:solidFill>
                  <a:srgbClr val="C68B3A"/>
                </a:solidFill>
                <a:latin typeface="Calibri" pitchFamily="34" charset="0"/>
                <a:ea typeface="Calibri" pitchFamily="34" charset="-122"/>
                <a:cs typeface="Calibri" pitchFamily="34" charset="-120"/>
              </a:rPr>
              <a:t>✓  </a:t>
            </a:r>
            <a:r>
              <a:rPr lang="en-US" sz="1050" dirty="0">
                <a:solidFill>
                  <a:srgbClr val="2D3748"/>
                </a:solidFill>
                <a:latin typeface="Calibri" pitchFamily="34" charset="0"/>
                <a:ea typeface="Calibri" pitchFamily="34" charset="-122"/>
                <a:cs typeface="Calibri" pitchFamily="34" charset="-120"/>
              </a:rPr>
              <a:t>Dashboard summary</a:t>
            </a:r>
            <a:endParaRPr lang="en-US" sz="1050" dirty="0"/>
          </a:p>
        </p:txBody>
      </p:sp>
      <p:sp>
        <p:nvSpPr>
          <p:cNvPr id="15" name="Shape 13"/>
          <p:cNvSpPr/>
          <p:nvPr/>
        </p:nvSpPr>
        <p:spPr>
          <a:xfrm>
            <a:off x="3319272" y="1078992"/>
            <a:ext cx="2724912" cy="3566160"/>
          </a:xfrm>
          <a:prstGeom prst="rect">
            <a:avLst/>
          </a:prstGeom>
          <a:solidFill>
            <a:srgbClr val="F0F4FA"/>
          </a:solidFill>
          <a:ln w="12700">
            <a:solidFill>
              <a:srgbClr val="D1DCF0"/>
            </a:solidFill>
            <a:prstDash val="solid"/>
          </a:ln>
          <a:effectLst>
            <a:outerShdw blurRad="101600" dist="38100" dir="8100000" algn="bl" rotWithShape="0">
              <a:srgbClr val="000000">
                <a:alpha val="8000"/>
              </a:srgbClr>
            </a:outerShdw>
          </a:effectLst>
        </p:spPr>
        <p:txBody>
          <a:bodyPr/>
          <a:lstStyle/>
          <a:p>
            <a:endParaRPr lang="en-US"/>
          </a:p>
        </p:txBody>
      </p:sp>
      <p:sp>
        <p:nvSpPr>
          <p:cNvPr id="16" name="Shape 14"/>
          <p:cNvSpPr/>
          <p:nvPr/>
        </p:nvSpPr>
        <p:spPr>
          <a:xfrm>
            <a:off x="3319272" y="1078992"/>
            <a:ext cx="2724912" cy="91440"/>
          </a:xfrm>
          <a:prstGeom prst="rect">
            <a:avLst/>
          </a:prstGeom>
          <a:solidFill>
            <a:srgbClr val="7A8FA6"/>
          </a:solidFill>
          <a:ln w="12700">
            <a:solidFill>
              <a:srgbClr val="7A8FA6"/>
            </a:solidFill>
            <a:prstDash val="solid"/>
          </a:ln>
        </p:spPr>
        <p:txBody>
          <a:bodyPr/>
          <a:lstStyle/>
          <a:p>
            <a:endParaRPr lang="en-US"/>
          </a:p>
        </p:txBody>
      </p:sp>
      <p:sp>
        <p:nvSpPr>
          <p:cNvPr id="17" name="Text 15"/>
          <p:cNvSpPr/>
          <p:nvPr/>
        </p:nvSpPr>
        <p:spPr>
          <a:xfrm>
            <a:off x="3456432" y="1188720"/>
            <a:ext cx="2450592" cy="411480"/>
          </a:xfrm>
          <a:prstGeom prst="rect">
            <a:avLst/>
          </a:prstGeom>
          <a:noFill/>
          <a:ln/>
        </p:spPr>
        <p:txBody>
          <a:bodyPr wrap="square" rtlCol="0" anchor="ctr"/>
          <a:lstStyle/>
          <a:p>
            <a:pPr marL="0" indent="0">
              <a:buNone/>
            </a:pPr>
            <a:r>
              <a:rPr lang="en-US" sz="1800" b="1" dirty="0">
                <a:solidFill>
                  <a:srgbClr val="7A8FA6"/>
                </a:solidFill>
                <a:latin typeface="Calibri" pitchFamily="34" charset="0"/>
                <a:ea typeface="Calibri" pitchFamily="34" charset="-122"/>
                <a:cs typeface="Calibri" pitchFamily="34" charset="-120"/>
              </a:rPr>
              <a:t>Silver</a:t>
            </a:r>
            <a:endParaRPr lang="en-US" sz="1800" dirty="0"/>
          </a:p>
        </p:txBody>
      </p:sp>
      <p:sp>
        <p:nvSpPr>
          <p:cNvPr id="18" name="Text 16"/>
          <p:cNvSpPr/>
          <p:nvPr/>
        </p:nvSpPr>
        <p:spPr>
          <a:xfrm>
            <a:off x="3456432" y="1572768"/>
            <a:ext cx="2450592" cy="365760"/>
          </a:xfrm>
          <a:prstGeom prst="rect">
            <a:avLst/>
          </a:prstGeom>
          <a:noFill/>
          <a:ln/>
        </p:spPr>
        <p:txBody>
          <a:bodyPr wrap="square" rtlCol="0" anchor="ctr"/>
          <a:lstStyle/>
          <a:p>
            <a:pPr marL="0" indent="0">
              <a:buNone/>
            </a:pPr>
            <a:r>
              <a:rPr lang="en-US" sz="2200" b="1" dirty="0">
                <a:solidFill>
                  <a:srgbClr val="1A2B52"/>
                </a:solidFill>
                <a:latin typeface="Calibri" pitchFamily="34" charset="0"/>
                <a:ea typeface="Calibri" pitchFamily="34" charset="-122"/>
                <a:cs typeface="Calibri" pitchFamily="34" charset="-120"/>
              </a:rPr>
              <a:t>$1200/mo</a:t>
            </a:r>
            <a:endParaRPr lang="en-US" sz="2200" dirty="0"/>
          </a:p>
        </p:txBody>
      </p:sp>
      <p:sp>
        <p:nvSpPr>
          <p:cNvPr id="19" name="Text 17"/>
          <p:cNvSpPr/>
          <p:nvPr/>
        </p:nvSpPr>
        <p:spPr>
          <a:xfrm>
            <a:off x="3456432" y="1901952"/>
            <a:ext cx="2450592"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Risk-aware prioritization</a:t>
            </a:r>
            <a:endParaRPr lang="en-US" sz="1100" dirty="0"/>
          </a:p>
        </p:txBody>
      </p:sp>
      <p:sp>
        <p:nvSpPr>
          <p:cNvPr id="20" name="Shape 18"/>
          <p:cNvSpPr/>
          <p:nvPr/>
        </p:nvSpPr>
        <p:spPr>
          <a:xfrm>
            <a:off x="3456432" y="2231136"/>
            <a:ext cx="2450592" cy="0"/>
          </a:xfrm>
          <a:prstGeom prst="line">
            <a:avLst/>
          </a:prstGeom>
          <a:noFill/>
          <a:ln w="10160">
            <a:solidFill>
              <a:srgbClr val="D1DCF0"/>
            </a:solidFill>
            <a:prstDash val="solid"/>
          </a:ln>
        </p:spPr>
        <p:txBody>
          <a:bodyPr/>
          <a:lstStyle/>
          <a:p>
            <a:endParaRPr lang="en-US"/>
          </a:p>
        </p:txBody>
      </p:sp>
      <p:sp>
        <p:nvSpPr>
          <p:cNvPr id="21" name="Text 19"/>
          <p:cNvSpPr/>
          <p:nvPr/>
        </p:nvSpPr>
        <p:spPr>
          <a:xfrm>
            <a:off x="3502152" y="2331720"/>
            <a:ext cx="2359152" cy="420624"/>
          </a:xfrm>
          <a:prstGeom prst="rect">
            <a:avLst/>
          </a:prstGeom>
          <a:noFill/>
          <a:ln/>
        </p:spPr>
        <p:txBody>
          <a:bodyPr wrap="square" rtlCol="0" anchor="t"/>
          <a:lstStyle/>
          <a:p>
            <a:pPr marL="0" indent="0">
              <a:buNone/>
            </a:pPr>
            <a:r>
              <a:rPr lang="en-US" sz="1050" b="1" dirty="0">
                <a:solidFill>
                  <a:srgbClr val="7A8FA6"/>
                </a:solidFill>
                <a:latin typeface="Calibri" pitchFamily="34" charset="0"/>
                <a:ea typeface="Calibri" pitchFamily="34" charset="-122"/>
                <a:cs typeface="Calibri" pitchFamily="34" charset="-120"/>
              </a:rPr>
              <a:t>✓  </a:t>
            </a:r>
            <a:r>
              <a:rPr lang="en-US" sz="1050" dirty="0">
                <a:solidFill>
                  <a:srgbClr val="2D3748"/>
                </a:solidFill>
                <a:latin typeface="Calibri" pitchFamily="34" charset="0"/>
                <a:ea typeface="Calibri" pitchFamily="34" charset="-122"/>
                <a:cs typeface="Calibri" pitchFamily="34" charset="-120"/>
              </a:rPr>
              <a:t>Everything in Bronze</a:t>
            </a:r>
            <a:endParaRPr lang="en-US" sz="1050" dirty="0"/>
          </a:p>
        </p:txBody>
      </p:sp>
      <p:sp>
        <p:nvSpPr>
          <p:cNvPr id="22" name="Text 20"/>
          <p:cNvSpPr/>
          <p:nvPr/>
        </p:nvSpPr>
        <p:spPr>
          <a:xfrm>
            <a:off x="3502152" y="2807208"/>
            <a:ext cx="2359152" cy="420624"/>
          </a:xfrm>
          <a:prstGeom prst="rect">
            <a:avLst/>
          </a:prstGeom>
          <a:noFill/>
          <a:ln/>
        </p:spPr>
        <p:txBody>
          <a:bodyPr wrap="square" rtlCol="0" anchor="t"/>
          <a:lstStyle/>
          <a:p>
            <a:pPr marL="0" indent="0">
              <a:buNone/>
            </a:pPr>
            <a:r>
              <a:rPr lang="en-US" sz="1050" b="1" dirty="0">
                <a:solidFill>
                  <a:srgbClr val="7A8FA6"/>
                </a:solidFill>
                <a:latin typeface="Calibri" pitchFamily="34" charset="0"/>
                <a:ea typeface="Calibri" pitchFamily="34" charset="-122"/>
                <a:cs typeface="Calibri" pitchFamily="34" charset="-120"/>
              </a:rPr>
              <a:t>✓  </a:t>
            </a:r>
            <a:r>
              <a:rPr lang="en-US" sz="1050" dirty="0">
                <a:solidFill>
                  <a:srgbClr val="2D3748"/>
                </a:solidFill>
                <a:latin typeface="Calibri" pitchFamily="34" charset="0"/>
                <a:ea typeface="Calibri" pitchFamily="34" charset="-122"/>
                <a:cs typeface="Calibri" pitchFamily="34" charset="-120"/>
              </a:rPr>
              <a:t>Clinical + access risk summaries</a:t>
            </a:r>
            <a:endParaRPr lang="en-US" sz="1050" dirty="0"/>
          </a:p>
        </p:txBody>
      </p:sp>
      <p:sp>
        <p:nvSpPr>
          <p:cNvPr id="23" name="Text 21"/>
          <p:cNvSpPr/>
          <p:nvPr/>
        </p:nvSpPr>
        <p:spPr>
          <a:xfrm>
            <a:off x="3502152" y="3282696"/>
            <a:ext cx="2359152" cy="420624"/>
          </a:xfrm>
          <a:prstGeom prst="rect">
            <a:avLst/>
          </a:prstGeom>
          <a:noFill/>
          <a:ln/>
        </p:spPr>
        <p:txBody>
          <a:bodyPr wrap="square" rtlCol="0" anchor="t"/>
          <a:lstStyle/>
          <a:p>
            <a:pPr marL="0" indent="0">
              <a:buNone/>
            </a:pPr>
            <a:r>
              <a:rPr lang="en-US" sz="1050" b="1" dirty="0">
                <a:solidFill>
                  <a:srgbClr val="7A8FA6"/>
                </a:solidFill>
                <a:latin typeface="Calibri" pitchFamily="34" charset="0"/>
                <a:ea typeface="Calibri" pitchFamily="34" charset="-122"/>
                <a:cs typeface="Calibri" pitchFamily="34" charset="-120"/>
              </a:rPr>
              <a:t>✓  </a:t>
            </a:r>
            <a:r>
              <a:rPr lang="en-US" sz="1050" dirty="0">
                <a:solidFill>
                  <a:srgbClr val="2D3748"/>
                </a:solidFill>
                <a:latin typeface="Calibri" pitchFamily="34" charset="0"/>
                <a:ea typeface="Calibri" pitchFamily="34" charset="-122"/>
                <a:cs typeface="Calibri" pitchFamily="34" charset="-120"/>
              </a:rPr>
              <a:t>Recommend / Review / Do Not Switch bands</a:t>
            </a:r>
            <a:endParaRPr lang="en-US" sz="1050" dirty="0"/>
          </a:p>
        </p:txBody>
      </p:sp>
      <p:sp>
        <p:nvSpPr>
          <p:cNvPr id="24" name="Text 22"/>
          <p:cNvSpPr/>
          <p:nvPr/>
        </p:nvSpPr>
        <p:spPr>
          <a:xfrm>
            <a:off x="3502152" y="3758184"/>
            <a:ext cx="2359152" cy="420624"/>
          </a:xfrm>
          <a:prstGeom prst="rect">
            <a:avLst/>
          </a:prstGeom>
          <a:noFill/>
          <a:ln/>
        </p:spPr>
        <p:txBody>
          <a:bodyPr wrap="square" rtlCol="0" anchor="t"/>
          <a:lstStyle/>
          <a:p>
            <a:pPr marL="0" indent="0">
              <a:buNone/>
            </a:pPr>
            <a:r>
              <a:rPr lang="en-US" sz="1050" b="1" dirty="0">
                <a:solidFill>
                  <a:srgbClr val="7A8FA6"/>
                </a:solidFill>
                <a:latin typeface="Calibri" pitchFamily="34" charset="0"/>
                <a:ea typeface="Calibri" pitchFamily="34" charset="-122"/>
                <a:cs typeface="Calibri" pitchFamily="34" charset="-120"/>
              </a:rPr>
              <a:t>✓  </a:t>
            </a:r>
            <a:r>
              <a:rPr lang="en-US" sz="1050" dirty="0">
                <a:solidFill>
                  <a:srgbClr val="2D3748"/>
                </a:solidFill>
                <a:latin typeface="Calibri" pitchFamily="34" charset="0"/>
                <a:ea typeface="Calibri" pitchFamily="34" charset="-122"/>
                <a:cs typeface="Calibri" pitchFamily="34" charset="-120"/>
              </a:rPr>
              <a:t>Portfolio charts</a:t>
            </a:r>
            <a:endParaRPr lang="en-US" sz="1050" dirty="0"/>
          </a:p>
        </p:txBody>
      </p:sp>
      <p:sp>
        <p:nvSpPr>
          <p:cNvPr id="25" name="Shape 23"/>
          <p:cNvSpPr/>
          <p:nvPr/>
        </p:nvSpPr>
        <p:spPr>
          <a:xfrm>
            <a:off x="6234879" y="1078992"/>
            <a:ext cx="2724912" cy="3566160"/>
          </a:xfrm>
          <a:prstGeom prst="rect">
            <a:avLst/>
          </a:prstGeom>
          <a:solidFill>
            <a:srgbClr val="FFF8EF"/>
          </a:solidFill>
          <a:ln w="12700">
            <a:solidFill>
              <a:srgbClr val="D1DCF0"/>
            </a:solidFill>
            <a:prstDash val="solid"/>
          </a:ln>
          <a:effectLst>
            <a:outerShdw blurRad="101600" dist="38100" dir="8100000" algn="bl" rotWithShape="0">
              <a:srgbClr val="000000">
                <a:alpha val="8000"/>
              </a:srgbClr>
            </a:outerShdw>
          </a:effectLst>
        </p:spPr>
        <p:txBody>
          <a:bodyPr/>
          <a:lstStyle/>
          <a:p>
            <a:endParaRPr lang="en-US" dirty="0"/>
          </a:p>
        </p:txBody>
      </p:sp>
      <p:sp>
        <p:nvSpPr>
          <p:cNvPr id="26" name="Shape 24"/>
          <p:cNvSpPr/>
          <p:nvPr/>
        </p:nvSpPr>
        <p:spPr>
          <a:xfrm>
            <a:off x="6227064" y="1078992"/>
            <a:ext cx="2724912" cy="91440"/>
          </a:xfrm>
          <a:prstGeom prst="rect">
            <a:avLst/>
          </a:prstGeom>
          <a:solidFill>
            <a:srgbClr val="C68B3A"/>
          </a:solidFill>
          <a:ln w="12700">
            <a:solidFill>
              <a:srgbClr val="C68B3A"/>
            </a:solidFill>
            <a:prstDash val="solid"/>
          </a:ln>
        </p:spPr>
        <p:txBody>
          <a:bodyPr/>
          <a:lstStyle/>
          <a:p>
            <a:endParaRPr lang="en-US"/>
          </a:p>
        </p:txBody>
      </p:sp>
      <p:sp>
        <p:nvSpPr>
          <p:cNvPr id="27" name="Text 25"/>
          <p:cNvSpPr/>
          <p:nvPr/>
        </p:nvSpPr>
        <p:spPr>
          <a:xfrm>
            <a:off x="6364224" y="1188720"/>
            <a:ext cx="2450592" cy="411480"/>
          </a:xfrm>
          <a:prstGeom prst="rect">
            <a:avLst/>
          </a:prstGeom>
          <a:noFill/>
          <a:ln/>
        </p:spPr>
        <p:txBody>
          <a:bodyPr wrap="square" rtlCol="0" anchor="ctr"/>
          <a:lstStyle/>
          <a:p>
            <a:pPr marL="0" indent="0">
              <a:buNone/>
            </a:pPr>
            <a:r>
              <a:rPr lang="en-US" b="1" dirty="0">
                <a:solidFill>
                  <a:srgbClr val="C68B3A"/>
                </a:solidFill>
                <a:latin typeface="Calibri" pitchFamily="34" charset="0"/>
                <a:cs typeface="Calibri" pitchFamily="34" charset="-120"/>
              </a:rPr>
              <a:t>Gold</a:t>
            </a:r>
            <a:r>
              <a:rPr lang="en-US" sz="1800" b="1" dirty="0">
                <a:solidFill>
                  <a:srgbClr val="E8622A"/>
                </a:solidFill>
                <a:latin typeface="Calibri" pitchFamily="34" charset="0"/>
                <a:ea typeface="Calibri" pitchFamily="34" charset="-122"/>
                <a:cs typeface="Calibri" pitchFamily="34" charset="-120"/>
              </a:rPr>
              <a:t> ★</a:t>
            </a:r>
            <a:endParaRPr lang="en-US" sz="1800" dirty="0"/>
          </a:p>
        </p:txBody>
      </p:sp>
      <p:sp>
        <p:nvSpPr>
          <p:cNvPr id="28" name="Text 26"/>
          <p:cNvSpPr/>
          <p:nvPr/>
        </p:nvSpPr>
        <p:spPr>
          <a:xfrm>
            <a:off x="6364224" y="1572768"/>
            <a:ext cx="2450592" cy="365760"/>
          </a:xfrm>
          <a:prstGeom prst="rect">
            <a:avLst/>
          </a:prstGeom>
          <a:noFill/>
          <a:ln/>
        </p:spPr>
        <p:txBody>
          <a:bodyPr wrap="square" rtlCol="0" anchor="ctr"/>
          <a:lstStyle/>
          <a:p>
            <a:pPr marL="0" indent="0">
              <a:buNone/>
            </a:pPr>
            <a:r>
              <a:rPr lang="en-US" sz="2200" b="1" dirty="0">
                <a:latin typeface="Calibri" pitchFamily="34" charset="0"/>
                <a:ea typeface="Calibri" pitchFamily="34" charset="-122"/>
                <a:cs typeface="Calibri" pitchFamily="34" charset="-120"/>
              </a:rPr>
              <a:t>$2500/mo</a:t>
            </a:r>
            <a:endParaRPr lang="en-US" sz="2200" dirty="0"/>
          </a:p>
        </p:txBody>
      </p:sp>
      <p:sp>
        <p:nvSpPr>
          <p:cNvPr id="29" name="Text 27"/>
          <p:cNvSpPr/>
          <p:nvPr/>
        </p:nvSpPr>
        <p:spPr>
          <a:xfrm>
            <a:off x="6364224" y="1901952"/>
            <a:ext cx="2450592" cy="274320"/>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Ready to act</a:t>
            </a:r>
            <a:endParaRPr lang="en-US" sz="1100" dirty="0"/>
          </a:p>
        </p:txBody>
      </p:sp>
      <p:sp>
        <p:nvSpPr>
          <p:cNvPr id="30" name="Shape 28"/>
          <p:cNvSpPr/>
          <p:nvPr/>
        </p:nvSpPr>
        <p:spPr>
          <a:xfrm>
            <a:off x="6364224" y="2231136"/>
            <a:ext cx="2450592" cy="0"/>
          </a:xfrm>
          <a:prstGeom prst="line">
            <a:avLst/>
          </a:prstGeom>
          <a:noFill/>
          <a:ln w="10160">
            <a:solidFill>
              <a:srgbClr val="304A7A"/>
            </a:solidFill>
            <a:prstDash val="solid"/>
          </a:ln>
        </p:spPr>
        <p:txBody>
          <a:bodyPr/>
          <a:lstStyle/>
          <a:p>
            <a:endParaRPr lang="en-US"/>
          </a:p>
        </p:txBody>
      </p:sp>
      <p:sp>
        <p:nvSpPr>
          <p:cNvPr id="31" name="Text 29"/>
          <p:cNvSpPr/>
          <p:nvPr/>
        </p:nvSpPr>
        <p:spPr>
          <a:xfrm>
            <a:off x="6409944" y="2331720"/>
            <a:ext cx="2359152" cy="420624"/>
          </a:xfrm>
          <a:prstGeom prst="rect">
            <a:avLst/>
          </a:prstGeom>
          <a:noFill/>
          <a:ln/>
        </p:spPr>
        <p:txBody>
          <a:bodyPr wrap="square" rtlCol="0" anchor="t"/>
          <a:lstStyle/>
          <a:p>
            <a:pPr marL="0" indent="0">
              <a:buNone/>
            </a:pPr>
            <a:r>
              <a:rPr lang="en-US" sz="1050" b="1" dirty="0">
                <a:solidFill>
                  <a:srgbClr val="00A896"/>
                </a:solidFill>
                <a:latin typeface="Calibri" pitchFamily="34" charset="0"/>
                <a:ea typeface="Calibri" pitchFamily="34" charset="-122"/>
                <a:cs typeface="Calibri" pitchFamily="34" charset="-120"/>
              </a:rPr>
              <a:t>✓  </a:t>
            </a:r>
            <a:r>
              <a:rPr lang="en-US" sz="1050" dirty="0">
                <a:latin typeface="Calibri" pitchFamily="34" charset="0"/>
                <a:ea typeface="Calibri" pitchFamily="34" charset="-122"/>
                <a:cs typeface="Calibri" pitchFamily="34" charset="-120"/>
              </a:rPr>
              <a:t>Everything in Silver</a:t>
            </a:r>
            <a:endParaRPr lang="en-US" sz="1050" dirty="0"/>
          </a:p>
        </p:txBody>
      </p:sp>
      <p:sp>
        <p:nvSpPr>
          <p:cNvPr id="32" name="Text 30"/>
          <p:cNvSpPr/>
          <p:nvPr/>
        </p:nvSpPr>
        <p:spPr>
          <a:xfrm>
            <a:off x="6409944" y="2807208"/>
            <a:ext cx="2359152" cy="420624"/>
          </a:xfrm>
          <a:prstGeom prst="rect">
            <a:avLst/>
          </a:prstGeom>
          <a:noFill/>
          <a:ln/>
        </p:spPr>
        <p:txBody>
          <a:bodyPr wrap="square" rtlCol="0" anchor="t"/>
          <a:lstStyle/>
          <a:p>
            <a:pPr marL="0" indent="0">
              <a:buNone/>
            </a:pPr>
            <a:r>
              <a:rPr lang="en-US" sz="1050" b="1" dirty="0">
                <a:solidFill>
                  <a:srgbClr val="00A896"/>
                </a:solidFill>
                <a:latin typeface="Calibri" pitchFamily="34" charset="0"/>
                <a:ea typeface="Calibri" pitchFamily="34" charset="-122"/>
                <a:cs typeface="Calibri" pitchFamily="34" charset="-120"/>
              </a:rPr>
              <a:t>✓  </a:t>
            </a:r>
            <a:r>
              <a:rPr lang="en-US" sz="1050" dirty="0">
                <a:latin typeface="Calibri" pitchFamily="34" charset="0"/>
                <a:ea typeface="Calibri" pitchFamily="34" charset="-122"/>
                <a:cs typeface="Calibri" pitchFamily="34" charset="-120"/>
              </a:rPr>
              <a:t>Member-level view + CSV export</a:t>
            </a:r>
            <a:endParaRPr lang="en-US" sz="1050" dirty="0"/>
          </a:p>
        </p:txBody>
      </p:sp>
      <p:sp>
        <p:nvSpPr>
          <p:cNvPr id="33" name="Text 31"/>
          <p:cNvSpPr/>
          <p:nvPr/>
        </p:nvSpPr>
        <p:spPr>
          <a:xfrm>
            <a:off x="6409944" y="3282696"/>
            <a:ext cx="2359152" cy="420624"/>
          </a:xfrm>
          <a:prstGeom prst="rect">
            <a:avLst/>
          </a:prstGeom>
          <a:noFill/>
          <a:ln/>
        </p:spPr>
        <p:txBody>
          <a:bodyPr wrap="square" rtlCol="0" anchor="t"/>
          <a:lstStyle/>
          <a:p>
            <a:pPr marL="0" indent="0">
              <a:buNone/>
            </a:pPr>
            <a:r>
              <a:rPr lang="en-US" sz="1050" b="1" dirty="0">
                <a:solidFill>
                  <a:srgbClr val="00A896"/>
                </a:solidFill>
                <a:latin typeface="Calibri" pitchFamily="34" charset="0"/>
                <a:ea typeface="Calibri" pitchFamily="34" charset="-122"/>
                <a:cs typeface="Calibri" pitchFamily="34" charset="-120"/>
              </a:rPr>
              <a:t>✓  </a:t>
            </a:r>
            <a:r>
              <a:rPr lang="en-US" sz="1050" dirty="0">
                <a:latin typeface="Calibri" pitchFamily="34" charset="0"/>
                <a:ea typeface="Calibri" pitchFamily="34" charset="-122"/>
                <a:cs typeface="Calibri" pitchFamily="34" charset="-120"/>
              </a:rPr>
              <a:t>4-document Switch Package download</a:t>
            </a:r>
            <a:endParaRPr lang="en-US" sz="1050" dirty="0"/>
          </a:p>
        </p:txBody>
      </p:sp>
      <p:sp>
        <p:nvSpPr>
          <p:cNvPr id="34" name="Text 32"/>
          <p:cNvSpPr/>
          <p:nvPr/>
        </p:nvSpPr>
        <p:spPr>
          <a:xfrm>
            <a:off x="6409944" y="3758184"/>
            <a:ext cx="2359152" cy="420624"/>
          </a:xfrm>
          <a:prstGeom prst="rect">
            <a:avLst/>
          </a:prstGeom>
          <a:noFill/>
          <a:ln/>
        </p:spPr>
        <p:txBody>
          <a:bodyPr wrap="square" rtlCol="0" anchor="t"/>
          <a:lstStyle/>
          <a:p>
            <a:pPr marL="0" indent="0">
              <a:buNone/>
            </a:pPr>
            <a:r>
              <a:rPr lang="en-US" sz="1050" b="1" dirty="0">
                <a:solidFill>
                  <a:srgbClr val="00A896"/>
                </a:solidFill>
                <a:latin typeface="Calibri" pitchFamily="34" charset="0"/>
                <a:ea typeface="Calibri" pitchFamily="34" charset="-122"/>
                <a:cs typeface="Calibri" pitchFamily="34" charset="-120"/>
              </a:rPr>
              <a:t>✓  </a:t>
            </a:r>
            <a:r>
              <a:rPr lang="en-US" sz="1050" dirty="0">
                <a:latin typeface="Calibri" pitchFamily="34" charset="0"/>
                <a:ea typeface="Calibri" pitchFamily="34" charset="-122"/>
                <a:cs typeface="Calibri" pitchFamily="34" charset="-120"/>
              </a:rPr>
              <a:t>Doctor letter · Patient notice · Pharmacist note · Payer memo</a:t>
            </a:r>
            <a:endParaRPr lang="en-US" sz="1050" dirty="0"/>
          </a:p>
        </p:txBody>
      </p:sp>
      <p:sp>
        <p:nvSpPr>
          <p:cNvPr id="36" name="Text 34"/>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EE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2"/>
          </a:solidFill>
          <a:ln w="12700">
            <a:solidFill>
              <a:srgbClr val="1A2B52"/>
            </a:solidFill>
            <a:prstDash val="solid"/>
          </a:ln>
        </p:spPr>
        <p:txBody>
          <a:bodyPr/>
          <a:lstStyle/>
          <a:p>
            <a:endParaRPr lang="en-US"/>
          </a:p>
        </p:txBody>
      </p:sp>
      <p:sp>
        <p:nvSpPr>
          <p:cNvPr id="3" name="Text 1"/>
          <p:cNvSpPr/>
          <p:nvPr/>
        </p:nvSpPr>
        <p:spPr>
          <a:xfrm>
            <a:off x="411480" y="0"/>
            <a:ext cx="7772400" cy="9601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Product Flow: Upload → Insights → Action</a:t>
            </a:r>
            <a:endParaRPr lang="en-US" sz="3000" dirty="0"/>
          </a:p>
        </p:txBody>
      </p:sp>
      <p:sp>
        <p:nvSpPr>
          <p:cNvPr id="6" name="Shape 4"/>
          <p:cNvSpPr/>
          <p:nvPr/>
        </p:nvSpPr>
        <p:spPr>
          <a:xfrm>
            <a:off x="292608" y="1078992"/>
            <a:ext cx="1481328" cy="2468880"/>
          </a:xfrm>
          <a:prstGeom prst="rect">
            <a:avLst/>
          </a:prstGeom>
          <a:solidFill>
            <a:srgbClr val="FFFFFF"/>
          </a:solidFill>
          <a:ln w="12700">
            <a:solidFill>
              <a:srgbClr val="D1DCF0"/>
            </a:solidFill>
            <a:prstDash val="solid"/>
          </a:ln>
          <a:effectLst>
            <a:outerShdw blurRad="63500" dist="25400" dir="8100000" algn="bl" rotWithShape="0">
              <a:srgbClr val="000000">
                <a:alpha val="10000"/>
              </a:srgbClr>
            </a:outerShdw>
          </a:effectLst>
        </p:spPr>
        <p:txBody>
          <a:bodyPr/>
          <a:lstStyle/>
          <a:p>
            <a:endParaRPr lang="en-US"/>
          </a:p>
        </p:txBody>
      </p:sp>
      <p:sp>
        <p:nvSpPr>
          <p:cNvPr id="7" name="Shape 5"/>
          <p:cNvSpPr/>
          <p:nvPr/>
        </p:nvSpPr>
        <p:spPr>
          <a:xfrm>
            <a:off x="758952" y="1170432"/>
            <a:ext cx="530352" cy="530352"/>
          </a:xfrm>
          <a:prstGeom prst="ellipse">
            <a:avLst/>
          </a:prstGeom>
          <a:solidFill>
            <a:srgbClr val="E8622A"/>
          </a:solidFill>
          <a:ln w="12700">
            <a:solidFill>
              <a:srgbClr val="E8622A"/>
            </a:solidFill>
            <a:prstDash val="solid"/>
          </a:ln>
        </p:spPr>
        <p:txBody>
          <a:bodyPr/>
          <a:lstStyle/>
          <a:p>
            <a:endParaRPr lang="en-US"/>
          </a:p>
        </p:txBody>
      </p:sp>
      <p:sp>
        <p:nvSpPr>
          <p:cNvPr id="8" name="Text 6"/>
          <p:cNvSpPr/>
          <p:nvPr/>
        </p:nvSpPr>
        <p:spPr>
          <a:xfrm>
            <a:off x="758952" y="1170432"/>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365760" y="1783080"/>
            <a:ext cx="1335024" cy="502920"/>
          </a:xfrm>
          <a:prstGeom prst="rect">
            <a:avLst/>
          </a:prstGeom>
          <a:noFill/>
          <a:ln/>
        </p:spPr>
        <p:txBody>
          <a:bodyPr wrap="square" rtlCol="0" anchor="ctr"/>
          <a:lstStyle/>
          <a:p>
            <a:pPr marL="0" indent="0" algn="ctr">
              <a:buNone/>
            </a:pPr>
            <a:r>
              <a:rPr lang="en-US" sz="1050" b="1" dirty="0">
                <a:solidFill>
                  <a:srgbClr val="1A2B52"/>
                </a:solidFill>
                <a:latin typeface="Calibri" pitchFamily="34" charset="0"/>
                <a:ea typeface="Calibri" pitchFamily="34" charset="-122"/>
                <a:cs typeface="Calibri" pitchFamily="34" charset="-120"/>
              </a:rPr>
              <a:t>Upload Claims CSV</a:t>
            </a:r>
            <a:endParaRPr lang="en-US" sz="1050" dirty="0"/>
          </a:p>
        </p:txBody>
      </p:sp>
      <p:sp>
        <p:nvSpPr>
          <p:cNvPr id="10" name="Text 8"/>
          <p:cNvSpPr/>
          <p:nvPr/>
        </p:nvSpPr>
        <p:spPr>
          <a:xfrm>
            <a:off x="365760" y="2331720"/>
            <a:ext cx="1335024" cy="1170432"/>
          </a:xfrm>
          <a:prstGeom prst="rect">
            <a:avLst/>
          </a:prstGeom>
          <a:noFill/>
          <a:ln/>
        </p:spPr>
        <p:txBody>
          <a:bodyPr wrap="square" rtlCol="0" anchor="t"/>
          <a:lstStyle/>
          <a:p>
            <a:pPr marL="0" indent="0" algn="ctr">
              <a:buNone/>
            </a:pPr>
            <a:r>
              <a:rPr lang="en-US" sz="950" dirty="0">
                <a:solidFill>
                  <a:srgbClr val="2D3748"/>
                </a:solidFill>
                <a:latin typeface="Calibri" pitchFamily="34" charset="0"/>
                <a:ea typeface="Calibri" pitchFamily="34" charset="-122"/>
                <a:cs typeface="Calibri" pitchFamily="34" charset="-120"/>
              </a:rPr>
              <a:t>Payer analyst uploads pharmacy claims with NDC, drug name, quantity, days supply, plan paid, member ID, prescriber, fill date.</a:t>
            </a:r>
            <a:endParaRPr lang="en-US" sz="950" dirty="0"/>
          </a:p>
        </p:txBody>
      </p:sp>
      <p:sp>
        <p:nvSpPr>
          <p:cNvPr id="11" name="Shape 9"/>
          <p:cNvSpPr/>
          <p:nvPr/>
        </p:nvSpPr>
        <p:spPr>
          <a:xfrm>
            <a:off x="1801368" y="2313432"/>
            <a:ext cx="201168" cy="0"/>
          </a:xfrm>
          <a:prstGeom prst="line">
            <a:avLst/>
          </a:prstGeom>
          <a:noFill/>
          <a:ln w="25400">
            <a:solidFill>
              <a:srgbClr val="E8622A"/>
            </a:solidFill>
            <a:prstDash val="solid"/>
          </a:ln>
        </p:spPr>
        <p:txBody>
          <a:bodyPr/>
          <a:lstStyle/>
          <a:p>
            <a:endParaRPr lang="en-US"/>
          </a:p>
        </p:txBody>
      </p:sp>
      <p:sp>
        <p:nvSpPr>
          <p:cNvPr id="12" name="Shape 10"/>
          <p:cNvSpPr/>
          <p:nvPr/>
        </p:nvSpPr>
        <p:spPr>
          <a:xfrm>
            <a:off x="2029968" y="1078992"/>
            <a:ext cx="1481328" cy="2468880"/>
          </a:xfrm>
          <a:prstGeom prst="rect">
            <a:avLst/>
          </a:prstGeom>
          <a:solidFill>
            <a:srgbClr val="FFFFFF"/>
          </a:solidFill>
          <a:ln w="12700">
            <a:solidFill>
              <a:srgbClr val="D1DCF0"/>
            </a:solidFill>
            <a:prstDash val="solid"/>
          </a:ln>
          <a:effectLst>
            <a:outerShdw blurRad="63500" dist="25400" dir="8100000" algn="bl" rotWithShape="0">
              <a:srgbClr val="000000">
                <a:alpha val="10000"/>
              </a:srgbClr>
            </a:outerShdw>
          </a:effectLst>
        </p:spPr>
        <p:txBody>
          <a:bodyPr/>
          <a:lstStyle/>
          <a:p>
            <a:endParaRPr lang="en-US"/>
          </a:p>
        </p:txBody>
      </p:sp>
      <p:sp>
        <p:nvSpPr>
          <p:cNvPr id="13" name="Shape 11"/>
          <p:cNvSpPr/>
          <p:nvPr/>
        </p:nvSpPr>
        <p:spPr>
          <a:xfrm>
            <a:off x="2496312" y="1170432"/>
            <a:ext cx="530352" cy="530352"/>
          </a:xfrm>
          <a:prstGeom prst="ellipse">
            <a:avLst/>
          </a:prstGeom>
          <a:solidFill>
            <a:srgbClr val="E8622A"/>
          </a:solidFill>
          <a:ln w="12700">
            <a:solidFill>
              <a:srgbClr val="E8622A"/>
            </a:solidFill>
            <a:prstDash val="solid"/>
          </a:ln>
        </p:spPr>
        <p:txBody>
          <a:bodyPr/>
          <a:lstStyle/>
          <a:p>
            <a:endParaRPr lang="en-US"/>
          </a:p>
        </p:txBody>
      </p:sp>
      <p:sp>
        <p:nvSpPr>
          <p:cNvPr id="14" name="Text 12"/>
          <p:cNvSpPr/>
          <p:nvPr/>
        </p:nvSpPr>
        <p:spPr>
          <a:xfrm>
            <a:off x="2496312" y="1170432"/>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103120" y="1783080"/>
            <a:ext cx="1335024" cy="502920"/>
          </a:xfrm>
          <a:prstGeom prst="rect">
            <a:avLst/>
          </a:prstGeom>
          <a:noFill/>
          <a:ln/>
        </p:spPr>
        <p:txBody>
          <a:bodyPr wrap="square" rtlCol="0" anchor="ctr"/>
          <a:lstStyle/>
          <a:p>
            <a:pPr marL="0" indent="0" algn="ctr">
              <a:buNone/>
            </a:pPr>
            <a:r>
              <a:rPr lang="en-US" sz="1050" b="1" dirty="0">
                <a:solidFill>
                  <a:srgbClr val="1A2B52"/>
                </a:solidFill>
                <a:latin typeface="Calibri" pitchFamily="34" charset="0"/>
                <a:ea typeface="Calibri" pitchFamily="34" charset="-122"/>
                <a:cs typeface="Calibri" pitchFamily="34" charset="-120"/>
              </a:rPr>
              <a:t>Brand → Generic Mapping</a:t>
            </a:r>
            <a:endParaRPr lang="en-US" sz="1050" dirty="0"/>
          </a:p>
        </p:txBody>
      </p:sp>
      <p:sp>
        <p:nvSpPr>
          <p:cNvPr id="16" name="Text 14"/>
          <p:cNvSpPr/>
          <p:nvPr/>
        </p:nvSpPr>
        <p:spPr>
          <a:xfrm>
            <a:off x="2103120" y="2331720"/>
            <a:ext cx="1335024" cy="1170432"/>
          </a:xfrm>
          <a:prstGeom prst="rect">
            <a:avLst/>
          </a:prstGeom>
          <a:noFill/>
          <a:ln/>
        </p:spPr>
        <p:txBody>
          <a:bodyPr wrap="square" rtlCol="0" anchor="t"/>
          <a:lstStyle/>
          <a:p>
            <a:pPr marL="0" indent="0" algn="ctr">
              <a:buNone/>
            </a:pPr>
            <a:r>
              <a:rPr lang="en-US" sz="950" dirty="0">
                <a:solidFill>
                  <a:srgbClr val="2D3748"/>
                </a:solidFill>
                <a:latin typeface="Calibri" pitchFamily="34" charset="0"/>
                <a:ea typeface="Calibri" pitchFamily="34" charset="-122"/>
                <a:cs typeface="Calibri" pitchFamily="34" charset="-120"/>
              </a:rPr>
              <a:t>Librarian Agent queries Orange Book + NADAC via DuckDB SQL. Returns generic equivalents with TE codes and mapping confidence.</a:t>
            </a:r>
            <a:endParaRPr lang="en-US" sz="950" dirty="0"/>
          </a:p>
        </p:txBody>
      </p:sp>
      <p:sp>
        <p:nvSpPr>
          <p:cNvPr id="17" name="Shape 15"/>
          <p:cNvSpPr/>
          <p:nvPr/>
        </p:nvSpPr>
        <p:spPr>
          <a:xfrm>
            <a:off x="3538728" y="2313432"/>
            <a:ext cx="201168" cy="0"/>
          </a:xfrm>
          <a:prstGeom prst="line">
            <a:avLst/>
          </a:prstGeom>
          <a:noFill/>
          <a:ln w="25400">
            <a:solidFill>
              <a:srgbClr val="E8622A"/>
            </a:solidFill>
            <a:prstDash val="solid"/>
          </a:ln>
        </p:spPr>
        <p:txBody>
          <a:bodyPr/>
          <a:lstStyle/>
          <a:p>
            <a:endParaRPr lang="en-US"/>
          </a:p>
        </p:txBody>
      </p:sp>
      <p:sp>
        <p:nvSpPr>
          <p:cNvPr id="18" name="Shape 16"/>
          <p:cNvSpPr/>
          <p:nvPr/>
        </p:nvSpPr>
        <p:spPr>
          <a:xfrm>
            <a:off x="3767328" y="1078992"/>
            <a:ext cx="1481328" cy="2468880"/>
          </a:xfrm>
          <a:prstGeom prst="rect">
            <a:avLst/>
          </a:prstGeom>
          <a:solidFill>
            <a:srgbClr val="FFFFFF"/>
          </a:solidFill>
          <a:ln w="12700">
            <a:solidFill>
              <a:srgbClr val="D1DCF0"/>
            </a:solidFill>
            <a:prstDash val="solid"/>
          </a:ln>
          <a:effectLst>
            <a:outerShdw blurRad="63500" dist="25400" dir="8100000" algn="bl" rotWithShape="0">
              <a:srgbClr val="000000">
                <a:alpha val="10000"/>
              </a:srgbClr>
            </a:outerShdw>
          </a:effectLst>
        </p:spPr>
        <p:txBody>
          <a:bodyPr/>
          <a:lstStyle/>
          <a:p>
            <a:endParaRPr lang="en-US"/>
          </a:p>
        </p:txBody>
      </p:sp>
      <p:sp>
        <p:nvSpPr>
          <p:cNvPr id="19" name="Shape 17"/>
          <p:cNvSpPr/>
          <p:nvPr/>
        </p:nvSpPr>
        <p:spPr>
          <a:xfrm>
            <a:off x="4233672" y="1170432"/>
            <a:ext cx="530352" cy="530352"/>
          </a:xfrm>
          <a:prstGeom prst="ellipse">
            <a:avLst/>
          </a:prstGeom>
          <a:solidFill>
            <a:srgbClr val="E8622A"/>
          </a:solidFill>
          <a:ln w="12700">
            <a:solidFill>
              <a:srgbClr val="E8622A"/>
            </a:solidFill>
            <a:prstDash val="solid"/>
          </a:ln>
        </p:spPr>
        <p:txBody>
          <a:bodyPr/>
          <a:lstStyle/>
          <a:p>
            <a:endParaRPr lang="en-US"/>
          </a:p>
        </p:txBody>
      </p:sp>
      <p:sp>
        <p:nvSpPr>
          <p:cNvPr id="20" name="Text 18"/>
          <p:cNvSpPr/>
          <p:nvPr/>
        </p:nvSpPr>
        <p:spPr>
          <a:xfrm>
            <a:off x="4233672" y="1170432"/>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3840480" y="1783080"/>
            <a:ext cx="1335024" cy="502920"/>
          </a:xfrm>
          <a:prstGeom prst="rect">
            <a:avLst/>
          </a:prstGeom>
          <a:noFill/>
          <a:ln/>
        </p:spPr>
        <p:txBody>
          <a:bodyPr wrap="square" rtlCol="0" anchor="ctr"/>
          <a:lstStyle/>
          <a:p>
            <a:pPr marL="0" indent="0" algn="ctr">
              <a:buNone/>
            </a:pPr>
            <a:r>
              <a:rPr lang="en-US" sz="1050" b="1" dirty="0">
                <a:solidFill>
                  <a:srgbClr val="1A2B52"/>
                </a:solidFill>
                <a:latin typeface="Calibri" pitchFamily="34" charset="0"/>
                <a:ea typeface="Calibri" pitchFamily="34" charset="-122"/>
                <a:cs typeface="Calibri" pitchFamily="34" charset="-120"/>
              </a:rPr>
              <a:t>Cost Estimation</a:t>
            </a:r>
            <a:endParaRPr lang="en-US" sz="1050" dirty="0"/>
          </a:p>
        </p:txBody>
      </p:sp>
      <p:sp>
        <p:nvSpPr>
          <p:cNvPr id="22" name="Text 20"/>
          <p:cNvSpPr/>
          <p:nvPr/>
        </p:nvSpPr>
        <p:spPr>
          <a:xfrm>
            <a:off x="3840480" y="2331720"/>
            <a:ext cx="1335024" cy="1170432"/>
          </a:xfrm>
          <a:prstGeom prst="rect">
            <a:avLst/>
          </a:prstGeom>
          <a:noFill/>
          <a:ln/>
        </p:spPr>
        <p:txBody>
          <a:bodyPr wrap="square" rtlCol="0" anchor="t"/>
          <a:lstStyle/>
          <a:p>
            <a:pPr marL="0" indent="0" algn="ctr">
              <a:buNone/>
            </a:pPr>
            <a:r>
              <a:rPr lang="en-US" sz="950" dirty="0">
                <a:solidFill>
                  <a:srgbClr val="2D3748"/>
                </a:solidFill>
                <a:latin typeface="Calibri" pitchFamily="34" charset="0"/>
                <a:ea typeface="Calibri" pitchFamily="34" charset="-122"/>
                <a:cs typeface="Calibri" pitchFamily="34" charset="-120"/>
              </a:rPr>
              <a:t>Auditor Agent calculates gross savings per claim using NADAC unit cost benchmarks. No LLM, pure deterministic formulas.</a:t>
            </a:r>
            <a:endParaRPr lang="en-US" sz="950" dirty="0"/>
          </a:p>
        </p:txBody>
      </p:sp>
      <p:sp>
        <p:nvSpPr>
          <p:cNvPr id="23" name="Shape 21"/>
          <p:cNvSpPr/>
          <p:nvPr/>
        </p:nvSpPr>
        <p:spPr>
          <a:xfrm>
            <a:off x="5276088" y="2313432"/>
            <a:ext cx="201168" cy="0"/>
          </a:xfrm>
          <a:prstGeom prst="line">
            <a:avLst/>
          </a:prstGeom>
          <a:noFill/>
          <a:ln w="25400">
            <a:solidFill>
              <a:srgbClr val="E8622A"/>
            </a:solidFill>
            <a:prstDash val="solid"/>
          </a:ln>
        </p:spPr>
        <p:txBody>
          <a:bodyPr/>
          <a:lstStyle/>
          <a:p>
            <a:endParaRPr lang="en-US"/>
          </a:p>
        </p:txBody>
      </p:sp>
      <p:sp>
        <p:nvSpPr>
          <p:cNvPr id="24" name="Shape 22"/>
          <p:cNvSpPr/>
          <p:nvPr/>
        </p:nvSpPr>
        <p:spPr>
          <a:xfrm>
            <a:off x="5504688" y="1078992"/>
            <a:ext cx="1481328" cy="2468880"/>
          </a:xfrm>
          <a:prstGeom prst="rect">
            <a:avLst/>
          </a:prstGeom>
          <a:solidFill>
            <a:srgbClr val="FFFFFF"/>
          </a:solidFill>
          <a:ln w="12700">
            <a:solidFill>
              <a:srgbClr val="D1DCF0"/>
            </a:solidFill>
            <a:prstDash val="solid"/>
          </a:ln>
          <a:effectLst>
            <a:outerShdw blurRad="63500" dist="25400" dir="8100000" algn="bl" rotWithShape="0">
              <a:srgbClr val="000000">
                <a:alpha val="10000"/>
              </a:srgbClr>
            </a:outerShdw>
          </a:effectLst>
        </p:spPr>
        <p:txBody>
          <a:bodyPr/>
          <a:lstStyle/>
          <a:p>
            <a:endParaRPr lang="en-US"/>
          </a:p>
        </p:txBody>
      </p:sp>
      <p:sp>
        <p:nvSpPr>
          <p:cNvPr id="25" name="Shape 23"/>
          <p:cNvSpPr/>
          <p:nvPr/>
        </p:nvSpPr>
        <p:spPr>
          <a:xfrm>
            <a:off x="5971032" y="1170432"/>
            <a:ext cx="530352" cy="530352"/>
          </a:xfrm>
          <a:prstGeom prst="ellipse">
            <a:avLst/>
          </a:prstGeom>
          <a:solidFill>
            <a:srgbClr val="E8622A"/>
          </a:solidFill>
          <a:ln w="12700">
            <a:solidFill>
              <a:srgbClr val="E8622A"/>
            </a:solidFill>
            <a:prstDash val="solid"/>
          </a:ln>
        </p:spPr>
        <p:txBody>
          <a:bodyPr/>
          <a:lstStyle/>
          <a:p>
            <a:endParaRPr lang="en-US"/>
          </a:p>
        </p:txBody>
      </p:sp>
      <p:sp>
        <p:nvSpPr>
          <p:cNvPr id="26" name="Text 24"/>
          <p:cNvSpPr/>
          <p:nvPr/>
        </p:nvSpPr>
        <p:spPr>
          <a:xfrm>
            <a:off x="5971032" y="1170432"/>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5577840" y="1783080"/>
            <a:ext cx="1335024" cy="502920"/>
          </a:xfrm>
          <a:prstGeom prst="rect">
            <a:avLst/>
          </a:prstGeom>
          <a:noFill/>
          <a:ln/>
        </p:spPr>
        <p:txBody>
          <a:bodyPr wrap="square" rtlCol="0" anchor="ctr"/>
          <a:lstStyle/>
          <a:p>
            <a:pPr marL="0" indent="0" algn="ctr">
              <a:buNone/>
            </a:pPr>
            <a:r>
              <a:rPr lang="en-US" sz="1050" b="1" dirty="0">
                <a:solidFill>
                  <a:srgbClr val="1A2B52"/>
                </a:solidFill>
                <a:latin typeface="Calibri" pitchFamily="34" charset="0"/>
                <a:ea typeface="Calibri" pitchFamily="34" charset="-122"/>
                <a:cs typeface="Calibri" pitchFamily="34" charset="-120"/>
              </a:rPr>
              <a:t>Clinical &amp; Access Review</a:t>
            </a:r>
            <a:endParaRPr lang="en-US" sz="1050" dirty="0"/>
          </a:p>
        </p:txBody>
      </p:sp>
      <p:sp>
        <p:nvSpPr>
          <p:cNvPr id="28" name="Text 26"/>
          <p:cNvSpPr/>
          <p:nvPr/>
        </p:nvSpPr>
        <p:spPr>
          <a:xfrm>
            <a:off x="5577840" y="2331720"/>
            <a:ext cx="1335024" cy="1170432"/>
          </a:xfrm>
          <a:prstGeom prst="rect">
            <a:avLst/>
          </a:prstGeom>
          <a:noFill/>
          <a:ln/>
        </p:spPr>
        <p:txBody>
          <a:bodyPr wrap="square" rtlCol="0" anchor="t"/>
          <a:lstStyle/>
          <a:p>
            <a:pPr marL="0" indent="0" algn="ctr">
              <a:buNone/>
            </a:pPr>
            <a:r>
              <a:rPr lang="en-US" sz="950" dirty="0">
                <a:solidFill>
                  <a:srgbClr val="2D3748"/>
                </a:solidFill>
                <a:latin typeface="Calibri" pitchFamily="34" charset="0"/>
                <a:ea typeface="Calibri" pitchFamily="34" charset="-122"/>
                <a:cs typeface="Calibri" pitchFamily="34" charset="-120"/>
              </a:rPr>
              <a:t>Clinician Agent flags clinical risk. Social Navigator flags pharmacy access and adherence constraints per member.</a:t>
            </a:r>
            <a:endParaRPr lang="en-US" sz="950" dirty="0"/>
          </a:p>
        </p:txBody>
      </p:sp>
      <p:sp>
        <p:nvSpPr>
          <p:cNvPr id="29" name="Shape 27"/>
          <p:cNvSpPr/>
          <p:nvPr/>
        </p:nvSpPr>
        <p:spPr>
          <a:xfrm>
            <a:off x="7013448" y="2313432"/>
            <a:ext cx="201168" cy="0"/>
          </a:xfrm>
          <a:prstGeom prst="line">
            <a:avLst/>
          </a:prstGeom>
          <a:noFill/>
          <a:ln w="25400">
            <a:solidFill>
              <a:srgbClr val="E8622A"/>
            </a:solidFill>
            <a:prstDash val="solid"/>
          </a:ln>
        </p:spPr>
        <p:txBody>
          <a:bodyPr/>
          <a:lstStyle/>
          <a:p>
            <a:endParaRPr lang="en-US"/>
          </a:p>
        </p:txBody>
      </p:sp>
      <p:sp>
        <p:nvSpPr>
          <p:cNvPr id="30" name="Shape 28"/>
          <p:cNvSpPr/>
          <p:nvPr/>
        </p:nvSpPr>
        <p:spPr>
          <a:xfrm>
            <a:off x="7242048" y="1078992"/>
            <a:ext cx="1481328" cy="2468880"/>
          </a:xfrm>
          <a:prstGeom prst="rect">
            <a:avLst/>
          </a:prstGeom>
          <a:solidFill>
            <a:srgbClr val="1A2B52"/>
          </a:solidFill>
          <a:ln w="12700">
            <a:solidFill>
              <a:srgbClr val="1A2B52"/>
            </a:solidFill>
            <a:prstDash val="solid"/>
          </a:ln>
          <a:effectLst>
            <a:outerShdw blurRad="63500" dist="25400" dir="8100000" algn="bl" rotWithShape="0">
              <a:srgbClr val="000000">
                <a:alpha val="10000"/>
              </a:srgbClr>
            </a:outerShdw>
          </a:effectLst>
        </p:spPr>
        <p:txBody>
          <a:bodyPr/>
          <a:lstStyle/>
          <a:p>
            <a:endParaRPr lang="en-US"/>
          </a:p>
        </p:txBody>
      </p:sp>
      <p:sp>
        <p:nvSpPr>
          <p:cNvPr id="31" name="Shape 29"/>
          <p:cNvSpPr/>
          <p:nvPr/>
        </p:nvSpPr>
        <p:spPr>
          <a:xfrm>
            <a:off x="7708392" y="1170432"/>
            <a:ext cx="530352" cy="530352"/>
          </a:xfrm>
          <a:prstGeom prst="ellipse">
            <a:avLst/>
          </a:prstGeom>
          <a:solidFill>
            <a:srgbClr val="E8622A"/>
          </a:solidFill>
          <a:ln w="12700">
            <a:solidFill>
              <a:srgbClr val="E8622A"/>
            </a:solidFill>
            <a:prstDash val="solid"/>
          </a:ln>
        </p:spPr>
        <p:txBody>
          <a:bodyPr/>
          <a:lstStyle/>
          <a:p>
            <a:endParaRPr lang="en-US"/>
          </a:p>
        </p:txBody>
      </p:sp>
      <p:sp>
        <p:nvSpPr>
          <p:cNvPr id="32" name="Text 30"/>
          <p:cNvSpPr/>
          <p:nvPr/>
        </p:nvSpPr>
        <p:spPr>
          <a:xfrm>
            <a:off x="7708392" y="1170432"/>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7315200" y="1783080"/>
            <a:ext cx="1335024" cy="502920"/>
          </a:xfrm>
          <a:prstGeom prst="rect">
            <a:avLst/>
          </a:prstGeom>
          <a:noFill/>
          <a:ln/>
        </p:spPr>
        <p:txBody>
          <a:bodyPr wrap="square" rtlCol="0" anchor="ctr"/>
          <a:lstStyle/>
          <a:p>
            <a:pPr marL="0" indent="0" algn="ctr">
              <a:buNone/>
            </a:pPr>
            <a:r>
              <a:rPr lang="en-US" sz="1050" b="1" dirty="0">
                <a:solidFill>
                  <a:srgbClr val="E8622A"/>
                </a:solidFill>
                <a:latin typeface="Calibri" pitchFamily="34" charset="0"/>
                <a:ea typeface="Calibri" pitchFamily="34" charset="-122"/>
                <a:cs typeface="Calibri" pitchFamily="34" charset="-120"/>
              </a:rPr>
              <a:t>Action Package (Gold)</a:t>
            </a:r>
            <a:endParaRPr lang="en-US" sz="1050" dirty="0"/>
          </a:p>
        </p:txBody>
      </p:sp>
      <p:sp>
        <p:nvSpPr>
          <p:cNvPr id="34" name="Text 32"/>
          <p:cNvSpPr/>
          <p:nvPr/>
        </p:nvSpPr>
        <p:spPr>
          <a:xfrm>
            <a:off x="7315200" y="2331720"/>
            <a:ext cx="1335024" cy="1170432"/>
          </a:xfrm>
          <a:prstGeom prst="rect">
            <a:avLst/>
          </a:prstGeom>
          <a:noFill/>
          <a:ln/>
        </p:spPr>
        <p:txBody>
          <a:bodyPr wrap="square" rtlCol="0" anchor="t"/>
          <a:lstStyle/>
          <a:p>
            <a:pPr marL="0" indent="0" algn="ctr">
              <a:buNone/>
            </a:pPr>
            <a:r>
              <a:rPr lang="en-US" sz="950" dirty="0">
                <a:solidFill>
                  <a:srgbClr val="B0C4DE"/>
                </a:solidFill>
                <a:latin typeface="Calibri" pitchFamily="34" charset="0"/>
                <a:ea typeface="Calibri" pitchFamily="34" charset="-122"/>
                <a:cs typeface="Calibri" pitchFamily="34" charset="-120"/>
              </a:rPr>
              <a:t>Dashboard shows top opportunities. Gold plan auto-generates 4 switch documents: doctor letter, patient notice, pharmacist note, payer memo.</a:t>
            </a:r>
            <a:endParaRPr lang="en-US" sz="950" dirty="0"/>
          </a:p>
        </p:txBody>
      </p:sp>
      <p:sp>
        <p:nvSpPr>
          <p:cNvPr id="35" name="Text 33"/>
          <p:cNvSpPr/>
          <p:nvPr/>
        </p:nvSpPr>
        <p:spPr>
          <a:xfrm>
            <a:off x="411480" y="3675888"/>
            <a:ext cx="8321040" cy="292608"/>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Input: pharmacy claims CSV  ›  Output: ranked savings opportunities + downloadable switch packages</a:t>
            </a:r>
            <a:endParaRPr lang="en-US" sz="1100" dirty="0"/>
          </a:p>
        </p:txBody>
      </p:sp>
      <p:sp>
        <p:nvSpPr>
          <p:cNvPr id="36" name="Shape 34"/>
          <p:cNvSpPr/>
          <p:nvPr/>
        </p:nvSpPr>
        <p:spPr>
          <a:xfrm>
            <a:off x="411480" y="4041648"/>
            <a:ext cx="8321040" cy="713232"/>
          </a:xfrm>
          <a:prstGeom prst="rect">
            <a:avLst/>
          </a:prstGeom>
          <a:solidFill>
            <a:srgbClr val="1A2B52"/>
          </a:solidFill>
          <a:ln w="12700">
            <a:solidFill>
              <a:srgbClr val="1A2B52"/>
            </a:solidFill>
            <a:prstDash val="solid"/>
          </a:ln>
        </p:spPr>
        <p:txBody>
          <a:bodyPr/>
          <a:lstStyle/>
          <a:p>
            <a:endParaRPr lang="en-US"/>
          </a:p>
        </p:txBody>
      </p:sp>
      <p:sp>
        <p:nvSpPr>
          <p:cNvPr id="37" name="Shape 35"/>
          <p:cNvSpPr/>
          <p:nvPr/>
        </p:nvSpPr>
        <p:spPr>
          <a:xfrm>
            <a:off x="411480" y="4041648"/>
            <a:ext cx="91440" cy="713232"/>
          </a:xfrm>
          <a:prstGeom prst="rect">
            <a:avLst/>
          </a:prstGeom>
          <a:solidFill>
            <a:srgbClr val="00A896"/>
          </a:solidFill>
          <a:ln w="12700">
            <a:solidFill>
              <a:srgbClr val="00A896"/>
            </a:solidFill>
            <a:prstDash val="solid"/>
          </a:ln>
        </p:spPr>
        <p:txBody>
          <a:bodyPr/>
          <a:lstStyle/>
          <a:p>
            <a:endParaRPr lang="en-US"/>
          </a:p>
        </p:txBody>
      </p:sp>
      <p:sp>
        <p:nvSpPr>
          <p:cNvPr id="38" name="Text 36"/>
          <p:cNvSpPr/>
          <p:nvPr/>
        </p:nvSpPr>
        <p:spPr>
          <a:xfrm>
            <a:off x="640080" y="4041648"/>
            <a:ext cx="7955280" cy="713232"/>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Iterative Refinement Loop:  Gross savings → − Clinical risk delta → − Adherence penalty → Risk-adjusted savings → Band (Recommend / Review / Do Not Switch)</a:t>
            </a:r>
            <a:endParaRPr lang="en-US" sz="1100" dirty="0"/>
          </a:p>
        </p:txBody>
      </p:sp>
      <p:sp>
        <p:nvSpPr>
          <p:cNvPr id="40" name="Text 38"/>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2"/>
          </a:solidFill>
          <a:ln w="12700">
            <a:solidFill>
              <a:srgbClr val="1A2B52"/>
            </a:solidFill>
            <a:prstDash val="solid"/>
          </a:ln>
        </p:spPr>
        <p:txBody>
          <a:bodyPr/>
          <a:lstStyle/>
          <a:p>
            <a:endParaRPr lang="en-US"/>
          </a:p>
        </p:txBody>
      </p:sp>
      <p:sp>
        <p:nvSpPr>
          <p:cNvPr id="3" name="Text 1"/>
          <p:cNvSpPr/>
          <p:nvPr/>
        </p:nvSpPr>
        <p:spPr>
          <a:xfrm>
            <a:off x="411480" y="0"/>
            <a:ext cx="7772400" cy="9601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Unit Economics: </a:t>
            </a:r>
            <a:r>
              <a:rPr lang="en-US" sz="2800" b="1" dirty="0">
                <a:solidFill>
                  <a:srgbClr val="FFFFFF"/>
                </a:solidFill>
                <a:latin typeface="Calibri" pitchFamily="34" charset="0"/>
                <a:cs typeface="Calibri" pitchFamily="34" charset="-120"/>
              </a:rPr>
              <a:t>Does One Customer-Month Pay?</a:t>
            </a:r>
          </a:p>
        </p:txBody>
      </p:sp>
      <p:sp>
        <p:nvSpPr>
          <p:cNvPr id="6" name="Text 4"/>
          <p:cNvSpPr/>
          <p:nvPr/>
        </p:nvSpPr>
        <p:spPr>
          <a:xfrm>
            <a:off x="411480" y="1024128"/>
            <a:ext cx="8321040"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Assumption: 1 small insurer, 10,000 claims/month, 1,000 need brand-to-generic review, 150 switch packages downloaded.</a:t>
            </a:r>
            <a:endParaRPr lang="en-US" sz="1100" dirty="0"/>
          </a:p>
        </p:txBody>
      </p:sp>
      <p:sp>
        <p:nvSpPr>
          <p:cNvPr id="7" name="Shape 5"/>
          <p:cNvSpPr/>
          <p:nvPr/>
        </p:nvSpPr>
        <p:spPr>
          <a:xfrm>
            <a:off x="411480" y="1389888"/>
            <a:ext cx="2743200" cy="365760"/>
          </a:xfrm>
          <a:prstGeom prst="rect">
            <a:avLst/>
          </a:prstGeom>
          <a:solidFill>
            <a:srgbClr val="1A2B52"/>
          </a:solidFill>
          <a:ln w="12700">
            <a:solidFill>
              <a:srgbClr val="1A2B52"/>
            </a:solidFill>
            <a:prstDash val="solid"/>
          </a:ln>
        </p:spPr>
        <p:txBody>
          <a:bodyPr/>
          <a:lstStyle/>
          <a:p>
            <a:endParaRPr lang="en-US"/>
          </a:p>
        </p:txBody>
      </p:sp>
      <p:sp>
        <p:nvSpPr>
          <p:cNvPr id="8" name="Text 6"/>
          <p:cNvSpPr/>
          <p:nvPr/>
        </p:nvSpPr>
        <p:spPr>
          <a:xfrm>
            <a:off x="484632" y="1389888"/>
            <a:ext cx="2670048" cy="3657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Cost Item</a:t>
            </a:r>
            <a:endParaRPr lang="en-US" sz="1100" dirty="0"/>
          </a:p>
        </p:txBody>
      </p:sp>
      <p:sp>
        <p:nvSpPr>
          <p:cNvPr id="9" name="Shape 7"/>
          <p:cNvSpPr/>
          <p:nvPr/>
        </p:nvSpPr>
        <p:spPr>
          <a:xfrm>
            <a:off x="3154680" y="1389888"/>
            <a:ext cx="1828800" cy="365760"/>
          </a:xfrm>
          <a:prstGeom prst="rect">
            <a:avLst/>
          </a:prstGeom>
          <a:solidFill>
            <a:srgbClr val="1A2B52"/>
          </a:solidFill>
          <a:ln w="12700">
            <a:solidFill>
              <a:srgbClr val="1A2B52"/>
            </a:solidFill>
            <a:prstDash val="solid"/>
          </a:ln>
        </p:spPr>
        <p:txBody>
          <a:bodyPr/>
          <a:lstStyle/>
          <a:p>
            <a:endParaRPr lang="en-US"/>
          </a:p>
        </p:txBody>
      </p:sp>
      <p:sp>
        <p:nvSpPr>
          <p:cNvPr id="10" name="Text 8"/>
          <p:cNvSpPr/>
          <p:nvPr/>
        </p:nvSpPr>
        <p:spPr>
          <a:xfrm>
            <a:off x="3227832" y="1389888"/>
            <a:ext cx="1755648" cy="3657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Bronze  $200/mo</a:t>
            </a:r>
            <a:endParaRPr lang="en-US" sz="1100" dirty="0"/>
          </a:p>
        </p:txBody>
      </p:sp>
      <p:sp>
        <p:nvSpPr>
          <p:cNvPr id="11" name="Shape 9"/>
          <p:cNvSpPr/>
          <p:nvPr/>
        </p:nvSpPr>
        <p:spPr>
          <a:xfrm>
            <a:off x="4983480" y="1389888"/>
            <a:ext cx="1828800" cy="365760"/>
          </a:xfrm>
          <a:prstGeom prst="rect">
            <a:avLst/>
          </a:prstGeom>
          <a:solidFill>
            <a:srgbClr val="1A2B52"/>
          </a:solidFill>
          <a:ln w="12700">
            <a:solidFill>
              <a:srgbClr val="1A2B52"/>
            </a:solidFill>
            <a:prstDash val="solid"/>
          </a:ln>
        </p:spPr>
        <p:txBody>
          <a:bodyPr/>
          <a:lstStyle/>
          <a:p>
            <a:endParaRPr lang="en-US"/>
          </a:p>
        </p:txBody>
      </p:sp>
      <p:sp>
        <p:nvSpPr>
          <p:cNvPr id="12" name="Text 10"/>
          <p:cNvSpPr/>
          <p:nvPr/>
        </p:nvSpPr>
        <p:spPr>
          <a:xfrm>
            <a:off x="5056632" y="1389888"/>
            <a:ext cx="1755648" cy="3657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Silver  $350/mo</a:t>
            </a:r>
            <a:endParaRPr lang="en-US" sz="1100" dirty="0"/>
          </a:p>
        </p:txBody>
      </p:sp>
      <p:sp>
        <p:nvSpPr>
          <p:cNvPr id="13" name="Shape 11"/>
          <p:cNvSpPr/>
          <p:nvPr/>
        </p:nvSpPr>
        <p:spPr>
          <a:xfrm>
            <a:off x="6812280" y="1389888"/>
            <a:ext cx="1828800" cy="365760"/>
          </a:xfrm>
          <a:prstGeom prst="rect">
            <a:avLst/>
          </a:prstGeom>
          <a:solidFill>
            <a:srgbClr val="1A2B52"/>
          </a:solidFill>
          <a:ln w="12700">
            <a:solidFill>
              <a:srgbClr val="1A2B52"/>
            </a:solidFill>
            <a:prstDash val="solid"/>
          </a:ln>
        </p:spPr>
        <p:txBody>
          <a:bodyPr/>
          <a:lstStyle/>
          <a:p>
            <a:endParaRPr lang="en-US"/>
          </a:p>
        </p:txBody>
      </p:sp>
      <p:sp>
        <p:nvSpPr>
          <p:cNvPr id="14" name="Text 12"/>
          <p:cNvSpPr/>
          <p:nvPr/>
        </p:nvSpPr>
        <p:spPr>
          <a:xfrm>
            <a:off x="6885432" y="1389888"/>
            <a:ext cx="1755648" cy="36576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Gold  $650/mo</a:t>
            </a:r>
            <a:endParaRPr lang="en-US" sz="1100" dirty="0"/>
          </a:p>
        </p:txBody>
      </p:sp>
      <p:sp>
        <p:nvSpPr>
          <p:cNvPr id="15" name="Shape 13"/>
          <p:cNvSpPr/>
          <p:nvPr/>
        </p:nvSpPr>
        <p:spPr>
          <a:xfrm>
            <a:off x="411480" y="1755648"/>
            <a:ext cx="2743200" cy="384048"/>
          </a:xfrm>
          <a:prstGeom prst="rect">
            <a:avLst/>
          </a:prstGeom>
          <a:solidFill>
            <a:srgbClr val="FFFFFF"/>
          </a:solidFill>
          <a:ln w="6350">
            <a:solidFill>
              <a:srgbClr val="D1DCF0"/>
            </a:solidFill>
            <a:prstDash val="solid"/>
          </a:ln>
        </p:spPr>
        <p:txBody>
          <a:bodyPr/>
          <a:lstStyle/>
          <a:p>
            <a:endParaRPr lang="en-US"/>
          </a:p>
        </p:txBody>
      </p:sp>
      <p:sp>
        <p:nvSpPr>
          <p:cNvPr id="16" name="Text 14"/>
          <p:cNvSpPr/>
          <p:nvPr/>
        </p:nvSpPr>
        <p:spPr>
          <a:xfrm>
            <a:off x="484632" y="1755648"/>
            <a:ext cx="2670048" cy="384048"/>
          </a:xfrm>
          <a:prstGeom prst="rect">
            <a:avLst/>
          </a:prstGeom>
          <a:noFill/>
          <a:ln/>
        </p:spPr>
        <p:txBody>
          <a:bodyPr wrap="square" rtlCol="0" anchor="ctr"/>
          <a:lstStyle/>
          <a:p>
            <a:pPr marL="0" indent="0">
              <a:buNone/>
            </a:pPr>
            <a:r>
              <a:rPr lang="en-US" sz="1100" b="1" dirty="0">
                <a:solidFill>
                  <a:srgbClr val="2D3748"/>
                </a:solidFill>
                <a:latin typeface="Calibri" pitchFamily="34" charset="0"/>
                <a:ea typeface="Calibri" pitchFamily="34" charset="-122"/>
                <a:cs typeface="Calibri" pitchFamily="34" charset="-120"/>
              </a:rPr>
              <a:t>Cloud + database</a:t>
            </a:r>
            <a:endParaRPr lang="en-US" sz="1100" dirty="0"/>
          </a:p>
        </p:txBody>
      </p:sp>
      <p:sp>
        <p:nvSpPr>
          <p:cNvPr id="17" name="Shape 15"/>
          <p:cNvSpPr/>
          <p:nvPr/>
        </p:nvSpPr>
        <p:spPr>
          <a:xfrm>
            <a:off x="3154680" y="1755648"/>
            <a:ext cx="1828800" cy="384048"/>
          </a:xfrm>
          <a:prstGeom prst="rect">
            <a:avLst/>
          </a:prstGeom>
          <a:solidFill>
            <a:srgbClr val="FFFFFF"/>
          </a:solidFill>
          <a:ln w="6350">
            <a:solidFill>
              <a:srgbClr val="D1DCF0"/>
            </a:solidFill>
            <a:prstDash val="solid"/>
          </a:ln>
        </p:spPr>
        <p:txBody>
          <a:bodyPr/>
          <a:lstStyle/>
          <a:p>
            <a:endParaRPr lang="en-US"/>
          </a:p>
        </p:txBody>
      </p:sp>
      <p:sp>
        <p:nvSpPr>
          <p:cNvPr id="18" name="Text 16"/>
          <p:cNvSpPr/>
          <p:nvPr/>
        </p:nvSpPr>
        <p:spPr>
          <a:xfrm>
            <a:off x="3227832" y="1755648"/>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$60</a:t>
            </a:r>
            <a:endParaRPr lang="en-US" sz="1100" dirty="0"/>
          </a:p>
        </p:txBody>
      </p:sp>
      <p:sp>
        <p:nvSpPr>
          <p:cNvPr id="19" name="Shape 17"/>
          <p:cNvSpPr/>
          <p:nvPr/>
        </p:nvSpPr>
        <p:spPr>
          <a:xfrm>
            <a:off x="4983480" y="1755648"/>
            <a:ext cx="1828800" cy="384048"/>
          </a:xfrm>
          <a:prstGeom prst="rect">
            <a:avLst/>
          </a:prstGeom>
          <a:solidFill>
            <a:srgbClr val="FFFFFF"/>
          </a:solidFill>
          <a:ln w="6350">
            <a:solidFill>
              <a:srgbClr val="D1DCF0"/>
            </a:solidFill>
            <a:prstDash val="solid"/>
          </a:ln>
        </p:spPr>
        <p:txBody>
          <a:bodyPr/>
          <a:lstStyle/>
          <a:p>
            <a:endParaRPr lang="en-US"/>
          </a:p>
        </p:txBody>
      </p:sp>
      <p:sp>
        <p:nvSpPr>
          <p:cNvPr id="20" name="Text 18"/>
          <p:cNvSpPr/>
          <p:nvPr/>
        </p:nvSpPr>
        <p:spPr>
          <a:xfrm>
            <a:off x="5056632" y="1755648"/>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$90</a:t>
            </a:r>
            <a:endParaRPr lang="en-US" sz="1100" dirty="0"/>
          </a:p>
        </p:txBody>
      </p:sp>
      <p:sp>
        <p:nvSpPr>
          <p:cNvPr id="21" name="Shape 19"/>
          <p:cNvSpPr/>
          <p:nvPr/>
        </p:nvSpPr>
        <p:spPr>
          <a:xfrm>
            <a:off x="6812280" y="1755648"/>
            <a:ext cx="1828800" cy="384048"/>
          </a:xfrm>
          <a:prstGeom prst="rect">
            <a:avLst/>
          </a:prstGeom>
          <a:solidFill>
            <a:srgbClr val="FFFFFF"/>
          </a:solidFill>
          <a:ln w="6350">
            <a:solidFill>
              <a:srgbClr val="D1DCF0"/>
            </a:solidFill>
            <a:prstDash val="solid"/>
          </a:ln>
        </p:spPr>
        <p:txBody>
          <a:bodyPr/>
          <a:lstStyle/>
          <a:p>
            <a:endParaRPr lang="en-US"/>
          </a:p>
        </p:txBody>
      </p:sp>
      <p:sp>
        <p:nvSpPr>
          <p:cNvPr id="22" name="Text 20"/>
          <p:cNvSpPr/>
          <p:nvPr/>
        </p:nvSpPr>
        <p:spPr>
          <a:xfrm>
            <a:off x="6885432" y="1755648"/>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$150</a:t>
            </a:r>
            <a:endParaRPr lang="en-US" sz="1100" dirty="0"/>
          </a:p>
        </p:txBody>
      </p:sp>
      <p:sp>
        <p:nvSpPr>
          <p:cNvPr id="23" name="Shape 21"/>
          <p:cNvSpPr/>
          <p:nvPr/>
        </p:nvSpPr>
        <p:spPr>
          <a:xfrm>
            <a:off x="411480" y="2139696"/>
            <a:ext cx="2743200" cy="384048"/>
          </a:xfrm>
          <a:prstGeom prst="rect">
            <a:avLst/>
          </a:prstGeom>
          <a:solidFill>
            <a:srgbClr val="F4F7FB"/>
          </a:solidFill>
          <a:ln w="6350">
            <a:solidFill>
              <a:srgbClr val="D1DCF0"/>
            </a:solidFill>
            <a:prstDash val="solid"/>
          </a:ln>
        </p:spPr>
        <p:txBody>
          <a:bodyPr/>
          <a:lstStyle/>
          <a:p>
            <a:endParaRPr lang="en-US"/>
          </a:p>
        </p:txBody>
      </p:sp>
      <p:sp>
        <p:nvSpPr>
          <p:cNvPr id="24" name="Text 22"/>
          <p:cNvSpPr/>
          <p:nvPr/>
        </p:nvSpPr>
        <p:spPr>
          <a:xfrm>
            <a:off x="484632" y="2139696"/>
            <a:ext cx="2670048" cy="384048"/>
          </a:xfrm>
          <a:prstGeom prst="rect">
            <a:avLst/>
          </a:prstGeom>
          <a:noFill/>
          <a:ln/>
        </p:spPr>
        <p:txBody>
          <a:bodyPr wrap="square" rtlCol="0" anchor="ctr"/>
          <a:lstStyle/>
          <a:p>
            <a:pPr marL="0" indent="0">
              <a:buNone/>
            </a:pPr>
            <a:r>
              <a:rPr lang="en-US" sz="1100" b="1" dirty="0">
                <a:solidFill>
                  <a:srgbClr val="2D3748"/>
                </a:solidFill>
                <a:latin typeface="Calibri" pitchFamily="34" charset="0"/>
                <a:ea typeface="Calibri" pitchFamily="34" charset="-122"/>
                <a:cs typeface="Calibri" pitchFamily="34" charset="-120"/>
              </a:rPr>
              <a:t>LLM / token cost</a:t>
            </a:r>
            <a:endParaRPr lang="en-US" sz="1100" dirty="0"/>
          </a:p>
        </p:txBody>
      </p:sp>
      <p:sp>
        <p:nvSpPr>
          <p:cNvPr id="25" name="Shape 23"/>
          <p:cNvSpPr/>
          <p:nvPr/>
        </p:nvSpPr>
        <p:spPr>
          <a:xfrm>
            <a:off x="3154680" y="2139696"/>
            <a:ext cx="1828800" cy="384048"/>
          </a:xfrm>
          <a:prstGeom prst="rect">
            <a:avLst/>
          </a:prstGeom>
          <a:solidFill>
            <a:srgbClr val="F4F7FB"/>
          </a:solidFill>
          <a:ln w="6350">
            <a:solidFill>
              <a:srgbClr val="D1DCF0"/>
            </a:solidFill>
            <a:prstDash val="solid"/>
          </a:ln>
        </p:spPr>
        <p:txBody>
          <a:bodyPr/>
          <a:lstStyle/>
          <a:p>
            <a:endParaRPr lang="en-US"/>
          </a:p>
        </p:txBody>
      </p:sp>
      <p:sp>
        <p:nvSpPr>
          <p:cNvPr id="26" name="Text 24"/>
          <p:cNvSpPr/>
          <p:nvPr/>
        </p:nvSpPr>
        <p:spPr>
          <a:xfrm>
            <a:off x="3227832" y="2139696"/>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$1 – $5</a:t>
            </a:r>
            <a:endParaRPr lang="en-US" sz="1100" dirty="0"/>
          </a:p>
        </p:txBody>
      </p:sp>
      <p:sp>
        <p:nvSpPr>
          <p:cNvPr id="27" name="Shape 25"/>
          <p:cNvSpPr/>
          <p:nvPr/>
        </p:nvSpPr>
        <p:spPr>
          <a:xfrm>
            <a:off x="4983480" y="2139696"/>
            <a:ext cx="1828800" cy="384048"/>
          </a:xfrm>
          <a:prstGeom prst="rect">
            <a:avLst/>
          </a:prstGeom>
          <a:solidFill>
            <a:srgbClr val="F4F7FB"/>
          </a:solidFill>
          <a:ln w="6350">
            <a:solidFill>
              <a:srgbClr val="D1DCF0"/>
            </a:solidFill>
            <a:prstDash val="solid"/>
          </a:ln>
        </p:spPr>
        <p:txBody>
          <a:bodyPr/>
          <a:lstStyle/>
          <a:p>
            <a:endParaRPr lang="en-US"/>
          </a:p>
        </p:txBody>
      </p:sp>
      <p:sp>
        <p:nvSpPr>
          <p:cNvPr id="28" name="Text 26"/>
          <p:cNvSpPr/>
          <p:nvPr/>
        </p:nvSpPr>
        <p:spPr>
          <a:xfrm>
            <a:off x="5056632" y="2139696"/>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$3 – $10</a:t>
            </a:r>
            <a:endParaRPr lang="en-US" sz="1100" dirty="0"/>
          </a:p>
        </p:txBody>
      </p:sp>
      <p:sp>
        <p:nvSpPr>
          <p:cNvPr id="29" name="Shape 27"/>
          <p:cNvSpPr/>
          <p:nvPr/>
        </p:nvSpPr>
        <p:spPr>
          <a:xfrm>
            <a:off x="6812280" y="2139696"/>
            <a:ext cx="1828800" cy="384048"/>
          </a:xfrm>
          <a:prstGeom prst="rect">
            <a:avLst/>
          </a:prstGeom>
          <a:solidFill>
            <a:srgbClr val="F4F7FB"/>
          </a:solidFill>
          <a:ln w="6350">
            <a:solidFill>
              <a:srgbClr val="D1DCF0"/>
            </a:solidFill>
            <a:prstDash val="solid"/>
          </a:ln>
        </p:spPr>
        <p:txBody>
          <a:bodyPr/>
          <a:lstStyle/>
          <a:p>
            <a:endParaRPr lang="en-US"/>
          </a:p>
        </p:txBody>
      </p:sp>
      <p:sp>
        <p:nvSpPr>
          <p:cNvPr id="30" name="Text 28"/>
          <p:cNvSpPr/>
          <p:nvPr/>
        </p:nvSpPr>
        <p:spPr>
          <a:xfrm>
            <a:off x="6885432" y="2139696"/>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$10 – $30</a:t>
            </a:r>
            <a:endParaRPr lang="en-US" sz="1100" dirty="0"/>
          </a:p>
        </p:txBody>
      </p:sp>
      <p:sp>
        <p:nvSpPr>
          <p:cNvPr id="31" name="Shape 29"/>
          <p:cNvSpPr/>
          <p:nvPr/>
        </p:nvSpPr>
        <p:spPr>
          <a:xfrm>
            <a:off x="411480" y="2523744"/>
            <a:ext cx="2743200" cy="384048"/>
          </a:xfrm>
          <a:prstGeom prst="rect">
            <a:avLst/>
          </a:prstGeom>
          <a:solidFill>
            <a:srgbClr val="FFFFFF"/>
          </a:solidFill>
          <a:ln w="6350">
            <a:solidFill>
              <a:srgbClr val="D1DCF0"/>
            </a:solidFill>
            <a:prstDash val="solid"/>
          </a:ln>
        </p:spPr>
        <p:txBody>
          <a:bodyPr/>
          <a:lstStyle/>
          <a:p>
            <a:endParaRPr lang="en-US"/>
          </a:p>
        </p:txBody>
      </p:sp>
      <p:sp>
        <p:nvSpPr>
          <p:cNvPr id="32" name="Text 30"/>
          <p:cNvSpPr/>
          <p:nvPr/>
        </p:nvSpPr>
        <p:spPr>
          <a:xfrm>
            <a:off x="484632" y="2523744"/>
            <a:ext cx="2670048" cy="384048"/>
          </a:xfrm>
          <a:prstGeom prst="rect">
            <a:avLst/>
          </a:prstGeom>
          <a:noFill/>
          <a:ln/>
        </p:spPr>
        <p:txBody>
          <a:bodyPr wrap="square" rtlCol="0" anchor="ctr"/>
          <a:lstStyle/>
          <a:p>
            <a:pPr marL="0" indent="0">
              <a:buNone/>
            </a:pPr>
            <a:r>
              <a:rPr lang="en-US" sz="1100" b="1" dirty="0">
                <a:solidFill>
                  <a:srgbClr val="2D3748"/>
                </a:solidFill>
                <a:latin typeface="Calibri" pitchFamily="34" charset="0"/>
                <a:ea typeface="Calibri" pitchFamily="34" charset="-122"/>
                <a:cs typeface="Calibri" pitchFamily="34" charset="-120"/>
              </a:rPr>
              <a:t>PDF / export</a:t>
            </a:r>
            <a:endParaRPr lang="en-US" sz="1100" dirty="0"/>
          </a:p>
        </p:txBody>
      </p:sp>
      <p:sp>
        <p:nvSpPr>
          <p:cNvPr id="33" name="Shape 31"/>
          <p:cNvSpPr/>
          <p:nvPr/>
        </p:nvSpPr>
        <p:spPr>
          <a:xfrm>
            <a:off x="3154680" y="2523744"/>
            <a:ext cx="1828800" cy="384048"/>
          </a:xfrm>
          <a:prstGeom prst="rect">
            <a:avLst/>
          </a:prstGeom>
          <a:solidFill>
            <a:srgbClr val="FFFFFF"/>
          </a:solidFill>
          <a:ln w="6350">
            <a:solidFill>
              <a:srgbClr val="D1DCF0"/>
            </a:solidFill>
            <a:prstDash val="solid"/>
          </a:ln>
        </p:spPr>
        <p:txBody>
          <a:bodyPr/>
          <a:lstStyle/>
          <a:p>
            <a:endParaRPr lang="en-US"/>
          </a:p>
        </p:txBody>
      </p:sp>
      <p:sp>
        <p:nvSpPr>
          <p:cNvPr id="34" name="Text 32"/>
          <p:cNvSpPr/>
          <p:nvPr/>
        </p:nvSpPr>
        <p:spPr>
          <a:xfrm>
            <a:off x="3227832" y="2523744"/>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$0</a:t>
            </a:r>
            <a:endParaRPr lang="en-US" sz="1100" dirty="0"/>
          </a:p>
        </p:txBody>
      </p:sp>
      <p:sp>
        <p:nvSpPr>
          <p:cNvPr id="35" name="Shape 33"/>
          <p:cNvSpPr/>
          <p:nvPr/>
        </p:nvSpPr>
        <p:spPr>
          <a:xfrm>
            <a:off x="4983480" y="2523744"/>
            <a:ext cx="1828800" cy="384048"/>
          </a:xfrm>
          <a:prstGeom prst="rect">
            <a:avLst/>
          </a:prstGeom>
          <a:solidFill>
            <a:srgbClr val="FFFFFF"/>
          </a:solidFill>
          <a:ln w="6350">
            <a:solidFill>
              <a:srgbClr val="D1DCF0"/>
            </a:solidFill>
            <a:prstDash val="solid"/>
          </a:ln>
        </p:spPr>
        <p:txBody>
          <a:bodyPr/>
          <a:lstStyle/>
          <a:p>
            <a:endParaRPr lang="en-US"/>
          </a:p>
        </p:txBody>
      </p:sp>
      <p:sp>
        <p:nvSpPr>
          <p:cNvPr id="36" name="Text 34"/>
          <p:cNvSpPr/>
          <p:nvPr/>
        </p:nvSpPr>
        <p:spPr>
          <a:xfrm>
            <a:off x="5056632" y="2523744"/>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$0</a:t>
            </a:r>
            <a:endParaRPr lang="en-US" sz="1100" dirty="0"/>
          </a:p>
        </p:txBody>
      </p:sp>
      <p:sp>
        <p:nvSpPr>
          <p:cNvPr id="37" name="Shape 35"/>
          <p:cNvSpPr/>
          <p:nvPr/>
        </p:nvSpPr>
        <p:spPr>
          <a:xfrm>
            <a:off x="6812280" y="2523744"/>
            <a:ext cx="1828800" cy="384048"/>
          </a:xfrm>
          <a:prstGeom prst="rect">
            <a:avLst/>
          </a:prstGeom>
          <a:solidFill>
            <a:srgbClr val="FFFFFF"/>
          </a:solidFill>
          <a:ln w="6350">
            <a:solidFill>
              <a:srgbClr val="D1DCF0"/>
            </a:solidFill>
            <a:prstDash val="solid"/>
          </a:ln>
        </p:spPr>
        <p:txBody>
          <a:bodyPr/>
          <a:lstStyle/>
          <a:p>
            <a:endParaRPr lang="en-US"/>
          </a:p>
        </p:txBody>
      </p:sp>
      <p:sp>
        <p:nvSpPr>
          <p:cNvPr id="38" name="Text 36"/>
          <p:cNvSpPr/>
          <p:nvPr/>
        </p:nvSpPr>
        <p:spPr>
          <a:xfrm>
            <a:off x="6885432" y="2523744"/>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$25 – $75</a:t>
            </a:r>
            <a:endParaRPr lang="en-US" sz="1100" dirty="0"/>
          </a:p>
        </p:txBody>
      </p:sp>
      <p:sp>
        <p:nvSpPr>
          <p:cNvPr id="39" name="Shape 37"/>
          <p:cNvSpPr/>
          <p:nvPr/>
        </p:nvSpPr>
        <p:spPr>
          <a:xfrm>
            <a:off x="411480" y="2907792"/>
            <a:ext cx="2743200" cy="384048"/>
          </a:xfrm>
          <a:prstGeom prst="rect">
            <a:avLst/>
          </a:prstGeom>
          <a:solidFill>
            <a:srgbClr val="F4F7FB"/>
          </a:solidFill>
          <a:ln w="6350">
            <a:solidFill>
              <a:srgbClr val="D1DCF0"/>
            </a:solidFill>
            <a:prstDash val="solid"/>
          </a:ln>
        </p:spPr>
        <p:txBody>
          <a:bodyPr/>
          <a:lstStyle/>
          <a:p>
            <a:endParaRPr lang="en-US"/>
          </a:p>
        </p:txBody>
      </p:sp>
      <p:sp>
        <p:nvSpPr>
          <p:cNvPr id="40" name="Text 38"/>
          <p:cNvSpPr/>
          <p:nvPr/>
        </p:nvSpPr>
        <p:spPr>
          <a:xfrm>
            <a:off x="484632" y="2907792"/>
            <a:ext cx="2670048" cy="384048"/>
          </a:xfrm>
          <a:prstGeom prst="rect">
            <a:avLst/>
          </a:prstGeom>
          <a:noFill/>
          <a:ln/>
        </p:spPr>
        <p:txBody>
          <a:bodyPr wrap="square" rtlCol="0" anchor="ctr"/>
          <a:lstStyle/>
          <a:p>
            <a:pPr marL="0" indent="0">
              <a:buNone/>
            </a:pPr>
            <a:r>
              <a:rPr lang="en-US" sz="1100" b="1" dirty="0">
                <a:solidFill>
                  <a:srgbClr val="2D3748"/>
                </a:solidFill>
                <a:latin typeface="Calibri" pitchFamily="34" charset="0"/>
                <a:ea typeface="Calibri" pitchFamily="34" charset="-122"/>
                <a:cs typeface="Calibri" pitchFamily="34" charset="-120"/>
              </a:rPr>
              <a:t>Support + monitoring</a:t>
            </a:r>
            <a:endParaRPr lang="en-US" sz="1100" dirty="0"/>
          </a:p>
        </p:txBody>
      </p:sp>
      <p:sp>
        <p:nvSpPr>
          <p:cNvPr id="41" name="Shape 39"/>
          <p:cNvSpPr/>
          <p:nvPr/>
        </p:nvSpPr>
        <p:spPr>
          <a:xfrm>
            <a:off x="3154680" y="2907792"/>
            <a:ext cx="1828800" cy="384048"/>
          </a:xfrm>
          <a:prstGeom prst="rect">
            <a:avLst/>
          </a:prstGeom>
          <a:solidFill>
            <a:srgbClr val="F4F7FB"/>
          </a:solidFill>
          <a:ln w="6350">
            <a:solidFill>
              <a:srgbClr val="D1DCF0"/>
            </a:solidFill>
            <a:prstDash val="solid"/>
          </a:ln>
        </p:spPr>
        <p:txBody>
          <a:bodyPr/>
          <a:lstStyle/>
          <a:p>
            <a:endParaRPr lang="en-US"/>
          </a:p>
        </p:txBody>
      </p:sp>
      <p:sp>
        <p:nvSpPr>
          <p:cNvPr id="42" name="Text 40"/>
          <p:cNvSpPr/>
          <p:nvPr/>
        </p:nvSpPr>
        <p:spPr>
          <a:xfrm>
            <a:off x="3227832" y="2907792"/>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$100</a:t>
            </a:r>
            <a:endParaRPr lang="en-US" sz="1100" dirty="0"/>
          </a:p>
        </p:txBody>
      </p:sp>
      <p:sp>
        <p:nvSpPr>
          <p:cNvPr id="43" name="Shape 41"/>
          <p:cNvSpPr/>
          <p:nvPr/>
        </p:nvSpPr>
        <p:spPr>
          <a:xfrm>
            <a:off x="4983480" y="2907792"/>
            <a:ext cx="1828800" cy="384048"/>
          </a:xfrm>
          <a:prstGeom prst="rect">
            <a:avLst/>
          </a:prstGeom>
          <a:solidFill>
            <a:srgbClr val="F4F7FB"/>
          </a:solidFill>
          <a:ln w="6350">
            <a:solidFill>
              <a:srgbClr val="D1DCF0"/>
            </a:solidFill>
            <a:prstDash val="solid"/>
          </a:ln>
        </p:spPr>
        <p:txBody>
          <a:bodyPr/>
          <a:lstStyle/>
          <a:p>
            <a:endParaRPr lang="en-US"/>
          </a:p>
        </p:txBody>
      </p:sp>
      <p:sp>
        <p:nvSpPr>
          <p:cNvPr id="44" name="Text 42"/>
          <p:cNvSpPr/>
          <p:nvPr/>
        </p:nvSpPr>
        <p:spPr>
          <a:xfrm>
            <a:off x="5056632" y="2907792"/>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$200</a:t>
            </a:r>
            <a:endParaRPr lang="en-US" sz="1100" dirty="0"/>
          </a:p>
        </p:txBody>
      </p:sp>
      <p:sp>
        <p:nvSpPr>
          <p:cNvPr id="45" name="Shape 43"/>
          <p:cNvSpPr/>
          <p:nvPr/>
        </p:nvSpPr>
        <p:spPr>
          <a:xfrm>
            <a:off x="6812280" y="2907792"/>
            <a:ext cx="1828800" cy="384048"/>
          </a:xfrm>
          <a:prstGeom prst="rect">
            <a:avLst/>
          </a:prstGeom>
          <a:solidFill>
            <a:srgbClr val="F4F7FB"/>
          </a:solidFill>
          <a:ln w="6350">
            <a:solidFill>
              <a:srgbClr val="D1DCF0"/>
            </a:solidFill>
            <a:prstDash val="solid"/>
          </a:ln>
        </p:spPr>
        <p:txBody>
          <a:bodyPr/>
          <a:lstStyle/>
          <a:p>
            <a:endParaRPr lang="en-US"/>
          </a:p>
        </p:txBody>
      </p:sp>
      <p:sp>
        <p:nvSpPr>
          <p:cNvPr id="46" name="Text 44"/>
          <p:cNvSpPr/>
          <p:nvPr/>
        </p:nvSpPr>
        <p:spPr>
          <a:xfrm>
            <a:off x="6885432" y="2907792"/>
            <a:ext cx="1755648" cy="38404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$350</a:t>
            </a:r>
            <a:endParaRPr lang="en-US" sz="1100" dirty="0"/>
          </a:p>
        </p:txBody>
      </p:sp>
      <p:sp>
        <p:nvSpPr>
          <p:cNvPr id="47" name="Shape 45"/>
          <p:cNvSpPr/>
          <p:nvPr/>
        </p:nvSpPr>
        <p:spPr>
          <a:xfrm>
            <a:off x="411480" y="3291840"/>
            <a:ext cx="2743200" cy="384048"/>
          </a:xfrm>
          <a:prstGeom prst="rect">
            <a:avLst/>
          </a:prstGeom>
          <a:solidFill>
            <a:srgbClr val="E8EEF8"/>
          </a:solidFill>
          <a:ln w="6350">
            <a:solidFill>
              <a:srgbClr val="D1DCF0"/>
            </a:solidFill>
            <a:prstDash val="solid"/>
          </a:ln>
        </p:spPr>
        <p:txBody>
          <a:bodyPr/>
          <a:lstStyle/>
          <a:p>
            <a:endParaRPr lang="en-US"/>
          </a:p>
        </p:txBody>
      </p:sp>
      <p:sp>
        <p:nvSpPr>
          <p:cNvPr id="48" name="Text 46"/>
          <p:cNvSpPr/>
          <p:nvPr/>
        </p:nvSpPr>
        <p:spPr>
          <a:xfrm>
            <a:off x="484632" y="3291840"/>
            <a:ext cx="2670048" cy="384048"/>
          </a:xfrm>
          <a:prstGeom prst="rect">
            <a:avLst/>
          </a:prstGeom>
          <a:noFill/>
          <a:ln/>
        </p:spPr>
        <p:txBody>
          <a:bodyPr wrap="square" rtlCol="0" anchor="ctr"/>
          <a:lstStyle/>
          <a:p>
            <a:pPr marL="0" indent="0">
              <a:buNone/>
            </a:pPr>
            <a:r>
              <a:rPr lang="en-US" sz="1200" b="1" dirty="0">
                <a:solidFill>
                  <a:srgbClr val="1A2B52"/>
                </a:solidFill>
                <a:latin typeface="Calibri" pitchFamily="34" charset="0"/>
                <a:ea typeface="Calibri" pitchFamily="34" charset="-122"/>
                <a:cs typeface="Calibri" pitchFamily="34" charset="-120"/>
              </a:rPr>
              <a:t>Total cost to serve</a:t>
            </a:r>
            <a:endParaRPr lang="en-US" sz="1200" dirty="0"/>
          </a:p>
        </p:txBody>
      </p:sp>
      <p:sp>
        <p:nvSpPr>
          <p:cNvPr id="49" name="Shape 47"/>
          <p:cNvSpPr/>
          <p:nvPr/>
        </p:nvSpPr>
        <p:spPr>
          <a:xfrm>
            <a:off x="3154680" y="3291840"/>
            <a:ext cx="1828800" cy="384048"/>
          </a:xfrm>
          <a:prstGeom prst="rect">
            <a:avLst/>
          </a:prstGeom>
          <a:solidFill>
            <a:srgbClr val="E8EEF8"/>
          </a:solidFill>
          <a:ln w="6350">
            <a:solidFill>
              <a:srgbClr val="D1DCF0"/>
            </a:solidFill>
            <a:prstDash val="solid"/>
          </a:ln>
        </p:spPr>
        <p:txBody>
          <a:bodyPr/>
          <a:lstStyle/>
          <a:p>
            <a:endParaRPr lang="en-US"/>
          </a:p>
        </p:txBody>
      </p:sp>
      <p:sp>
        <p:nvSpPr>
          <p:cNvPr id="50" name="Text 48"/>
          <p:cNvSpPr/>
          <p:nvPr/>
        </p:nvSpPr>
        <p:spPr>
          <a:xfrm>
            <a:off x="3227832" y="3291840"/>
            <a:ext cx="1755648" cy="384048"/>
          </a:xfrm>
          <a:prstGeom prst="rect">
            <a:avLst/>
          </a:prstGeom>
          <a:noFill/>
          <a:ln/>
        </p:spPr>
        <p:txBody>
          <a:bodyPr wrap="square" rtlCol="0" anchor="ctr"/>
          <a:lstStyle/>
          <a:p>
            <a:pPr marL="0" indent="0">
              <a:buNone/>
            </a:pPr>
            <a:r>
              <a:rPr lang="en-US" sz="1200" b="1" dirty="0">
                <a:solidFill>
                  <a:srgbClr val="1A2B52"/>
                </a:solidFill>
                <a:latin typeface="Calibri" pitchFamily="34" charset="0"/>
                <a:ea typeface="Calibri" pitchFamily="34" charset="-122"/>
                <a:cs typeface="Calibri" pitchFamily="34" charset="-120"/>
              </a:rPr>
              <a:t>$161–$165</a:t>
            </a:r>
            <a:endParaRPr lang="en-US" sz="1200" dirty="0"/>
          </a:p>
        </p:txBody>
      </p:sp>
      <p:sp>
        <p:nvSpPr>
          <p:cNvPr id="51" name="Shape 49"/>
          <p:cNvSpPr/>
          <p:nvPr/>
        </p:nvSpPr>
        <p:spPr>
          <a:xfrm>
            <a:off x="4983480" y="3291840"/>
            <a:ext cx="1828800" cy="384048"/>
          </a:xfrm>
          <a:prstGeom prst="rect">
            <a:avLst/>
          </a:prstGeom>
          <a:solidFill>
            <a:srgbClr val="E8EEF8"/>
          </a:solidFill>
          <a:ln w="6350">
            <a:solidFill>
              <a:srgbClr val="D1DCF0"/>
            </a:solidFill>
            <a:prstDash val="solid"/>
          </a:ln>
        </p:spPr>
        <p:txBody>
          <a:bodyPr/>
          <a:lstStyle/>
          <a:p>
            <a:endParaRPr lang="en-US"/>
          </a:p>
        </p:txBody>
      </p:sp>
      <p:sp>
        <p:nvSpPr>
          <p:cNvPr id="52" name="Text 50"/>
          <p:cNvSpPr/>
          <p:nvPr/>
        </p:nvSpPr>
        <p:spPr>
          <a:xfrm>
            <a:off x="5056632" y="3291840"/>
            <a:ext cx="1755648" cy="384048"/>
          </a:xfrm>
          <a:prstGeom prst="rect">
            <a:avLst/>
          </a:prstGeom>
          <a:noFill/>
          <a:ln/>
        </p:spPr>
        <p:txBody>
          <a:bodyPr wrap="square" rtlCol="0" anchor="ctr"/>
          <a:lstStyle/>
          <a:p>
            <a:pPr marL="0" indent="0">
              <a:buNone/>
            </a:pPr>
            <a:r>
              <a:rPr lang="en-US" sz="1200" b="1" dirty="0">
                <a:solidFill>
                  <a:srgbClr val="1A2B52"/>
                </a:solidFill>
                <a:latin typeface="Calibri" pitchFamily="34" charset="0"/>
                <a:ea typeface="Calibri" pitchFamily="34" charset="-122"/>
                <a:cs typeface="Calibri" pitchFamily="34" charset="-120"/>
              </a:rPr>
              <a:t>$293–$300</a:t>
            </a:r>
            <a:endParaRPr lang="en-US" sz="1200" dirty="0"/>
          </a:p>
        </p:txBody>
      </p:sp>
      <p:sp>
        <p:nvSpPr>
          <p:cNvPr id="53" name="Shape 51"/>
          <p:cNvSpPr/>
          <p:nvPr/>
        </p:nvSpPr>
        <p:spPr>
          <a:xfrm>
            <a:off x="6812280" y="3291840"/>
            <a:ext cx="1828800" cy="384048"/>
          </a:xfrm>
          <a:prstGeom prst="rect">
            <a:avLst/>
          </a:prstGeom>
          <a:solidFill>
            <a:srgbClr val="E8EEF8"/>
          </a:solidFill>
          <a:ln w="6350">
            <a:solidFill>
              <a:srgbClr val="D1DCF0"/>
            </a:solidFill>
            <a:prstDash val="solid"/>
          </a:ln>
        </p:spPr>
        <p:txBody>
          <a:bodyPr/>
          <a:lstStyle/>
          <a:p>
            <a:endParaRPr lang="en-US"/>
          </a:p>
        </p:txBody>
      </p:sp>
      <p:sp>
        <p:nvSpPr>
          <p:cNvPr id="54" name="Text 52"/>
          <p:cNvSpPr/>
          <p:nvPr/>
        </p:nvSpPr>
        <p:spPr>
          <a:xfrm>
            <a:off x="6885432" y="3291840"/>
            <a:ext cx="1755648" cy="384048"/>
          </a:xfrm>
          <a:prstGeom prst="rect">
            <a:avLst/>
          </a:prstGeom>
          <a:noFill/>
          <a:ln/>
        </p:spPr>
        <p:txBody>
          <a:bodyPr wrap="square" rtlCol="0" anchor="ctr"/>
          <a:lstStyle/>
          <a:p>
            <a:pPr marL="0" indent="0">
              <a:buNone/>
            </a:pPr>
            <a:r>
              <a:rPr lang="en-US" sz="1200" b="1" dirty="0">
                <a:solidFill>
                  <a:srgbClr val="1A2B52"/>
                </a:solidFill>
                <a:latin typeface="Calibri" pitchFamily="34" charset="0"/>
                <a:ea typeface="Calibri" pitchFamily="34" charset="-122"/>
                <a:cs typeface="Calibri" pitchFamily="34" charset="-120"/>
              </a:rPr>
              <a:t>$535–$605</a:t>
            </a:r>
            <a:endParaRPr lang="en-US" sz="1200" dirty="0"/>
          </a:p>
        </p:txBody>
      </p:sp>
      <p:sp>
        <p:nvSpPr>
          <p:cNvPr id="55" name="Shape 53"/>
          <p:cNvSpPr/>
          <p:nvPr/>
        </p:nvSpPr>
        <p:spPr>
          <a:xfrm>
            <a:off x="411480" y="3675888"/>
            <a:ext cx="2743200" cy="384048"/>
          </a:xfrm>
          <a:prstGeom prst="rect">
            <a:avLst/>
          </a:prstGeom>
          <a:solidFill>
            <a:srgbClr val="F4F7FB"/>
          </a:solidFill>
          <a:ln w="6350">
            <a:solidFill>
              <a:srgbClr val="D1DCF0"/>
            </a:solidFill>
            <a:prstDash val="solid"/>
          </a:ln>
        </p:spPr>
        <p:txBody>
          <a:bodyPr/>
          <a:lstStyle/>
          <a:p>
            <a:endParaRPr lang="en-US"/>
          </a:p>
        </p:txBody>
      </p:sp>
      <p:sp>
        <p:nvSpPr>
          <p:cNvPr id="56" name="Text 54"/>
          <p:cNvSpPr/>
          <p:nvPr/>
        </p:nvSpPr>
        <p:spPr>
          <a:xfrm>
            <a:off x="484632" y="3675888"/>
            <a:ext cx="2670048" cy="384048"/>
          </a:xfrm>
          <a:prstGeom prst="rect">
            <a:avLst/>
          </a:prstGeom>
          <a:noFill/>
          <a:ln/>
        </p:spPr>
        <p:txBody>
          <a:bodyPr wrap="square" rtlCol="0" anchor="ctr"/>
          <a:lstStyle/>
          <a:p>
            <a:pPr marL="0" indent="0">
              <a:buNone/>
            </a:pPr>
            <a:r>
              <a:rPr lang="en-US" sz="1100" b="1" dirty="0">
                <a:solidFill>
                  <a:srgbClr val="2D3748"/>
                </a:solidFill>
                <a:latin typeface="Calibri" pitchFamily="34" charset="0"/>
                <a:ea typeface="Calibri" pitchFamily="34" charset="-122"/>
                <a:cs typeface="Calibri" pitchFamily="34" charset="-120"/>
              </a:rPr>
              <a:t>Gross margin</a:t>
            </a:r>
            <a:endParaRPr lang="en-US" sz="1100" dirty="0"/>
          </a:p>
        </p:txBody>
      </p:sp>
      <p:sp>
        <p:nvSpPr>
          <p:cNvPr id="57" name="Shape 55"/>
          <p:cNvSpPr/>
          <p:nvPr/>
        </p:nvSpPr>
        <p:spPr>
          <a:xfrm>
            <a:off x="3154680" y="3675888"/>
            <a:ext cx="1828800" cy="384048"/>
          </a:xfrm>
          <a:prstGeom prst="rect">
            <a:avLst/>
          </a:prstGeom>
          <a:solidFill>
            <a:srgbClr val="F4F7FB"/>
          </a:solidFill>
          <a:ln w="6350">
            <a:solidFill>
              <a:srgbClr val="D1DCF0"/>
            </a:solidFill>
            <a:prstDash val="solid"/>
          </a:ln>
        </p:spPr>
        <p:txBody>
          <a:bodyPr/>
          <a:lstStyle/>
          <a:p>
            <a:endParaRPr lang="en-US"/>
          </a:p>
        </p:txBody>
      </p:sp>
      <p:sp>
        <p:nvSpPr>
          <p:cNvPr id="58" name="Text 56"/>
          <p:cNvSpPr/>
          <p:nvPr/>
        </p:nvSpPr>
        <p:spPr>
          <a:xfrm>
            <a:off x="3227832" y="3675888"/>
            <a:ext cx="1755648" cy="384048"/>
          </a:xfrm>
          <a:prstGeom prst="rect">
            <a:avLst/>
          </a:prstGeom>
          <a:noFill/>
          <a:ln/>
        </p:spPr>
        <p:txBody>
          <a:bodyPr wrap="square" rtlCol="0" anchor="ctr"/>
          <a:lstStyle/>
          <a:p>
            <a:pPr marL="0" indent="0">
              <a:buNone/>
            </a:pPr>
            <a:r>
              <a:rPr lang="en-US" sz="1100" dirty="0">
                <a:solidFill>
                  <a:srgbClr val="007D72"/>
                </a:solidFill>
                <a:latin typeface="Calibri" pitchFamily="34" charset="0"/>
                <a:ea typeface="Calibri" pitchFamily="34" charset="-122"/>
                <a:cs typeface="Calibri" pitchFamily="34" charset="-120"/>
              </a:rPr>
              <a:t>~67%</a:t>
            </a:r>
            <a:endParaRPr lang="en-US" sz="1100" dirty="0"/>
          </a:p>
        </p:txBody>
      </p:sp>
      <p:sp>
        <p:nvSpPr>
          <p:cNvPr id="59" name="Shape 57"/>
          <p:cNvSpPr/>
          <p:nvPr/>
        </p:nvSpPr>
        <p:spPr>
          <a:xfrm>
            <a:off x="4983480" y="3675888"/>
            <a:ext cx="1828800" cy="384048"/>
          </a:xfrm>
          <a:prstGeom prst="rect">
            <a:avLst/>
          </a:prstGeom>
          <a:solidFill>
            <a:srgbClr val="F4F7FB"/>
          </a:solidFill>
          <a:ln w="6350">
            <a:solidFill>
              <a:srgbClr val="D1DCF0"/>
            </a:solidFill>
            <a:prstDash val="solid"/>
          </a:ln>
        </p:spPr>
        <p:txBody>
          <a:bodyPr/>
          <a:lstStyle/>
          <a:p>
            <a:endParaRPr lang="en-US"/>
          </a:p>
        </p:txBody>
      </p:sp>
      <p:sp>
        <p:nvSpPr>
          <p:cNvPr id="60" name="Text 58"/>
          <p:cNvSpPr/>
          <p:nvPr/>
        </p:nvSpPr>
        <p:spPr>
          <a:xfrm>
            <a:off x="5056632" y="3675888"/>
            <a:ext cx="1755648" cy="384048"/>
          </a:xfrm>
          <a:prstGeom prst="rect">
            <a:avLst/>
          </a:prstGeom>
          <a:noFill/>
          <a:ln/>
        </p:spPr>
        <p:txBody>
          <a:bodyPr wrap="square" rtlCol="0" anchor="ctr"/>
          <a:lstStyle/>
          <a:p>
            <a:pPr marL="0" indent="0">
              <a:buNone/>
            </a:pPr>
            <a:r>
              <a:rPr lang="en-US" sz="1100" dirty="0">
                <a:solidFill>
                  <a:srgbClr val="007D72"/>
                </a:solidFill>
                <a:latin typeface="Calibri" pitchFamily="34" charset="0"/>
                <a:ea typeface="Calibri" pitchFamily="34" charset="-122"/>
                <a:cs typeface="Calibri" pitchFamily="34" charset="-120"/>
              </a:rPr>
              <a:t>~75%</a:t>
            </a:r>
            <a:endParaRPr lang="en-US" sz="1100" dirty="0"/>
          </a:p>
        </p:txBody>
      </p:sp>
      <p:sp>
        <p:nvSpPr>
          <p:cNvPr id="61" name="Shape 59"/>
          <p:cNvSpPr/>
          <p:nvPr/>
        </p:nvSpPr>
        <p:spPr>
          <a:xfrm>
            <a:off x="6812280" y="3675888"/>
            <a:ext cx="1828800" cy="384048"/>
          </a:xfrm>
          <a:prstGeom prst="rect">
            <a:avLst/>
          </a:prstGeom>
          <a:solidFill>
            <a:srgbClr val="F4F7FB"/>
          </a:solidFill>
          <a:ln w="6350">
            <a:solidFill>
              <a:srgbClr val="D1DCF0"/>
            </a:solidFill>
            <a:prstDash val="solid"/>
          </a:ln>
        </p:spPr>
        <p:txBody>
          <a:bodyPr/>
          <a:lstStyle/>
          <a:p>
            <a:endParaRPr lang="en-US"/>
          </a:p>
        </p:txBody>
      </p:sp>
      <p:sp>
        <p:nvSpPr>
          <p:cNvPr id="62" name="Text 60"/>
          <p:cNvSpPr/>
          <p:nvPr/>
        </p:nvSpPr>
        <p:spPr>
          <a:xfrm>
            <a:off x="6885432" y="3675888"/>
            <a:ext cx="1755648" cy="384048"/>
          </a:xfrm>
          <a:prstGeom prst="rect">
            <a:avLst/>
          </a:prstGeom>
          <a:noFill/>
          <a:ln/>
        </p:spPr>
        <p:txBody>
          <a:bodyPr wrap="square" rtlCol="0" anchor="ctr"/>
          <a:lstStyle/>
          <a:p>
            <a:pPr marL="0" indent="0">
              <a:buNone/>
            </a:pPr>
            <a:r>
              <a:rPr lang="en-US" sz="1100" dirty="0">
                <a:solidFill>
                  <a:srgbClr val="007D72"/>
                </a:solidFill>
                <a:latin typeface="Calibri" pitchFamily="34" charset="0"/>
                <a:ea typeface="Calibri" pitchFamily="34" charset="-122"/>
                <a:cs typeface="Calibri" pitchFamily="34" charset="-120"/>
              </a:rPr>
              <a:t>~75%</a:t>
            </a:r>
            <a:endParaRPr lang="en-US" sz="1100" dirty="0"/>
          </a:p>
        </p:txBody>
      </p:sp>
      <p:sp>
        <p:nvSpPr>
          <p:cNvPr id="63" name="Shape 61"/>
          <p:cNvSpPr/>
          <p:nvPr/>
        </p:nvSpPr>
        <p:spPr>
          <a:xfrm>
            <a:off x="411480" y="4279392"/>
            <a:ext cx="8321040" cy="502920"/>
          </a:xfrm>
          <a:prstGeom prst="rect">
            <a:avLst/>
          </a:prstGeom>
          <a:solidFill>
            <a:srgbClr val="1A2B52"/>
          </a:solidFill>
          <a:ln w="12700">
            <a:solidFill>
              <a:srgbClr val="1A2B52"/>
            </a:solidFill>
            <a:prstDash val="solid"/>
          </a:ln>
        </p:spPr>
        <p:txBody>
          <a:bodyPr/>
          <a:lstStyle/>
          <a:p>
            <a:endParaRPr lang="en-US"/>
          </a:p>
        </p:txBody>
      </p:sp>
      <p:sp>
        <p:nvSpPr>
          <p:cNvPr id="64" name="Shape 62"/>
          <p:cNvSpPr/>
          <p:nvPr/>
        </p:nvSpPr>
        <p:spPr>
          <a:xfrm>
            <a:off x="411480" y="4279392"/>
            <a:ext cx="91440" cy="502920"/>
          </a:xfrm>
          <a:prstGeom prst="rect">
            <a:avLst/>
          </a:prstGeom>
          <a:solidFill>
            <a:srgbClr val="E8622A"/>
          </a:solidFill>
          <a:ln w="12700">
            <a:solidFill>
              <a:srgbClr val="E8622A"/>
            </a:solidFill>
            <a:prstDash val="solid"/>
          </a:ln>
        </p:spPr>
        <p:txBody>
          <a:bodyPr/>
          <a:lstStyle/>
          <a:p>
            <a:endParaRPr lang="en-US"/>
          </a:p>
        </p:txBody>
      </p:sp>
      <p:sp>
        <p:nvSpPr>
          <p:cNvPr id="65" name="Text 63"/>
          <p:cNvSpPr/>
          <p:nvPr/>
        </p:nvSpPr>
        <p:spPr>
          <a:xfrm>
            <a:off x="640080" y="4279392"/>
            <a:ext cx="7955280" cy="502920"/>
          </a:xfrm>
          <a:prstGeom prst="rect">
            <a:avLst/>
          </a:prstGeom>
          <a:noFill/>
          <a:ln/>
        </p:spPr>
        <p:txBody>
          <a:bodyPr wrap="square" rtlCol="0" anchor="ctr"/>
          <a:lstStyle/>
          <a:p>
            <a:r>
              <a:rPr lang="en-US" sz="1100" dirty="0">
                <a:solidFill>
                  <a:srgbClr val="D0DEF5"/>
                </a:solidFill>
                <a:latin typeface="Calibri" pitchFamily="34" charset="0"/>
                <a:cs typeface="Calibri" pitchFamily="34" charset="-120"/>
              </a:rPr>
              <a:t>Just 1–2 successful drug switches cover the entire monthly cost. If 100 members each save $75/month on prescriptions, that's $7,500 in value — for only $650/month. And because the system runs on a lightweight database rather than expensive AI calls, our own costs stay low too.</a:t>
            </a:r>
          </a:p>
        </p:txBody>
      </p:sp>
      <p:sp>
        <p:nvSpPr>
          <p:cNvPr id="67" name="Text 6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0287"/>
            <a:ext cx="9121140" cy="720090"/>
          </a:xfrm>
          <a:prstGeom prst="rect">
            <a:avLst/>
          </a:prstGeom>
          <a:solidFill>
            <a:srgbClr val="1E3257"/>
          </a:solidFill>
          <a:ln w="12700">
            <a:solidFill>
              <a:srgbClr val="1E3257"/>
            </a:solidFill>
            <a:prstDash val="solid"/>
          </a:ln>
        </p:spPr>
        <p:txBody>
          <a:bodyPr/>
          <a:lstStyle/>
          <a:p>
            <a:endParaRPr lang="en-US" sz="1350"/>
          </a:p>
        </p:txBody>
      </p:sp>
      <p:sp>
        <p:nvSpPr>
          <p:cNvPr id="5" name="Text 3"/>
          <p:cNvSpPr/>
          <p:nvPr/>
        </p:nvSpPr>
        <p:spPr>
          <a:xfrm>
            <a:off x="274320" y="41148"/>
            <a:ext cx="7338060" cy="288036"/>
          </a:xfrm>
          <a:prstGeom prst="rect">
            <a:avLst/>
          </a:prstGeom>
          <a:noFill/>
          <a:ln/>
        </p:spPr>
        <p:txBody>
          <a:bodyPr wrap="square" lIns="0" tIns="0" rIns="0" bIns="0" rtlCol="0" anchor="ctr"/>
          <a:lstStyle/>
          <a:p>
            <a:r>
              <a:rPr lang="en-US" sz="2400" b="1" dirty="0">
                <a:solidFill>
                  <a:srgbClr val="FFFFFF"/>
                </a:solidFill>
                <a:latin typeface="Calibri" pitchFamily="34" charset="0"/>
                <a:cs typeface="Calibri" pitchFamily="34" charset="-120"/>
              </a:rPr>
              <a:t>Why can't an insurer just build this themselves?</a:t>
            </a:r>
            <a:endParaRPr lang="en-US" sz="3800" b="1" dirty="0">
              <a:solidFill>
                <a:srgbClr val="FFFFFF"/>
              </a:solidFill>
              <a:latin typeface="Calibri" pitchFamily="34" charset="0"/>
              <a:cs typeface="Calibri" pitchFamily="34" charset="-120"/>
            </a:endParaRPr>
          </a:p>
        </p:txBody>
      </p:sp>
      <p:sp>
        <p:nvSpPr>
          <p:cNvPr id="6" name="Text 4"/>
          <p:cNvSpPr/>
          <p:nvPr/>
        </p:nvSpPr>
        <p:spPr>
          <a:xfrm>
            <a:off x="274320" y="377190"/>
            <a:ext cx="7338060" cy="274320"/>
          </a:xfrm>
          <a:prstGeom prst="rect">
            <a:avLst/>
          </a:prstGeom>
          <a:noFill/>
          <a:ln/>
        </p:spPr>
        <p:txBody>
          <a:bodyPr wrap="square" lIns="0" tIns="0" rIns="0" bIns="0" rtlCol="0" anchor="ctr"/>
          <a:lstStyle/>
          <a:p>
            <a:r>
              <a:rPr lang="en-US" sz="1575" b="1" dirty="0">
                <a:solidFill>
                  <a:srgbClr val="3DBFB8"/>
                </a:solidFill>
                <a:latin typeface="Calibri" pitchFamily="34" charset="0"/>
                <a:ea typeface="Calibri" pitchFamily="34" charset="-122"/>
                <a:cs typeface="Calibri" pitchFamily="34" charset="-120"/>
              </a:rPr>
              <a:t>The data is public - so what are we selling?</a:t>
            </a:r>
            <a:endParaRPr lang="en-US" sz="1575" dirty="0"/>
          </a:p>
        </p:txBody>
      </p:sp>
      <p:sp>
        <p:nvSpPr>
          <p:cNvPr id="7" name="Shape 5"/>
          <p:cNvSpPr/>
          <p:nvPr/>
        </p:nvSpPr>
        <p:spPr>
          <a:xfrm>
            <a:off x="0" y="720090"/>
            <a:ext cx="9121140" cy="17145"/>
          </a:xfrm>
          <a:prstGeom prst="rect">
            <a:avLst/>
          </a:prstGeom>
          <a:solidFill>
            <a:srgbClr val="2E4270"/>
          </a:solidFill>
          <a:ln w="12700">
            <a:solidFill>
              <a:srgbClr val="2E4270"/>
            </a:solidFill>
            <a:prstDash val="solid"/>
          </a:ln>
        </p:spPr>
        <p:txBody>
          <a:bodyPr/>
          <a:lstStyle/>
          <a:p>
            <a:endParaRPr lang="en-US" sz="1350"/>
          </a:p>
        </p:txBody>
      </p:sp>
      <p:sp>
        <p:nvSpPr>
          <p:cNvPr id="11" name="Shape 9"/>
          <p:cNvSpPr/>
          <p:nvPr/>
        </p:nvSpPr>
        <p:spPr>
          <a:xfrm>
            <a:off x="240030" y="1152144"/>
            <a:ext cx="2722626" cy="1659636"/>
          </a:xfrm>
          <a:prstGeom prst="rect">
            <a:avLst/>
          </a:prstGeom>
          <a:solidFill>
            <a:srgbClr val="243665"/>
          </a:solidFill>
          <a:ln w="7620">
            <a:solidFill>
              <a:srgbClr val="2E4270"/>
            </a:solidFill>
            <a:prstDash val="solid"/>
          </a:ln>
        </p:spPr>
        <p:txBody>
          <a:bodyPr/>
          <a:lstStyle/>
          <a:p>
            <a:endParaRPr lang="en-US" sz="1350"/>
          </a:p>
        </p:txBody>
      </p:sp>
      <p:sp>
        <p:nvSpPr>
          <p:cNvPr id="12" name="Shape 10"/>
          <p:cNvSpPr/>
          <p:nvPr/>
        </p:nvSpPr>
        <p:spPr>
          <a:xfrm>
            <a:off x="240030" y="1152144"/>
            <a:ext cx="30861" cy="1659636"/>
          </a:xfrm>
          <a:prstGeom prst="rect">
            <a:avLst/>
          </a:prstGeom>
          <a:solidFill>
            <a:srgbClr val="3DBFB8"/>
          </a:solidFill>
          <a:ln w="12700">
            <a:solidFill>
              <a:srgbClr val="3DBFB8"/>
            </a:solidFill>
            <a:prstDash val="solid"/>
          </a:ln>
        </p:spPr>
        <p:txBody>
          <a:bodyPr/>
          <a:lstStyle/>
          <a:p>
            <a:endParaRPr lang="en-US" sz="1350"/>
          </a:p>
        </p:txBody>
      </p:sp>
      <p:pic>
        <p:nvPicPr>
          <p:cNvPr id="13" name="Image 0" descr="preencoded.png"/>
          <p:cNvPicPr>
            <a:picLocks noChangeAspect="1"/>
          </p:cNvPicPr>
          <p:nvPr/>
        </p:nvPicPr>
        <p:blipFill>
          <a:blip r:embed="rId3"/>
          <a:stretch>
            <a:fillRect/>
          </a:stretch>
        </p:blipFill>
        <p:spPr>
          <a:xfrm>
            <a:off x="329184" y="1255014"/>
            <a:ext cx="205740" cy="205740"/>
          </a:xfrm>
          <a:prstGeom prst="rect">
            <a:avLst/>
          </a:prstGeom>
        </p:spPr>
      </p:pic>
      <p:sp>
        <p:nvSpPr>
          <p:cNvPr id="14" name="Text 11"/>
          <p:cNvSpPr/>
          <p:nvPr/>
        </p:nvSpPr>
        <p:spPr>
          <a:xfrm>
            <a:off x="582930" y="1234440"/>
            <a:ext cx="2311146"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They can - but they won't</a:t>
            </a:r>
            <a:endParaRPr lang="en-US" sz="1200" dirty="0"/>
          </a:p>
        </p:txBody>
      </p:sp>
      <p:sp>
        <p:nvSpPr>
          <p:cNvPr id="15" name="Shape 12"/>
          <p:cNvSpPr/>
          <p:nvPr/>
        </p:nvSpPr>
        <p:spPr>
          <a:xfrm>
            <a:off x="329184" y="1495044"/>
            <a:ext cx="2551176" cy="10287"/>
          </a:xfrm>
          <a:prstGeom prst="rect">
            <a:avLst/>
          </a:prstGeom>
          <a:solidFill>
            <a:srgbClr val="2E4270"/>
          </a:solidFill>
          <a:ln w="12700">
            <a:solidFill>
              <a:srgbClr val="2E4270"/>
            </a:solidFill>
            <a:prstDash val="solid"/>
          </a:ln>
        </p:spPr>
        <p:txBody>
          <a:bodyPr/>
          <a:lstStyle/>
          <a:p>
            <a:endParaRPr lang="en-US" sz="1350"/>
          </a:p>
        </p:txBody>
      </p:sp>
      <p:sp>
        <p:nvSpPr>
          <p:cNvPr id="16" name="Text 13"/>
          <p:cNvSpPr/>
          <p:nvPr/>
        </p:nvSpPr>
        <p:spPr>
          <a:xfrm>
            <a:off x="462915" y="1675066"/>
            <a:ext cx="2417445" cy="828104"/>
          </a:xfrm>
          <a:prstGeom prst="rect">
            <a:avLst/>
          </a:prstGeom>
          <a:noFill/>
          <a:ln/>
        </p:spPr>
        <p:txBody>
          <a:bodyPr wrap="square" lIns="0" tIns="0" rIns="0" bIns="0" rtlCol="0" anchor="t"/>
          <a:lstStyle/>
          <a:p>
            <a:r>
              <a:rPr lang="en-US" sz="1050" dirty="0">
                <a:solidFill>
                  <a:srgbClr val="C8D0E0"/>
                </a:solidFill>
                <a:latin typeface="Calibri" pitchFamily="34" charset="0"/>
                <a:ea typeface="Calibri" pitchFamily="34" charset="-122"/>
                <a:cs typeface="Calibri" pitchFamily="34" charset="-120"/>
              </a:rPr>
              <a:t>Internal IT projects take 12–24 months and $500K–$2M+ in engineering costs. PharmaFlow works today at $650/mo. </a:t>
            </a:r>
          </a:p>
          <a:p>
            <a:r>
              <a:rPr lang="en-US" sz="1050" dirty="0">
                <a:solidFill>
                  <a:srgbClr val="C8D0E0"/>
                </a:solidFill>
                <a:latin typeface="Calibri" pitchFamily="34" charset="0"/>
                <a:ea typeface="Calibri" pitchFamily="34" charset="-122"/>
                <a:cs typeface="Calibri" pitchFamily="34" charset="-120"/>
              </a:rPr>
              <a:t>Speed and opportunity cost win.</a:t>
            </a:r>
            <a:endParaRPr lang="en-US" sz="1050" dirty="0"/>
          </a:p>
        </p:txBody>
      </p:sp>
      <p:sp>
        <p:nvSpPr>
          <p:cNvPr id="17" name="Shape 14"/>
          <p:cNvSpPr/>
          <p:nvPr/>
        </p:nvSpPr>
        <p:spPr>
          <a:xfrm>
            <a:off x="3014091" y="1152144"/>
            <a:ext cx="2722626" cy="1659636"/>
          </a:xfrm>
          <a:prstGeom prst="rect">
            <a:avLst/>
          </a:prstGeom>
          <a:solidFill>
            <a:srgbClr val="243665"/>
          </a:solidFill>
          <a:ln w="7620">
            <a:solidFill>
              <a:srgbClr val="2E4270"/>
            </a:solidFill>
            <a:prstDash val="solid"/>
          </a:ln>
        </p:spPr>
        <p:txBody>
          <a:bodyPr/>
          <a:lstStyle/>
          <a:p>
            <a:endParaRPr lang="en-US" sz="1350"/>
          </a:p>
        </p:txBody>
      </p:sp>
      <p:sp>
        <p:nvSpPr>
          <p:cNvPr id="18" name="Shape 15"/>
          <p:cNvSpPr/>
          <p:nvPr/>
        </p:nvSpPr>
        <p:spPr>
          <a:xfrm>
            <a:off x="3014091" y="1152144"/>
            <a:ext cx="30861" cy="1659636"/>
          </a:xfrm>
          <a:prstGeom prst="rect">
            <a:avLst/>
          </a:prstGeom>
          <a:solidFill>
            <a:srgbClr val="3DBFB8"/>
          </a:solidFill>
          <a:ln w="12700">
            <a:solidFill>
              <a:srgbClr val="3DBFB8"/>
            </a:solidFill>
            <a:prstDash val="solid"/>
          </a:ln>
        </p:spPr>
        <p:txBody>
          <a:bodyPr/>
          <a:lstStyle/>
          <a:p>
            <a:endParaRPr lang="en-US" sz="1350"/>
          </a:p>
        </p:txBody>
      </p:sp>
      <p:pic>
        <p:nvPicPr>
          <p:cNvPr id="19" name="Image 1" descr="preencoded.png"/>
          <p:cNvPicPr>
            <a:picLocks noChangeAspect="1"/>
          </p:cNvPicPr>
          <p:nvPr/>
        </p:nvPicPr>
        <p:blipFill>
          <a:blip r:embed="rId4"/>
          <a:stretch>
            <a:fillRect/>
          </a:stretch>
        </p:blipFill>
        <p:spPr>
          <a:xfrm>
            <a:off x="3103245" y="1255014"/>
            <a:ext cx="205740" cy="205740"/>
          </a:xfrm>
          <a:prstGeom prst="rect">
            <a:avLst/>
          </a:prstGeom>
        </p:spPr>
      </p:pic>
      <p:sp>
        <p:nvSpPr>
          <p:cNvPr id="20" name="Text 16"/>
          <p:cNvSpPr/>
          <p:nvPr/>
        </p:nvSpPr>
        <p:spPr>
          <a:xfrm>
            <a:off x="3356991" y="1234440"/>
            <a:ext cx="2311146"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Public data ≠ working product</a:t>
            </a:r>
            <a:endParaRPr lang="en-US" sz="1200" dirty="0"/>
          </a:p>
        </p:txBody>
      </p:sp>
      <p:sp>
        <p:nvSpPr>
          <p:cNvPr id="21" name="Shape 17"/>
          <p:cNvSpPr/>
          <p:nvPr/>
        </p:nvSpPr>
        <p:spPr>
          <a:xfrm>
            <a:off x="3103245" y="1495044"/>
            <a:ext cx="2551176" cy="10287"/>
          </a:xfrm>
          <a:prstGeom prst="rect">
            <a:avLst/>
          </a:prstGeom>
          <a:solidFill>
            <a:srgbClr val="2E4270"/>
          </a:solidFill>
          <a:ln w="12700">
            <a:solidFill>
              <a:srgbClr val="2E4270"/>
            </a:solidFill>
            <a:prstDash val="solid"/>
          </a:ln>
        </p:spPr>
        <p:txBody>
          <a:bodyPr/>
          <a:lstStyle/>
          <a:p>
            <a:endParaRPr lang="en-US" sz="1350"/>
          </a:p>
        </p:txBody>
      </p:sp>
      <p:sp>
        <p:nvSpPr>
          <p:cNvPr id="22" name="Text 18"/>
          <p:cNvSpPr/>
          <p:nvPr/>
        </p:nvSpPr>
        <p:spPr>
          <a:xfrm>
            <a:off x="3116961" y="1675066"/>
            <a:ext cx="2551176" cy="771525"/>
          </a:xfrm>
          <a:prstGeom prst="rect">
            <a:avLst/>
          </a:prstGeom>
          <a:noFill/>
          <a:ln/>
        </p:spPr>
        <p:txBody>
          <a:bodyPr wrap="square" lIns="0" tIns="0" rIns="0" bIns="0" rtlCol="0" anchor="t"/>
          <a:lstStyle/>
          <a:p>
            <a:r>
              <a:rPr lang="en-US" sz="1050" dirty="0">
                <a:solidFill>
                  <a:srgbClr val="C8D0E0"/>
                </a:solidFill>
                <a:latin typeface="Calibri" pitchFamily="34" charset="0"/>
                <a:ea typeface="Calibri" pitchFamily="34" charset="-122"/>
                <a:cs typeface="Calibri" pitchFamily="34" charset="-120"/>
              </a:rPr>
              <a:t>Orange Book &amp; NADAC are free. So is Excel but companies still buy Tableau. The value is the multi-agent pipeline, risk-adjustment loop, and Switch Package generator built on top.</a:t>
            </a:r>
            <a:endParaRPr lang="en-US" sz="1050" dirty="0"/>
          </a:p>
        </p:txBody>
      </p:sp>
      <p:sp>
        <p:nvSpPr>
          <p:cNvPr id="23" name="Shape 19"/>
          <p:cNvSpPr/>
          <p:nvPr/>
        </p:nvSpPr>
        <p:spPr>
          <a:xfrm>
            <a:off x="5788152" y="1152144"/>
            <a:ext cx="2722626" cy="1659636"/>
          </a:xfrm>
          <a:prstGeom prst="rect">
            <a:avLst/>
          </a:prstGeom>
          <a:solidFill>
            <a:srgbClr val="1C3460"/>
          </a:solidFill>
          <a:ln w="15240">
            <a:solidFill>
              <a:srgbClr val="E8622A"/>
            </a:solidFill>
            <a:prstDash val="solid"/>
          </a:ln>
        </p:spPr>
        <p:txBody>
          <a:bodyPr/>
          <a:lstStyle/>
          <a:p>
            <a:endParaRPr lang="en-US" sz="1350"/>
          </a:p>
        </p:txBody>
      </p:sp>
      <p:sp>
        <p:nvSpPr>
          <p:cNvPr id="24" name="Shape 20"/>
          <p:cNvSpPr/>
          <p:nvPr/>
        </p:nvSpPr>
        <p:spPr>
          <a:xfrm>
            <a:off x="5788152" y="1152144"/>
            <a:ext cx="30861" cy="1659636"/>
          </a:xfrm>
          <a:prstGeom prst="rect">
            <a:avLst/>
          </a:prstGeom>
          <a:solidFill>
            <a:srgbClr val="E8622A"/>
          </a:solidFill>
          <a:ln w="12700">
            <a:solidFill>
              <a:srgbClr val="E8622A"/>
            </a:solidFill>
            <a:prstDash val="solid"/>
          </a:ln>
        </p:spPr>
        <p:txBody>
          <a:bodyPr/>
          <a:lstStyle/>
          <a:p>
            <a:endParaRPr lang="en-US" sz="1350"/>
          </a:p>
        </p:txBody>
      </p:sp>
      <p:pic>
        <p:nvPicPr>
          <p:cNvPr id="25" name="Image 2" descr="preencoded.png"/>
          <p:cNvPicPr>
            <a:picLocks noChangeAspect="1"/>
          </p:cNvPicPr>
          <p:nvPr/>
        </p:nvPicPr>
        <p:blipFill>
          <a:blip r:embed="rId5"/>
          <a:stretch>
            <a:fillRect/>
          </a:stretch>
        </p:blipFill>
        <p:spPr>
          <a:xfrm>
            <a:off x="5877306" y="1255014"/>
            <a:ext cx="205740" cy="205740"/>
          </a:xfrm>
          <a:prstGeom prst="rect">
            <a:avLst/>
          </a:prstGeom>
        </p:spPr>
      </p:pic>
      <p:sp>
        <p:nvSpPr>
          <p:cNvPr id="26" name="Text 21"/>
          <p:cNvSpPr/>
          <p:nvPr/>
        </p:nvSpPr>
        <p:spPr>
          <a:xfrm>
            <a:off x="6131052" y="1234440"/>
            <a:ext cx="2311146"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Build vs. buy math is brutal</a:t>
            </a:r>
            <a:endParaRPr lang="en-US" sz="1200" dirty="0"/>
          </a:p>
        </p:txBody>
      </p:sp>
      <p:sp>
        <p:nvSpPr>
          <p:cNvPr id="27" name="Shape 22"/>
          <p:cNvSpPr/>
          <p:nvPr/>
        </p:nvSpPr>
        <p:spPr>
          <a:xfrm>
            <a:off x="5877306" y="1495044"/>
            <a:ext cx="2551176" cy="10287"/>
          </a:xfrm>
          <a:prstGeom prst="rect">
            <a:avLst/>
          </a:prstGeom>
          <a:solidFill>
            <a:srgbClr val="2E4270"/>
          </a:solidFill>
          <a:ln w="12700">
            <a:solidFill>
              <a:srgbClr val="2E4270"/>
            </a:solidFill>
            <a:prstDash val="solid"/>
          </a:ln>
        </p:spPr>
        <p:txBody>
          <a:bodyPr/>
          <a:lstStyle/>
          <a:p>
            <a:endParaRPr lang="en-US" sz="1350"/>
          </a:p>
        </p:txBody>
      </p:sp>
      <p:sp>
        <p:nvSpPr>
          <p:cNvPr id="28" name="Text 23"/>
          <p:cNvSpPr/>
          <p:nvPr/>
        </p:nvSpPr>
        <p:spPr>
          <a:xfrm>
            <a:off x="5877306" y="1676771"/>
            <a:ext cx="2551176" cy="822960"/>
          </a:xfrm>
          <a:prstGeom prst="rect">
            <a:avLst/>
          </a:prstGeom>
          <a:noFill/>
          <a:ln/>
        </p:spPr>
        <p:txBody>
          <a:bodyPr wrap="square" lIns="0" tIns="0" rIns="0" bIns="0" rtlCol="0" anchor="t"/>
          <a:lstStyle/>
          <a:p>
            <a:r>
              <a:rPr lang="en-US" sz="1050" dirty="0">
                <a:solidFill>
                  <a:srgbClr val="C8D0E0"/>
                </a:solidFill>
                <a:latin typeface="Calibri" pitchFamily="34" charset="0"/>
                <a:ea typeface="Calibri" pitchFamily="34" charset="-122"/>
                <a:cs typeface="Calibri" pitchFamily="34" charset="-120"/>
              </a:rPr>
              <a:t>1 data engineer + 1 ML engineer + compliance = ~$300K/yr minimum. Gold plan = $7,800/yr. The internal team needs to deliver in ~10 days of equivalent value. That won't happen.</a:t>
            </a:r>
            <a:endParaRPr lang="en-US" sz="1050" dirty="0"/>
          </a:p>
        </p:txBody>
      </p:sp>
      <p:sp>
        <p:nvSpPr>
          <p:cNvPr id="29" name="Shape 24"/>
          <p:cNvSpPr/>
          <p:nvPr/>
        </p:nvSpPr>
        <p:spPr>
          <a:xfrm>
            <a:off x="240030" y="2873502"/>
            <a:ext cx="2722626" cy="1659636"/>
          </a:xfrm>
          <a:prstGeom prst="rect">
            <a:avLst/>
          </a:prstGeom>
          <a:solidFill>
            <a:srgbClr val="243665"/>
          </a:solidFill>
          <a:ln w="7620">
            <a:solidFill>
              <a:srgbClr val="2E4270"/>
            </a:solidFill>
            <a:prstDash val="solid"/>
          </a:ln>
        </p:spPr>
        <p:txBody>
          <a:bodyPr/>
          <a:lstStyle/>
          <a:p>
            <a:endParaRPr lang="en-US" sz="1350"/>
          </a:p>
        </p:txBody>
      </p:sp>
      <p:sp>
        <p:nvSpPr>
          <p:cNvPr id="30" name="Shape 25"/>
          <p:cNvSpPr/>
          <p:nvPr/>
        </p:nvSpPr>
        <p:spPr>
          <a:xfrm>
            <a:off x="240030" y="2873502"/>
            <a:ext cx="30861" cy="1659636"/>
          </a:xfrm>
          <a:prstGeom prst="rect">
            <a:avLst/>
          </a:prstGeom>
          <a:solidFill>
            <a:srgbClr val="3DBFB8"/>
          </a:solidFill>
          <a:ln w="12700">
            <a:solidFill>
              <a:srgbClr val="3DBFB8"/>
            </a:solidFill>
            <a:prstDash val="solid"/>
          </a:ln>
        </p:spPr>
        <p:txBody>
          <a:bodyPr/>
          <a:lstStyle/>
          <a:p>
            <a:endParaRPr lang="en-US" sz="1350"/>
          </a:p>
        </p:txBody>
      </p:sp>
      <p:pic>
        <p:nvPicPr>
          <p:cNvPr id="31" name="Image 3" descr="preencoded.png"/>
          <p:cNvPicPr>
            <a:picLocks noChangeAspect="1"/>
          </p:cNvPicPr>
          <p:nvPr/>
        </p:nvPicPr>
        <p:blipFill>
          <a:blip r:embed="rId6"/>
          <a:stretch>
            <a:fillRect/>
          </a:stretch>
        </p:blipFill>
        <p:spPr>
          <a:xfrm>
            <a:off x="329184" y="2976372"/>
            <a:ext cx="205740" cy="205740"/>
          </a:xfrm>
          <a:prstGeom prst="rect">
            <a:avLst/>
          </a:prstGeom>
        </p:spPr>
      </p:pic>
      <p:sp>
        <p:nvSpPr>
          <p:cNvPr id="32" name="Text 26"/>
          <p:cNvSpPr/>
          <p:nvPr/>
        </p:nvSpPr>
        <p:spPr>
          <a:xfrm>
            <a:off x="582930" y="2955798"/>
            <a:ext cx="2311146"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Maintenance is the hidden cost</a:t>
            </a:r>
            <a:endParaRPr lang="en-US" sz="1200" dirty="0"/>
          </a:p>
        </p:txBody>
      </p:sp>
      <p:sp>
        <p:nvSpPr>
          <p:cNvPr id="33" name="Shape 27"/>
          <p:cNvSpPr/>
          <p:nvPr/>
        </p:nvSpPr>
        <p:spPr>
          <a:xfrm>
            <a:off x="329184" y="3216402"/>
            <a:ext cx="2551176" cy="10287"/>
          </a:xfrm>
          <a:prstGeom prst="rect">
            <a:avLst/>
          </a:prstGeom>
          <a:solidFill>
            <a:srgbClr val="2E4270"/>
          </a:solidFill>
          <a:ln w="12700">
            <a:solidFill>
              <a:srgbClr val="2E4270"/>
            </a:solidFill>
            <a:prstDash val="solid"/>
          </a:ln>
        </p:spPr>
        <p:txBody>
          <a:bodyPr/>
          <a:lstStyle/>
          <a:p>
            <a:endParaRPr lang="en-US" sz="1350"/>
          </a:p>
        </p:txBody>
      </p:sp>
      <p:sp>
        <p:nvSpPr>
          <p:cNvPr id="34" name="Text 28"/>
          <p:cNvSpPr/>
          <p:nvPr/>
        </p:nvSpPr>
        <p:spPr>
          <a:xfrm>
            <a:off x="342900" y="3361827"/>
            <a:ext cx="2551176" cy="894260"/>
          </a:xfrm>
          <a:prstGeom prst="rect">
            <a:avLst/>
          </a:prstGeom>
          <a:noFill/>
          <a:ln/>
        </p:spPr>
        <p:txBody>
          <a:bodyPr wrap="square" lIns="0" tIns="0" rIns="0" bIns="0" rtlCol="0" anchor="t"/>
          <a:lstStyle/>
          <a:p>
            <a:r>
              <a:rPr lang="en-US" sz="1050" dirty="0">
                <a:solidFill>
                  <a:srgbClr val="C8D0E0"/>
                </a:solidFill>
                <a:latin typeface="Calibri" pitchFamily="34" charset="0"/>
                <a:ea typeface="Calibri" pitchFamily="34" charset="-122"/>
                <a:cs typeface="Calibri" pitchFamily="34" charset="-120"/>
              </a:rPr>
              <a:t>FDA Orange Book updates. NADAC pricing refreshes. NDC code changes. New generic approvals. CMS formulary shifts. We handle all of that continuously, an internal team has to staff it forever.</a:t>
            </a:r>
            <a:endParaRPr lang="en-US" sz="1050" dirty="0"/>
          </a:p>
        </p:txBody>
      </p:sp>
      <p:sp>
        <p:nvSpPr>
          <p:cNvPr id="35" name="Shape 29"/>
          <p:cNvSpPr/>
          <p:nvPr/>
        </p:nvSpPr>
        <p:spPr>
          <a:xfrm>
            <a:off x="3014091" y="2873502"/>
            <a:ext cx="2722626" cy="1659636"/>
          </a:xfrm>
          <a:prstGeom prst="rect">
            <a:avLst/>
          </a:prstGeom>
          <a:solidFill>
            <a:srgbClr val="1C3460"/>
          </a:solidFill>
          <a:ln w="15240">
            <a:solidFill>
              <a:srgbClr val="E8622A"/>
            </a:solidFill>
            <a:prstDash val="solid"/>
          </a:ln>
        </p:spPr>
        <p:txBody>
          <a:bodyPr/>
          <a:lstStyle/>
          <a:p>
            <a:endParaRPr lang="en-US" sz="1350"/>
          </a:p>
        </p:txBody>
      </p:sp>
      <p:sp>
        <p:nvSpPr>
          <p:cNvPr id="36" name="Shape 30"/>
          <p:cNvSpPr/>
          <p:nvPr/>
        </p:nvSpPr>
        <p:spPr>
          <a:xfrm>
            <a:off x="3014091" y="2873502"/>
            <a:ext cx="30861" cy="1659636"/>
          </a:xfrm>
          <a:prstGeom prst="rect">
            <a:avLst/>
          </a:prstGeom>
          <a:solidFill>
            <a:srgbClr val="E8622A"/>
          </a:solidFill>
          <a:ln w="12700">
            <a:solidFill>
              <a:srgbClr val="E8622A"/>
            </a:solidFill>
            <a:prstDash val="solid"/>
          </a:ln>
        </p:spPr>
        <p:txBody>
          <a:bodyPr/>
          <a:lstStyle/>
          <a:p>
            <a:endParaRPr lang="en-US" sz="1350"/>
          </a:p>
        </p:txBody>
      </p:sp>
      <p:pic>
        <p:nvPicPr>
          <p:cNvPr id="37" name="Image 4" descr="preencoded.png"/>
          <p:cNvPicPr>
            <a:picLocks noChangeAspect="1"/>
          </p:cNvPicPr>
          <p:nvPr/>
        </p:nvPicPr>
        <p:blipFill>
          <a:blip r:embed="rId7"/>
          <a:stretch>
            <a:fillRect/>
          </a:stretch>
        </p:blipFill>
        <p:spPr>
          <a:xfrm>
            <a:off x="3103245" y="2976372"/>
            <a:ext cx="205740" cy="205740"/>
          </a:xfrm>
          <a:prstGeom prst="rect">
            <a:avLst/>
          </a:prstGeom>
        </p:spPr>
      </p:pic>
      <p:sp>
        <p:nvSpPr>
          <p:cNvPr id="38" name="Text 31"/>
          <p:cNvSpPr/>
          <p:nvPr/>
        </p:nvSpPr>
        <p:spPr>
          <a:xfrm>
            <a:off x="3356991" y="2955798"/>
            <a:ext cx="2311146"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Clinical nuance is the real moat</a:t>
            </a:r>
            <a:endParaRPr lang="en-US" sz="1200" dirty="0"/>
          </a:p>
        </p:txBody>
      </p:sp>
      <p:sp>
        <p:nvSpPr>
          <p:cNvPr id="39" name="Shape 32"/>
          <p:cNvSpPr/>
          <p:nvPr/>
        </p:nvSpPr>
        <p:spPr>
          <a:xfrm>
            <a:off x="3103245" y="3216402"/>
            <a:ext cx="2551176" cy="10287"/>
          </a:xfrm>
          <a:prstGeom prst="rect">
            <a:avLst/>
          </a:prstGeom>
          <a:solidFill>
            <a:srgbClr val="2E4270"/>
          </a:solidFill>
          <a:ln w="12700">
            <a:solidFill>
              <a:srgbClr val="2E4270"/>
            </a:solidFill>
            <a:prstDash val="solid"/>
          </a:ln>
        </p:spPr>
        <p:txBody>
          <a:bodyPr/>
          <a:lstStyle/>
          <a:p>
            <a:endParaRPr lang="en-US" sz="1350"/>
          </a:p>
        </p:txBody>
      </p:sp>
      <p:sp>
        <p:nvSpPr>
          <p:cNvPr id="40" name="Text 33"/>
          <p:cNvSpPr/>
          <p:nvPr/>
        </p:nvSpPr>
        <p:spPr>
          <a:xfrm>
            <a:off x="3115246" y="3359509"/>
            <a:ext cx="2551176" cy="1007417"/>
          </a:xfrm>
          <a:prstGeom prst="rect">
            <a:avLst/>
          </a:prstGeom>
          <a:noFill/>
          <a:ln/>
        </p:spPr>
        <p:txBody>
          <a:bodyPr wrap="square" lIns="0" tIns="0" rIns="0" bIns="0" rtlCol="0" anchor="t"/>
          <a:lstStyle/>
          <a:p>
            <a:r>
              <a:rPr lang="en-US" sz="1050" dirty="0">
                <a:solidFill>
                  <a:srgbClr val="C8D0E0"/>
                </a:solidFill>
                <a:latin typeface="Calibri" pitchFamily="34" charset="0"/>
                <a:ea typeface="Calibri" pitchFamily="34" charset="-122"/>
                <a:cs typeface="Calibri" pitchFamily="34" charset="-120"/>
              </a:rPr>
              <a:t>Public data tells you what drugs cost. It doesn't tell you which switches are clinically risky, how adherence varies by drug class, or how pharmacy access interacts with member geography. That's our IP.</a:t>
            </a:r>
            <a:endParaRPr lang="en-US" sz="1050" dirty="0"/>
          </a:p>
        </p:txBody>
      </p:sp>
      <p:sp>
        <p:nvSpPr>
          <p:cNvPr id="41" name="Shape 34"/>
          <p:cNvSpPr/>
          <p:nvPr/>
        </p:nvSpPr>
        <p:spPr>
          <a:xfrm>
            <a:off x="5788152" y="2873502"/>
            <a:ext cx="2722626" cy="1659636"/>
          </a:xfrm>
          <a:prstGeom prst="rect">
            <a:avLst/>
          </a:prstGeom>
          <a:solidFill>
            <a:srgbClr val="243665"/>
          </a:solidFill>
          <a:ln w="7620">
            <a:solidFill>
              <a:srgbClr val="2E4270"/>
            </a:solidFill>
            <a:prstDash val="solid"/>
          </a:ln>
        </p:spPr>
        <p:txBody>
          <a:bodyPr/>
          <a:lstStyle/>
          <a:p>
            <a:endParaRPr lang="en-US" sz="1350"/>
          </a:p>
        </p:txBody>
      </p:sp>
      <p:sp>
        <p:nvSpPr>
          <p:cNvPr id="42" name="Shape 35"/>
          <p:cNvSpPr/>
          <p:nvPr/>
        </p:nvSpPr>
        <p:spPr>
          <a:xfrm>
            <a:off x="5788152" y="2873502"/>
            <a:ext cx="30861" cy="1659636"/>
          </a:xfrm>
          <a:prstGeom prst="rect">
            <a:avLst/>
          </a:prstGeom>
          <a:solidFill>
            <a:srgbClr val="3DBFB8"/>
          </a:solidFill>
          <a:ln w="12700">
            <a:solidFill>
              <a:srgbClr val="3DBFB8"/>
            </a:solidFill>
            <a:prstDash val="solid"/>
          </a:ln>
        </p:spPr>
        <p:txBody>
          <a:bodyPr/>
          <a:lstStyle/>
          <a:p>
            <a:endParaRPr lang="en-US" sz="1350"/>
          </a:p>
        </p:txBody>
      </p:sp>
      <p:pic>
        <p:nvPicPr>
          <p:cNvPr id="43" name="Image 5" descr="preencoded.png"/>
          <p:cNvPicPr>
            <a:picLocks noChangeAspect="1"/>
          </p:cNvPicPr>
          <p:nvPr/>
        </p:nvPicPr>
        <p:blipFill>
          <a:blip r:embed="rId8"/>
          <a:stretch>
            <a:fillRect/>
          </a:stretch>
        </p:blipFill>
        <p:spPr>
          <a:xfrm>
            <a:off x="5877306" y="2976372"/>
            <a:ext cx="205740" cy="205740"/>
          </a:xfrm>
          <a:prstGeom prst="rect">
            <a:avLst/>
          </a:prstGeom>
        </p:spPr>
      </p:pic>
      <p:sp>
        <p:nvSpPr>
          <p:cNvPr id="44" name="Text 36"/>
          <p:cNvSpPr/>
          <p:nvPr/>
        </p:nvSpPr>
        <p:spPr>
          <a:xfrm>
            <a:off x="6131052" y="2955798"/>
            <a:ext cx="2311146"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Insurers aren't software companies</a:t>
            </a:r>
            <a:endParaRPr lang="en-US" sz="1200" dirty="0"/>
          </a:p>
        </p:txBody>
      </p:sp>
      <p:sp>
        <p:nvSpPr>
          <p:cNvPr id="45" name="Shape 37"/>
          <p:cNvSpPr/>
          <p:nvPr/>
        </p:nvSpPr>
        <p:spPr>
          <a:xfrm>
            <a:off x="5877306" y="3216402"/>
            <a:ext cx="2551176" cy="10287"/>
          </a:xfrm>
          <a:prstGeom prst="rect">
            <a:avLst/>
          </a:prstGeom>
          <a:solidFill>
            <a:srgbClr val="2E4270"/>
          </a:solidFill>
          <a:ln w="12700">
            <a:solidFill>
              <a:srgbClr val="2E4270"/>
            </a:solidFill>
            <a:prstDash val="solid"/>
          </a:ln>
        </p:spPr>
        <p:txBody>
          <a:bodyPr/>
          <a:lstStyle/>
          <a:p>
            <a:endParaRPr lang="en-US" sz="1350"/>
          </a:p>
        </p:txBody>
      </p:sp>
      <p:sp>
        <p:nvSpPr>
          <p:cNvPr id="46" name="Text 38"/>
          <p:cNvSpPr/>
          <p:nvPr/>
        </p:nvSpPr>
        <p:spPr>
          <a:xfrm>
            <a:off x="5870448" y="3361526"/>
            <a:ext cx="2551176" cy="877824"/>
          </a:xfrm>
          <a:prstGeom prst="rect">
            <a:avLst/>
          </a:prstGeom>
          <a:noFill/>
          <a:ln/>
        </p:spPr>
        <p:txBody>
          <a:bodyPr wrap="square" lIns="0" tIns="0" rIns="0" bIns="0" rtlCol="0" anchor="t"/>
          <a:lstStyle/>
          <a:p>
            <a:r>
              <a:rPr lang="en-US" sz="1050" dirty="0">
                <a:solidFill>
                  <a:srgbClr val="C8D0E0"/>
                </a:solidFill>
                <a:latin typeface="Calibri" pitchFamily="34" charset="0"/>
                <a:ea typeface="Calibri" pitchFamily="34" charset="-122"/>
                <a:cs typeface="Calibri" pitchFamily="34" charset="-120"/>
              </a:rPr>
              <a:t>They are underwriters and risk managers. Building and maintaining a multi-agent AI pipeline is outside their core competency,  even if they started today, they'd relearn lessons we've already solved.</a:t>
            </a:r>
            <a:endParaRPr lang="en-US" sz="1050" dirty="0"/>
          </a:p>
        </p:txBody>
      </p:sp>
      <p:sp>
        <p:nvSpPr>
          <p:cNvPr id="48" name="Text 40"/>
          <p:cNvSpPr/>
          <p:nvPr/>
        </p:nvSpPr>
        <p:spPr>
          <a:xfrm>
            <a:off x="0" y="4903470"/>
            <a:ext cx="9121140" cy="240030"/>
          </a:xfrm>
          <a:prstGeom prst="rect">
            <a:avLst/>
          </a:prstGeom>
          <a:noFill/>
          <a:ln/>
        </p:spPr>
        <p:txBody>
          <a:bodyPr wrap="square" lIns="0" tIns="0" rIns="0" bIns="0" rtlCol="0" anchor="ctr"/>
          <a:lstStyle/>
          <a:p>
            <a:pPr algn="ctr"/>
            <a:r>
              <a:rPr lang="en-US" sz="638" b="1" kern="0" spc="75" dirty="0">
                <a:solidFill>
                  <a:srgbClr val="FFFFFF"/>
                </a:solidFill>
                <a:latin typeface="Calibri" pitchFamily="34" charset="0"/>
                <a:ea typeface="Calibri" pitchFamily="34" charset="-122"/>
                <a:cs typeface="Calibri" pitchFamily="34" charset="-120"/>
              </a:rPr>
              <a:t>PHARMAFLOW AI  ·  COLUMBIA UNIVERSITY AGENTIC AI CAPSTONE  ·  2026  ·  SYNTHETIC DEMO DATA ONLY — NOT CLINICAL DECISION SUPPORT</a:t>
            </a:r>
            <a:endParaRPr lang="en-US" sz="638" dirty="0"/>
          </a:p>
        </p:txBody>
      </p:sp>
      <p:sp>
        <p:nvSpPr>
          <p:cNvPr id="49" name="Text 24">
            <a:extLst>
              <a:ext uri="{FF2B5EF4-FFF2-40B4-BE49-F238E27FC236}">
                <a16:creationId xmlns:a16="http://schemas.microsoft.com/office/drawing/2014/main" id="{D1CEEB31-238C-E263-FDDC-4833A1513C18}"/>
              </a:ext>
            </a:extLst>
          </p:cNvPr>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B52"/>
        </a:solidFill>
        <a:effectLst/>
      </p:bgPr>
    </p:bg>
    <p:spTree>
      <p:nvGrpSpPr>
        <p:cNvPr id="1" name="">
          <a:extLst>
            <a:ext uri="{FF2B5EF4-FFF2-40B4-BE49-F238E27FC236}">
              <a16:creationId xmlns:a16="http://schemas.microsoft.com/office/drawing/2014/main" id="{50F9C7F5-8ABE-0258-69CE-D2C4D014E9EA}"/>
            </a:ext>
          </a:extLst>
        </p:cNvPr>
        <p:cNvGrpSpPr/>
        <p:nvPr/>
      </p:nvGrpSpPr>
      <p:grpSpPr>
        <a:xfrm>
          <a:off x="0" y="0"/>
          <a:ext cx="0" cy="0"/>
          <a:chOff x="0" y="0"/>
          <a:chExt cx="0" cy="0"/>
        </a:xfrm>
      </p:grpSpPr>
      <p:sp>
        <p:nvSpPr>
          <p:cNvPr id="21" name="Shape 0">
            <a:extLst>
              <a:ext uri="{FF2B5EF4-FFF2-40B4-BE49-F238E27FC236}">
                <a16:creationId xmlns:a16="http://schemas.microsoft.com/office/drawing/2014/main" id="{D8CA2283-EEBF-127B-9AE5-90BB4EB4347F}"/>
              </a:ext>
            </a:extLst>
          </p:cNvPr>
          <p:cNvSpPr/>
          <p:nvPr/>
        </p:nvSpPr>
        <p:spPr>
          <a:xfrm>
            <a:off x="11430" y="0"/>
            <a:ext cx="9121140" cy="720090"/>
          </a:xfrm>
          <a:prstGeom prst="rect">
            <a:avLst/>
          </a:prstGeom>
          <a:solidFill>
            <a:srgbClr val="1E3257"/>
          </a:solidFill>
          <a:ln w="12700">
            <a:solidFill>
              <a:srgbClr val="1E3257"/>
            </a:solidFill>
            <a:prstDash val="solid"/>
          </a:ln>
        </p:spPr>
        <p:txBody>
          <a:bodyPr/>
          <a:lstStyle/>
          <a:p>
            <a:endParaRPr lang="en-US" sz="1350" dirty="0"/>
          </a:p>
        </p:txBody>
      </p:sp>
      <p:sp>
        <p:nvSpPr>
          <p:cNvPr id="24" name="Text 3">
            <a:extLst>
              <a:ext uri="{FF2B5EF4-FFF2-40B4-BE49-F238E27FC236}">
                <a16:creationId xmlns:a16="http://schemas.microsoft.com/office/drawing/2014/main" id="{1790445B-5D9E-8938-C321-747438E5EAFA}"/>
              </a:ext>
            </a:extLst>
          </p:cNvPr>
          <p:cNvSpPr/>
          <p:nvPr/>
        </p:nvSpPr>
        <p:spPr>
          <a:xfrm>
            <a:off x="274320" y="54864"/>
            <a:ext cx="7338060" cy="30861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$20K+/month opportunity for insurers through</a:t>
            </a:r>
            <a:endParaRPr lang="en-US" sz="2000" dirty="0"/>
          </a:p>
        </p:txBody>
      </p:sp>
      <p:sp>
        <p:nvSpPr>
          <p:cNvPr id="25" name="Text 4">
            <a:extLst>
              <a:ext uri="{FF2B5EF4-FFF2-40B4-BE49-F238E27FC236}">
                <a16:creationId xmlns:a16="http://schemas.microsoft.com/office/drawing/2014/main" id="{3A0A01E2-9D71-F42D-9353-A1BCB332AC7C}"/>
              </a:ext>
            </a:extLst>
          </p:cNvPr>
          <p:cNvSpPr/>
          <p:nvPr/>
        </p:nvSpPr>
        <p:spPr>
          <a:xfrm>
            <a:off x="274320" y="377190"/>
            <a:ext cx="7338060" cy="288036"/>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PharmaFlow AI's prescription cost optimization</a:t>
            </a:r>
            <a:endParaRPr lang="en-US" sz="2000" dirty="0"/>
          </a:p>
        </p:txBody>
      </p:sp>
      <p:sp>
        <p:nvSpPr>
          <p:cNvPr id="26" name="Shape 5">
            <a:extLst>
              <a:ext uri="{FF2B5EF4-FFF2-40B4-BE49-F238E27FC236}">
                <a16:creationId xmlns:a16="http://schemas.microsoft.com/office/drawing/2014/main" id="{55F8BD30-25F2-7E70-DC57-9985C3928FD6}"/>
              </a:ext>
            </a:extLst>
          </p:cNvPr>
          <p:cNvSpPr/>
          <p:nvPr/>
        </p:nvSpPr>
        <p:spPr>
          <a:xfrm>
            <a:off x="0" y="720090"/>
            <a:ext cx="9121140" cy="17145"/>
          </a:xfrm>
          <a:prstGeom prst="rect">
            <a:avLst/>
          </a:prstGeom>
          <a:solidFill>
            <a:srgbClr val="2E4270"/>
          </a:solidFill>
          <a:ln w="12700">
            <a:solidFill>
              <a:srgbClr val="2E4270"/>
            </a:solidFill>
            <a:prstDash val="solid"/>
          </a:ln>
        </p:spPr>
        <p:txBody>
          <a:bodyPr/>
          <a:lstStyle/>
          <a:p>
            <a:endParaRPr lang="en-US" sz="1350"/>
          </a:p>
        </p:txBody>
      </p:sp>
      <p:pic>
        <p:nvPicPr>
          <p:cNvPr id="27" name="Image 0" descr="preencoded.png">
            <a:extLst>
              <a:ext uri="{FF2B5EF4-FFF2-40B4-BE49-F238E27FC236}">
                <a16:creationId xmlns:a16="http://schemas.microsoft.com/office/drawing/2014/main" id="{EB1103C7-1DE8-ABE1-05B7-BF002EC5189B}"/>
              </a:ext>
            </a:extLst>
          </p:cNvPr>
          <p:cNvPicPr>
            <a:picLocks noChangeAspect="1"/>
          </p:cNvPicPr>
          <p:nvPr/>
        </p:nvPicPr>
        <p:blipFill>
          <a:blip r:embed="rId3"/>
          <a:stretch>
            <a:fillRect/>
          </a:stretch>
        </p:blipFill>
        <p:spPr>
          <a:xfrm>
            <a:off x="240030" y="809244"/>
            <a:ext cx="240030" cy="240030"/>
          </a:xfrm>
          <a:prstGeom prst="rect">
            <a:avLst/>
          </a:prstGeom>
        </p:spPr>
      </p:pic>
      <p:sp>
        <p:nvSpPr>
          <p:cNvPr id="28" name="Text 6">
            <a:extLst>
              <a:ext uri="{FF2B5EF4-FFF2-40B4-BE49-F238E27FC236}">
                <a16:creationId xmlns:a16="http://schemas.microsoft.com/office/drawing/2014/main" id="{BC4BDAE5-DB39-1E2B-801C-C78DC5E41349}"/>
              </a:ext>
            </a:extLst>
          </p:cNvPr>
          <p:cNvSpPr/>
          <p:nvPr/>
        </p:nvSpPr>
        <p:spPr>
          <a:xfrm>
            <a:off x="548640" y="788670"/>
            <a:ext cx="3840480" cy="308610"/>
          </a:xfrm>
          <a:prstGeom prst="rect">
            <a:avLst/>
          </a:prstGeom>
          <a:noFill/>
          <a:ln/>
        </p:spPr>
        <p:txBody>
          <a:bodyPr wrap="square" lIns="0" tIns="0" rIns="0" bIns="0" rtlCol="0" anchor="ctr"/>
          <a:lstStyle/>
          <a:p>
            <a:r>
              <a:rPr lang="en-US" sz="1400" b="1" dirty="0">
                <a:solidFill>
                  <a:schemeClr val="accent2"/>
                </a:solidFill>
                <a:latin typeface="Calibri" pitchFamily="34" charset="0"/>
                <a:ea typeface="Calibri" pitchFamily="34" charset="-122"/>
                <a:cs typeface="Calibri" pitchFamily="34" charset="-120"/>
              </a:rPr>
              <a:t>Drug spend is a top cost driver for health plans</a:t>
            </a:r>
            <a:endParaRPr lang="en-US" sz="1400" b="1" dirty="0">
              <a:solidFill>
                <a:schemeClr val="accent2"/>
              </a:solidFill>
            </a:endParaRPr>
          </a:p>
        </p:txBody>
      </p:sp>
      <p:sp>
        <p:nvSpPr>
          <p:cNvPr id="29" name="Shape 7">
            <a:extLst>
              <a:ext uri="{FF2B5EF4-FFF2-40B4-BE49-F238E27FC236}">
                <a16:creationId xmlns:a16="http://schemas.microsoft.com/office/drawing/2014/main" id="{D4C5CBF0-AEE6-2D59-4DE9-CC2A031E431F}"/>
              </a:ext>
            </a:extLst>
          </p:cNvPr>
          <p:cNvSpPr/>
          <p:nvPr/>
        </p:nvSpPr>
        <p:spPr>
          <a:xfrm>
            <a:off x="240030" y="1131571"/>
            <a:ext cx="4183380" cy="12344"/>
          </a:xfrm>
          <a:prstGeom prst="rect">
            <a:avLst/>
          </a:prstGeom>
          <a:solidFill>
            <a:srgbClr val="2E4270"/>
          </a:solidFill>
          <a:ln w="12700">
            <a:solidFill>
              <a:srgbClr val="2E4270"/>
            </a:solidFill>
            <a:prstDash val="solid"/>
          </a:ln>
        </p:spPr>
        <p:txBody>
          <a:bodyPr/>
          <a:lstStyle/>
          <a:p>
            <a:endParaRPr lang="en-US" sz="1350"/>
          </a:p>
        </p:txBody>
      </p:sp>
      <p:sp>
        <p:nvSpPr>
          <p:cNvPr id="30" name="Text 8">
            <a:extLst>
              <a:ext uri="{FF2B5EF4-FFF2-40B4-BE49-F238E27FC236}">
                <a16:creationId xmlns:a16="http://schemas.microsoft.com/office/drawing/2014/main" id="{1C9C613E-EFEE-ACF8-1174-F1B33B68FA3E}"/>
              </a:ext>
            </a:extLst>
          </p:cNvPr>
          <p:cNvSpPr/>
          <p:nvPr/>
        </p:nvSpPr>
        <p:spPr>
          <a:xfrm>
            <a:off x="240030" y="1200150"/>
            <a:ext cx="4183380"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1. Brand drugs inflate premiums and erode margins</a:t>
            </a:r>
            <a:endParaRPr lang="en-US" sz="1200" dirty="0"/>
          </a:p>
        </p:txBody>
      </p:sp>
      <p:sp>
        <p:nvSpPr>
          <p:cNvPr id="31" name="Text 9">
            <a:extLst>
              <a:ext uri="{FF2B5EF4-FFF2-40B4-BE49-F238E27FC236}">
                <a16:creationId xmlns:a16="http://schemas.microsoft.com/office/drawing/2014/main" id="{EBDE549A-8318-31C2-3D86-3B58567975D0}"/>
              </a:ext>
            </a:extLst>
          </p:cNvPr>
          <p:cNvSpPr/>
          <p:nvPr/>
        </p:nvSpPr>
        <p:spPr>
          <a:xfrm>
            <a:off x="308610" y="1525905"/>
            <a:ext cx="4080510" cy="514350"/>
          </a:xfrm>
          <a:prstGeom prst="rect">
            <a:avLst/>
          </a:prstGeom>
          <a:noFill/>
          <a:ln/>
        </p:spPr>
        <p:txBody>
          <a:bodyPr wrap="square" rtlCol="0" anchor="ctr"/>
          <a:lstStyle/>
          <a:p>
            <a:pPr marL="257175" indent="-257175">
              <a:buSzPct val="100000"/>
              <a:buChar char="•"/>
            </a:pPr>
            <a:r>
              <a:rPr lang="en-US" sz="1050" dirty="0">
                <a:solidFill>
                  <a:srgbClr val="C8D0E0"/>
                </a:solidFill>
                <a:latin typeface="Calibri" pitchFamily="34" charset="0"/>
                <a:ea typeface="Calibri" pitchFamily="34" charset="-122"/>
                <a:cs typeface="Calibri" pitchFamily="34" charset="-120"/>
              </a:rPr>
              <a:t>90% of top-selling brands have an FDA-approved generic equivalent</a:t>
            </a:r>
            <a:endParaRPr lang="en-US" sz="1050" dirty="0"/>
          </a:p>
          <a:p>
            <a:pPr marL="257175" indent="-257175">
              <a:buSzPct val="100000"/>
              <a:buChar char="•"/>
            </a:pPr>
            <a:r>
              <a:rPr lang="en-US" sz="1050" dirty="0">
                <a:solidFill>
                  <a:srgbClr val="C8D0E0"/>
                </a:solidFill>
                <a:latin typeface="Calibri" pitchFamily="34" charset="0"/>
                <a:ea typeface="Calibri" pitchFamily="34" charset="-122"/>
                <a:cs typeface="Calibri" pitchFamily="34" charset="-120"/>
              </a:rPr>
              <a:t>Brand-to-generic switches average $40–$75 savings per member per month</a:t>
            </a:r>
            <a:endParaRPr lang="en-US" sz="1050" dirty="0"/>
          </a:p>
        </p:txBody>
      </p:sp>
      <p:sp>
        <p:nvSpPr>
          <p:cNvPr id="32" name="Text 10">
            <a:extLst>
              <a:ext uri="{FF2B5EF4-FFF2-40B4-BE49-F238E27FC236}">
                <a16:creationId xmlns:a16="http://schemas.microsoft.com/office/drawing/2014/main" id="{AB6A55C3-4ADE-1505-3518-B0C70EE9F2D8}"/>
              </a:ext>
            </a:extLst>
          </p:cNvPr>
          <p:cNvSpPr/>
          <p:nvPr/>
        </p:nvSpPr>
        <p:spPr>
          <a:xfrm>
            <a:off x="240030" y="2137410"/>
            <a:ext cx="4183380"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2. Manual drug review is slow and leaves money on the table</a:t>
            </a:r>
            <a:endParaRPr lang="en-US" sz="1200" dirty="0"/>
          </a:p>
        </p:txBody>
      </p:sp>
      <p:sp>
        <p:nvSpPr>
          <p:cNvPr id="33" name="Text 11">
            <a:extLst>
              <a:ext uri="{FF2B5EF4-FFF2-40B4-BE49-F238E27FC236}">
                <a16:creationId xmlns:a16="http://schemas.microsoft.com/office/drawing/2014/main" id="{386A1F1B-E0C1-E273-5C11-2919CA86F57D}"/>
              </a:ext>
            </a:extLst>
          </p:cNvPr>
          <p:cNvSpPr/>
          <p:nvPr/>
        </p:nvSpPr>
        <p:spPr>
          <a:xfrm>
            <a:off x="308610" y="2406587"/>
            <a:ext cx="4080510" cy="683514"/>
          </a:xfrm>
          <a:prstGeom prst="rect">
            <a:avLst/>
          </a:prstGeom>
          <a:noFill/>
          <a:ln/>
        </p:spPr>
        <p:txBody>
          <a:bodyPr wrap="square" rtlCol="0" anchor="ctr"/>
          <a:lstStyle/>
          <a:p>
            <a:pPr marL="257175" indent="-257175">
              <a:buSzPct val="100000"/>
              <a:buChar char="•"/>
            </a:pPr>
            <a:r>
              <a:rPr lang="en-US" sz="1050" dirty="0">
                <a:solidFill>
                  <a:srgbClr val="C8D0E0"/>
                </a:solidFill>
                <a:latin typeface="Calibri" pitchFamily="34" charset="0"/>
                <a:ea typeface="Calibri" pitchFamily="34" charset="-122"/>
                <a:cs typeface="Calibri" pitchFamily="34" charset="-120"/>
              </a:rPr>
              <a:t>Analysts spend days cross-referencing NDC codes, formulary rules, and pricing files</a:t>
            </a:r>
            <a:endParaRPr lang="en-US" sz="1050" dirty="0"/>
          </a:p>
          <a:p>
            <a:pPr marL="257175" indent="-257175">
              <a:buSzPct val="100000"/>
              <a:buChar char="•"/>
            </a:pPr>
            <a:r>
              <a:rPr lang="en-US" sz="1050" dirty="0">
                <a:solidFill>
                  <a:srgbClr val="C8D0E0"/>
                </a:solidFill>
                <a:latin typeface="Calibri" pitchFamily="34" charset="0"/>
                <a:ea typeface="Calibri" pitchFamily="34" charset="-122"/>
                <a:cs typeface="Calibri" pitchFamily="34" charset="-120"/>
              </a:rPr>
              <a:t>Risk assessment for generic switches is inconsistent, clinical nuance is often missed</a:t>
            </a:r>
            <a:endParaRPr lang="en-US" sz="1050" dirty="0"/>
          </a:p>
        </p:txBody>
      </p:sp>
      <p:sp>
        <p:nvSpPr>
          <p:cNvPr id="34" name="Text 12">
            <a:extLst>
              <a:ext uri="{FF2B5EF4-FFF2-40B4-BE49-F238E27FC236}">
                <a16:creationId xmlns:a16="http://schemas.microsoft.com/office/drawing/2014/main" id="{3650DDC2-79F2-1F94-40D6-AB0647EE94A8}"/>
              </a:ext>
            </a:extLst>
          </p:cNvPr>
          <p:cNvSpPr/>
          <p:nvPr/>
        </p:nvSpPr>
        <p:spPr>
          <a:xfrm>
            <a:off x="240030" y="3114675"/>
            <a:ext cx="4183380" cy="240030"/>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3. Savings reinvested unlock competitive advantage</a:t>
            </a:r>
            <a:endParaRPr lang="en-US" sz="1200" dirty="0"/>
          </a:p>
        </p:txBody>
      </p:sp>
      <p:sp>
        <p:nvSpPr>
          <p:cNvPr id="35" name="Text 13">
            <a:extLst>
              <a:ext uri="{FF2B5EF4-FFF2-40B4-BE49-F238E27FC236}">
                <a16:creationId xmlns:a16="http://schemas.microsoft.com/office/drawing/2014/main" id="{159FE341-5AD3-0817-B691-A277A8F6DDA5}"/>
              </a:ext>
            </a:extLst>
          </p:cNvPr>
          <p:cNvSpPr/>
          <p:nvPr/>
        </p:nvSpPr>
        <p:spPr>
          <a:xfrm>
            <a:off x="308610" y="3403854"/>
            <a:ext cx="4080510" cy="1146657"/>
          </a:xfrm>
          <a:prstGeom prst="rect">
            <a:avLst/>
          </a:prstGeom>
          <a:noFill/>
          <a:ln/>
        </p:spPr>
        <p:txBody>
          <a:bodyPr wrap="square" rtlCol="0" anchor="ctr"/>
          <a:lstStyle/>
          <a:p>
            <a:pPr marL="257175" indent="-257175">
              <a:buSzPct val="100000"/>
              <a:buChar char="•"/>
            </a:pPr>
            <a:r>
              <a:rPr lang="en-US" sz="1050" dirty="0">
                <a:solidFill>
                  <a:srgbClr val="C8D0E0"/>
                </a:solidFill>
                <a:latin typeface="Calibri" pitchFamily="34" charset="0"/>
                <a:ea typeface="Calibri" pitchFamily="34" charset="-122"/>
                <a:cs typeface="Calibri" pitchFamily="34" charset="-120"/>
              </a:rPr>
              <a:t>Reduced drug spend improves medical loss ratio (MLR), freeing budget for member experience</a:t>
            </a:r>
            <a:endParaRPr lang="en-US" sz="1050" dirty="0"/>
          </a:p>
          <a:p>
            <a:pPr marL="257175" indent="-257175">
              <a:buSzPct val="100000"/>
              <a:buChar char="•"/>
            </a:pPr>
            <a:r>
              <a:rPr lang="en-US" sz="1050" dirty="0">
                <a:solidFill>
                  <a:srgbClr val="C8D0E0"/>
                </a:solidFill>
                <a:latin typeface="Calibri" pitchFamily="34" charset="0"/>
                <a:ea typeface="Calibri" pitchFamily="34" charset="-122"/>
                <a:cs typeface="Calibri" pitchFamily="34" charset="-120"/>
              </a:rPr>
              <a:t>Freed capital can fund digital health tools, preventive care programs, and AI investments</a:t>
            </a:r>
            <a:endParaRPr lang="en-US" sz="1050" dirty="0"/>
          </a:p>
          <a:p>
            <a:pPr marL="257175" indent="-257175">
              <a:buSzPct val="100000"/>
              <a:buChar char="•"/>
            </a:pPr>
            <a:r>
              <a:rPr lang="en-US" sz="1050" dirty="0">
                <a:solidFill>
                  <a:srgbClr val="C8D0E0"/>
                </a:solidFill>
                <a:latin typeface="Calibri" pitchFamily="34" charset="0"/>
                <a:ea typeface="Calibri" pitchFamily="34" charset="-122"/>
                <a:cs typeface="Calibri" pitchFamily="34" charset="-120"/>
              </a:rPr>
              <a:t>Lower drug costs strengthen bid competitiveness in employer &amp; marketplace plans</a:t>
            </a:r>
            <a:endParaRPr lang="en-US" sz="1050" dirty="0"/>
          </a:p>
        </p:txBody>
      </p:sp>
      <p:sp>
        <p:nvSpPr>
          <p:cNvPr id="36" name="Shape 14">
            <a:extLst>
              <a:ext uri="{FF2B5EF4-FFF2-40B4-BE49-F238E27FC236}">
                <a16:creationId xmlns:a16="http://schemas.microsoft.com/office/drawing/2014/main" id="{6103D80B-283C-DA2E-7B16-25849125203F}"/>
              </a:ext>
            </a:extLst>
          </p:cNvPr>
          <p:cNvSpPr/>
          <p:nvPr/>
        </p:nvSpPr>
        <p:spPr>
          <a:xfrm>
            <a:off x="4526280" y="754380"/>
            <a:ext cx="13716" cy="4183380"/>
          </a:xfrm>
          <a:prstGeom prst="rect">
            <a:avLst/>
          </a:prstGeom>
          <a:solidFill>
            <a:srgbClr val="2E4270"/>
          </a:solidFill>
          <a:ln w="12700">
            <a:solidFill>
              <a:srgbClr val="2E4270"/>
            </a:solidFill>
            <a:prstDash val="solid"/>
          </a:ln>
        </p:spPr>
        <p:txBody>
          <a:bodyPr/>
          <a:lstStyle/>
          <a:p>
            <a:endParaRPr lang="en-US" sz="1350"/>
          </a:p>
        </p:txBody>
      </p:sp>
      <p:pic>
        <p:nvPicPr>
          <p:cNvPr id="37" name="Image 1" descr="preencoded.png">
            <a:extLst>
              <a:ext uri="{FF2B5EF4-FFF2-40B4-BE49-F238E27FC236}">
                <a16:creationId xmlns:a16="http://schemas.microsoft.com/office/drawing/2014/main" id="{C1CE5684-1D2A-82F2-7E73-62D37EC91EB7}"/>
              </a:ext>
            </a:extLst>
          </p:cNvPr>
          <p:cNvPicPr>
            <a:picLocks noChangeAspect="1"/>
          </p:cNvPicPr>
          <p:nvPr/>
        </p:nvPicPr>
        <p:blipFill>
          <a:blip r:embed="rId4"/>
          <a:stretch>
            <a:fillRect/>
          </a:stretch>
        </p:blipFill>
        <p:spPr>
          <a:xfrm>
            <a:off x="4697730" y="809244"/>
            <a:ext cx="240030" cy="240030"/>
          </a:xfrm>
          <a:prstGeom prst="rect">
            <a:avLst/>
          </a:prstGeom>
        </p:spPr>
      </p:pic>
      <p:sp>
        <p:nvSpPr>
          <p:cNvPr id="38" name="Text 15">
            <a:extLst>
              <a:ext uri="{FF2B5EF4-FFF2-40B4-BE49-F238E27FC236}">
                <a16:creationId xmlns:a16="http://schemas.microsoft.com/office/drawing/2014/main" id="{809970DC-9FBF-1482-A5B1-A39D85FBB1B1}"/>
              </a:ext>
            </a:extLst>
          </p:cNvPr>
          <p:cNvSpPr/>
          <p:nvPr/>
        </p:nvSpPr>
        <p:spPr>
          <a:xfrm>
            <a:off x="5006340" y="788670"/>
            <a:ext cx="3840480" cy="308610"/>
          </a:xfrm>
          <a:prstGeom prst="rect">
            <a:avLst/>
          </a:prstGeom>
          <a:noFill/>
          <a:ln/>
        </p:spPr>
        <p:txBody>
          <a:bodyPr wrap="square" lIns="0" tIns="0" rIns="0" bIns="0" rtlCol="0" anchor="ctr"/>
          <a:lstStyle/>
          <a:p>
            <a:r>
              <a:rPr lang="en-US" sz="1200" b="1" dirty="0">
                <a:solidFill>
                  <a:schemeClr val="accent2"/>
                </a:solidFill>
                <a:latin typeface="Calibri" pitchFamily="34" charset="0"/>
                <a:ea typeface="Calibri" pitchFamily="34" charset="-122"/>
                <a:cs typeface="Calibri" pitchFamily="34" charset="-120"/>
              </a:rPr>
              <a:t>Insurers gain financially &amp; operationally from PharmaFlow-driven generic switches</a:t>
            </a:r>
            <a:endParaRPr lang="en-US" sz="1200" b="1" dirty="0">
              <a:solidFill>
                <a:schemeClr val="accent2"/>
              </a:solidFill>
            </a:endParaRPr>
          </a:p>
        </p:txBody>
      </p:sp>
      <p:sp>
        <p:nvSpPr>
          <p:cNvPr id="39" name="Shape 16">
            <a:extLst>
              <a:ext uri="{FF2B5EF4-FFF2-40B4-BE49-F238E27FC236}">
                <a16:creationId xmlns:a16="http://schemas.microsoft.com/office/drawing/2014/main" id="{7B8ECA7B-DF16-5AE8-DD6F-188757109058}"/>
              </a:ext>
            </a:extLst>
          </p:cNvPr>
          <p:cNvSpPr/>
          <p:nvPr/>
        </p:nvSpPr>
        <p:spPr>
          <a:xfrm>
            <a:off x="4697730" y="1131571"/>
            <a:ext cx="4183380" cy="12344"/>
          </a:xfrm>
          <a:prstGeom prst="rect">
            <a:avLst/>
          </a:prstGeom>
          <a:solidFill>
            <a:srgbClr val="2E4270"/>
          </a:solidFill>
          <a:ln w="12700">
            <a:solidFill>
              <a:srgbClr val="2E4270"/>
            </a:solidFill>
            <a:prstDash val="solid"/>
          </a:ln>
        </p:spPr>
        <p:txBody>
          <a:bodyPr/>
          <a:lstStyle/>
          <a:p>
            <a:endParaRPr lang="en-US" sz="1350"/>
          </a:p>
        </p:txBody>
      </p:sp>
      <p:sp>
        <p:nvSpPr>
          <p:cNvPr id="40" name="Text 17">
            <a:extLst>
              <a:ext uri="{FF2B5EF4-FFF2-40B4-BE49-F238E27FC236}">
                <a16:creationId xmlns:a16="http://schemas.microsoft.com/office/drawing/2014/main" id="{863DB5C9-E850-C33E-F23B-B3A03E60F167}"/>
              </a:ext>
            </a:extLst>
          </p:cNvPr>
          <p:cNvSpPr/>
          <p:nvPr/>
        </p:nvSpPr>
        <p:spPr>
          <a:xfrm>
            <a:off x="4697730" y="1200150"/>
            <a:ext cx="4183380" cy="240030"/>
          </a:xfrm>
          <a:prstGeom prst="rect">
            <a:avLst/>
          </a:prstGeom>
          <a:noFill/>
          <a:ln/>
        </p:spPr>
        <p:txBody>
          <a:bodyPr wrap="square" lIns="0" tIns="0" rIns="0" bIns="0" rtlCol="0" anchor="ctr"/>
          <a:lstStyle/>
          <a:p>
            <a:r>
              <a:rPr lang="en-US" sz="900" i="1" dirty="0">
                <a:solidFill>
                  <a:srgbClr val="C8D0E0"/>
                </a:solidFill>
                <a:latin typeface="Calibri" pitchFamily="34" charset="0"/>
                <a:ea typeface="Calibri" pitchFamily="34" charset="-122"/>
                <a:cs typeface="Calibri" pitchFamily="34" charset="-120"/>
              </a:rPr>
              <a:t>Conservative savings estimate - 1 small insurer, 500 members on high-cost brand drugs:</a:t>
            </a:r>
            <a:endParaRPr lang="en-US" sz="900" dirty="0"/>
          </a:p>
        </p:txBody>
      </p:sp>
      <p:sp>
        <p:nvSpPr>
          <p:cNvPr id="41" name="Shape 18">
            <a:extLst>
              <a:ext uri="{FF2B5EF4-FFF2-40B4-BE49-F238E27FC236}">
                <a16:creationId xmlns:a16="http://schemas.microsoft.com/office/drawing/2014/main" id="{682D0578-3F4B-E5E7-FE79-89488F9EAA90}"/>
              </a:ext>
            </a:extLst>
          </p:cNvPr>
          <p:cNvSpPr/>
          <p:nvPr/>
        </p:nvSpPr>
        <p:spPr>
          <a:xfrm>
            <a:off x="4697730" y="1474470"/>
            <a:ext cx="1714500" cy="219456"/>
          </a:xfrm>
          <a:prstGeom prst="rect">
            <a:avLst/>
          </a:prstGeom>
          <a:solidFill>
            <a:srgbClr val="2E4480"/>
          </a:solidFill>
          <a:ln w="12700">
            <a:solidFill>
              <a:srgbClr val="1A2744"/>
            </a:solidFill>
            <a:prstDash val="solid"/>
          </a:ln>
        </p:spPr>
        <p:txBody>
          <a:bodyPr/>
          <a:lstStyle/>
          <a:p>
            <a:endParaRPr lang="en-US" sz="1000"/>
          </a:p>
        </p:txBody>
      </p:sp>
      <p:sp>
        <p:nvSpPr>
          <p:cNvPr id="42" name="Text 19">
            <a:extLst>
              <a:ext uri="{FF2B5EF4-FFF2-40B4-BE49-F238E27FC236}">
                <a16:creationId xmlns:a16="http://schemas.microsoft.com/office/drawing/2014/main" id="{4D3FBAAB-E062-92DE-286E-5A68CB0DF6E1}"/>
              </a:ext>
            </a:extLst>
          </p:cNvPr>
          <p:cNvSpPr/>
          <p:nvPr/>
        </p:nvSpPr>
        <p:spPr>
          <a:xfrm>
            <a:off x="4697730" y="1474470"/>
            <a:ext cx="1714500" cy="219456"/>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Metric</a:t>
            </a:r>
            <a:endParaRPr lang="en-US" sz="1000" dirty="0"/>
          </a:p>
        </p:txBody>
      </p:sp>
      <p:sp>
        <p:nvSpPr>
          <p:cNvPr id="43" name="Shape 20">
            <a:extLst>
              <a:ext uri="{FF2B5EF4-FFF2-40B4-BE49-F238E27FC236}">
                <a16:creationId xmlns:a16="http://schemas.microsoft.com/office/drawing/2014/main" id="{B97B9DCE-8E1B-B500-F4E5-10DBD35608F3}"/>
              </a:ext>
            </a:extLst>
          </p:cNvPr>
          <p:cNvSpPr/>
          <p:nvPr/>
        </p:nvSpPr>
        <p:spPr>
          <a:xfrm>
            <a:off x="6412230" y="1474470"/>
            <a:ext cx="1200150" cy="219456"/>
          </a:xfrm>
          <a:prstGeom prst="rect">
            <a:avLst/>
          </a:prstGeom>
          <a:solidFill>
            <a:srgbClr val="6B4C9A"/>
          </a:solidFill>
          <a:ln w="12700">
            <a:solidFill>
              <a:srgbClr val="1A2744"/>
            </a:solidFill>
            <a:prstDash val="solid"/>
          </a:ln>
        </p:spPr>
        <p:txBody>
          <a:bodyPr/>
          <a:lstStyle/>
          <a:p>
            <a:endParaRPr lang="en-US" sz="1000"/>
          </a:p>
        </p:txBody>
      </p:sp>
      <p:sp>
        <p:nvSpPr>
          <p:cNvPr id="44" name="Text 21">
            <a:extLst>
              <a:ext uri="{FF2B5EF4-FFF2-40B4-BE49-F238E27FC236}">
                <a16:creationId xmlns:a16="http://schemas.microsoft.com/office/drawing/2014/main" id="{53D76618-01D0-C9CA-86D9-84D62F72F775}"/>
              </a:ext>
            </a:extLst>
          </p:cNvPr>
          <p:cNvSpPr/>
          <p:nvPr/>
        </p:nvSpPr>
        <p:spPr>
          <a:xfrm>
            <a:off x="6412230" y="1474470"/>
            <a:ext cx="1200150" cy="219456"/>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No PharmaFlow</a:t>
            </a:r>
            <a:endParaRPr lang="en-US" sz="1000" dirty="0"/>
          </a:p>
        </p:txBody>
      </p:sp>
      <p:sp>
        <p:nvSpPr>
          <p:cNvPr id="45" name="Shape 22">
            <a:extLst>
              <a:ext uri="{FF2B5EF4-FFF2-40B4-BE49-F238E27FC236}">
                <a16:creationId xmlns:a16="http://schemas.microsoft.com/office/drawing/2014/main" id="{11D21E21-5810-1ED2-6A15-CBC8C1985ACC}"/>
              </a:ext>
            </a:extLst>
          </p:cNvPr>
          <p:cNvSpPr/>
          <p:nvPr/>
        </p:nvSpPr>
        <p:spPr>
          <a:xfrm>
            <a:off x="7612380" y="1474470"/>
            <a:ext cx="1200150" cy="219456"/>
          </a:xfrm>
          <a:prstGeom prst="rect">
            <a:avLst/>
          </a:prstGeom>
          <a:solidFill>
            <a:srgbClr val="E8622A"/>
          </a:solidFill>
          <a:ln w="12700">
            <a:solidFill>
              <a:srgbClr val="1A2744"/>
            </a:solidFill>
            <a:prstDash val="solid"/>
          </a:ln>
        </p:spPr>
        <p:txBody>
          <a:bodyPr/>
          <a:lstStyle/>
          <a:p>
            <a:endParaRPr lang="en-US" sz="1000"/>
          </a:p>
        </p:txBody>
      </p:sp>
      <p:sp>
        <p:nvSpPr>
          <p:cNvPr id="46" name="Text 23">
            <a:extLst>
              <a:ext uri="{FF2B5EF4-FFF2-40B4-BE49-F238E27FC236}">
                <a16:creationId xmlns:a16="http://schemas.microsoft.com/office/drawing/2014/main" id="{2270B27B-6281-8EAA-868D-493EB1C41FC1}"/>
              </a:ext>
            </a:extLst>
          </p:cNvPr>
          <p:cNvSpPr/>
          <p:nvPr/>
        </p:nvSpPr>
        <p:spPr>
          <a:xfrm>
            <a:off x="7612380" y="1474470"/>
            <a:ext cx="1200150" cy="219456"/>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PharmaFlow AI</a:t>
            </a:r>
            <a:endParaRPr lang="en-US" sz="1000" dirty="0"/>
          </a:p>
        </p:txBody>
      </p:sp>
      <p:sp>
        <p:nvSpPr>
          <p:cNvPr id="47" name="Shape 24">
            <a:extLst>
              <a:ext uri="{FF2B5EF4-FFF2-40B4-BE49-F238E27FC236}">
                <a16:creationId xmlns:a16="http://schemas.microsoft.com/office/drawing/2014/main" id="{530C776D-53B3-493F-D051-67A5D96FCF10}"/>
              </a:ext>
            </a:extLst>
          </p:cNvPr>
          <p:cNvSpPr/>
          <p:nvPr/>
        </p:nvSpPr>
        <p:spPr>
          <a:xfrm>
            <a:off x="4697730" y="1693926"/>
            <a:ext cx="1714500" cy="205740"/>
          </a:xfrm>
          <a:prstGeom prst="rect">
            <a:avLst/>
          </a:prstGeom>
          <a:solidFill>
            <a:srgbClr val="243665"/>
          </a:solidFill>
          <a:ln w="6350">
            <a:solidFill>
              <a:srgbClr val="2E4270"/>
            </a:solidFill>
            <a:prstDash val="solid"/>
          </a:ln>
        </p:spPr>
        <p:txBody>
          <a:bodyPr/>
          <a:lstStyle/>
          <a:p>
            <a:endParaRPr lang="en-US" sz="1000"/>
          </a:p>
        </p:txBody>
      </p:sp>
      <p:sp>
        <p:nvSpPr>
          <p:cNvPr id="48" name="Text 25">
            <a:extLst>
              <a:ext uri="{FF2B5EF4-FFF2-40B4-BE49-F238E27FC236}">
                <a16:creationId xmlns:a16="http://schemas.microsoft.com/office/drawing/2014/main" id="{7C8F6A7F-0816-8642-3403-1247ADA32B66}"/>
              </a:ext>
            </a:extLst>
          </p:cNvPr>
          <p:cNvSpPr/>
          <p:nvPr/>
        </p:nvSpPr>
        <p:spPr>
          <a:xfrm>
            <a:off x="4732020" y="1693926"/>
            <a:ext cx="1645920" cy="205740"/>
          </a:xfrm>
          <a:prstGeom prst="rect">
            <a:avLst/>
          </a:prstGeom>
          <a:noFill/>
          <a:ln/>
        </p:spPr>
        <p:txBody>
          <a:bodyPr wrap="square" lIns="0" tIns="0" rIns="0" bIns="0" rtlCol="0" anchor="ctr"/>
          <a:lstStyle/>
          <a:p>
            <a:r>
              <a:rPr lang="en-US" sz="1000" dirty="0">
                <a:solidFill>
                  <a:srgbClr val="C8D0E0"/>
                </a:solidFill>
                <a:latin typeface="Calibri" pitchFamily="34" charset="0"/>
                <a:ea typeface="Calibri" pitchFamily="34" charset="-122"/>
                <a:cs typeface="Calibri" pitchFamily="34" charset="-120"/>
              </a:rPr>
              <a:t>Monthly brand drug spend</a:t>
            </a:r>
            <a:endParaRPr lang="en-US" sz="1000" dirty="0"/>
          </a:p>
        </p:txBody>
      </p:sp>
      <p:sp>
        <p:nvSpPr>
          <p:cNvPr id="49" name="Shape 26">
            <a:extLst>
              <a:ext uri="{FF2B5EF4-FFF2-40B4-BE49-F238E27FC236}">
                <a16:creationId xmlns:a16="http://schemas.microsoft.com/office/drawing/2014/main" id="{728117BB-F384-083D-90F0-CE23C6793FDC}"/>
              </a:ext>
            </a:extLst>
          </p:cNvPr>
          <p:cNvSpPr/>
          <p:nvPr/>
        </p:nvSpPr>
        <p:spPr>
          <a:xfrm>
            <a:off x="6412230" y="1693926"/>
            <a:ext cx="1200150" cy="205740"/>
          </a:xfrm>
          <a:prstGeom prst="rect">
            <a:avLst/>
          </a:prstGeom>
          <a:solidFill>
            <a:srgbClr val="243665"/>
          </a:solidFill>
          <a:ln w="6350">
            <a:solidFill>
              <a:srgbClr val="2E4270"/>
            </a:solidFill>
            <a:prstDash val="solid"/>
          </a:ln>
        </p:spPr>
        <p:txBody>
          <a:bodyPr/>
          <a:lstStyle/>
          <a:p>
            <a:endParaRPr lang="en-US" sz="1000"/>
          </a:p>
        </p:txBody>
      </p:sp>
      <p:sp>
        <p:nvSpPr>
          <p:cNvPr id="50" name="Text 27">
            <a:extLst>
              <a:ext uri="{FF2B5EF4-FFF2-40B4-BE49-F238E27FC236}">
                <a16:creationId xmlns:a16="http://schemas.microsoft.com/office/drawing/2014/main" id="{F6F17699-A967-908B-355D-06FF5E94458F}"/>
              </a:ext>
            </a:extLst>
          </p:cNvPr>
          <p:cNvSpPr/>
          <p:nvPr/>
        </p:nvSpPr>
        <p:spPr>
          <a:xfrm>
            <a:off x="6446520" y="1693926"/>
            <a:ext cx="1131570" cy="205740"/>
          </a:xfrm>
          <a:prstGeom prst="rect">
            <a:avLst/>
          </a:prstGeom>
          <a:noFill/>
          <a:ln/>
        </p:spPr>
        <p:txBody>
          <a:bodyPr wrap="square" lIns="0" tIns="0" rIns="0" bIns="0" rtlCol="0" anchor="ctr"/>
          <a:lstStyle/>
          <a:p>
            <a:pPr algn="ctr"/>
            <a:r>
              <a:rPr lang="en-US" sz="1000" dirty="0">
                <a:solidFill>
                  <a:srgbClr val="C0B8D8"/>
                </a:solidFill>
                <a:latin typeface="Calibri" pitchFamily="34" charset="0"/>
                <a:ea typeface="Calibri" pitchFamily="34" charset="-122"/>
                <a:cs typeface="Calibri" pitchFamily="34" charset="-120"/>
              </a:rPr>
              <a:t>$1,500,000</a:t>
            </a:r>
            <a:endParaRPr lang="en-US" sz="1000" dirty="0"/>
          </a:p>
        </p:txBody>
      </p:sp>
      <p:sp>
        <p:nvSpPr>
          <p:cNvPr id="51" name="Shape 28">
            <a:extLst>
              <a:ext uri="{FF2B5EF4-FFF2-40B4-BE49-F238E27FC236}">
                <a16:creationId xmlns:a16="http://schemas.microsoft.com/office/drawing/2014/main" id="{6AAD2EA0-1BB3-2646-9EEB-500AFE1C231D}"/>
              </a:ext>
            </a:extLst>
          </p:cNvPr>
          <p:cNvSpPr/>
          <p:nvPr/>
        </p:nvSpPr>
        <p:spPr>
          <a:xfrm>
            <a:off x="7612380" y="1693926"/>
            <a:ext cx="1200150" cy="205740"/>
          </a:xfrm>
          <a:prstGeom prst="rect">
            <a:avLst/>
          </a:prstGeom>
          <a:solidFill>
            <a:srgbClr val="243665"/>
          </a:solidFill>
          <a:ln w="6350">
            <a:solidFill>
              <a:srgbClr val="2E4270"/>
            </a:solidFill>
            <a:prstDash val="solid"/>
          </a:ln>
        </p:spPr>
        <p:txBody>
          <a:bodyPr/>
          <a:lstStyle/>
          <a:p>
            <a:endParaRPr lang="en-US" sz="1000"/>
          </a:p>
        </p:txBody>
      </p:sp>
      <p:sp>
        <p:nvSpPr>
          <p:cNvPr id="52" name="Text 29">
            <a:extLst>
              <a:ext uri="{FF2B5EF4-FFF2-40B4-BE49-F238E27FC236}">
                <a16:creationId xmlns:a16="http://schemas.microsoft.com/office/drawing/2014/main" id="{1B5B9DF6-E7E8-AEED-B167-8B743A60DEF5}"/>
              </a:ext>
            </a:extLst>
          </p:cNvPr>
          <p:cNvSpPr/>
          <p:nvPr/>
        </p:nvSpPr>
        <p:spPr>
          <a:xfrm>
            <a:off x="7646670" y="1693926"/>
            <a:ext cx="1131570" cy="205740"/>
          </a:xfrm>
          <a:prstGeom prst="rect">
            <a:avLst/>
          </a:prstGeom>
          <a:noFill/>
          <a:ln/>
        </p:spPr>
        <p:txBody>
          <a:bodyPr wrap="square" lIns="0" tIns="0" rIns="0" bIns="0" rtlCol="0" anchor="ctr"/>
          <a:lstStyle/>
          <a:p>
            <a:pPr algn="ctr"/>
            <a:r>
              <a:rPr lang="en-US" sz="1000" dirty="0">
                <a:solidFill>
                  <a:srgbClr val="D4E8D0"/>
                </a:solidFill>
                <a:latin typeface="Calibri" pitchFamily="34" charset="0"/>
                <a:ea typeface="Calibri" pitchFamily="34" charset="-122"/>
                <a:cs typeface="Calibri" pitchFamily="34" charset="-120"/>
              </a:rPr>
              <a:t>$1,350,000</a:t>
            </a:r>
            <a:endParaRPr lang="en-US" sz="1000" dirty="0"/>
          </a:p>
        </p:txBody>
      </p:sp>
      <p:sp>
        <p:nvSpPr>
          <p:cNvPr id="53" name="Shape 30">
            <a:extLst>
              <a:ext uri="{FF2B5EF4-FFF2-40B4-BE49-F238E27FC236}">
                <a16:creationId xmlns:a16="http://schemas.microsoft.com/office/drawing/2014/main" id="{FE42BD0C-0348-5F20-89D3-07AA94DC1060}"/>
              </a:ext>
            </a:extLst>
          </p:cNvPr>
          <p:cNvSpPr/>
          <p:nvPr/>
        </p:nvSpPr>
        <p:spPr>
          <a:xfrm>
            <a:off x="4697730" y="1899666"/>
            <a:ext cx="1714500" cy="205740"/>
          </a:xfrm>
          <a:prstGeom prst="rect">
            <a:avLst/>
          </a:prstGeom>
          <a:solidFill>
            <a:srgbClr val="1D2F55"/>
          </a:solidFill>
          <a:ln w="6350">
            <a:solidFill>
              <a:srgbClr val="2E4270"/>
            </a:solidFill>
            <a:prstDash val="solid"/>
          </a:ln>
        </p:spPr>
        <p:txBody>
          <a:bodyPr/>
          <a:lstStyle/>
          <a:p>
            <a:endParaRPr lang="en-US" sz="1000"/>
          </a:p>
        </p:txBody>
      </p:sp>
      <p:sp>
        <p:nvSpPr>
          <p:cNvPr id="54" name="Text 31">
            <a:extLst>
              <a:ext uri="{FF2B5EF4-FFF2-40B4-BE49-F238E27FC236}">
                <a16:creationId xmlns:a16="http://schemas.microsoft.com/office/drawing/2014/main" id="{BF9B7AB7-342F-8528-735D-DF74CEADA97F}"/>
              </a:ext>
            </a:extLst>
          </p:cNvPr>
          <p:cNvSpPr/>
          <p:nvPr/>
        </p:nvSpPr>
        <p:spPr>
          <a:xfrm>
            <a:off x="4732020" y="1899666"/>
            <a:ext cx="1645920" cy="205740"/>
          </a:xfrm>
          <a:prstGeom prst="rect">
            <a:avLst/>
          </a:prstGeom>
          <a:noFill/>
          <a:ln/>
        </p:spPr>
        <p:txBody>
          <a:bodyPr wrap="square" lIns="0" tIns="0" rIns="0" bIns="0" rtlCol="0" anchor="ctr"/>
          <a:lstStyle/>
          <a:p>
            <a:r>
              <a:rPr lang="en-US" sz="1000" dirty="0">
                <a:solidFill>
                  <a:srgbClr val="C8D0E0"/>
                </a:solidFill>
                <a:latin typeface="Calibri" pitchFamily="34" charset="0"/>
                <a:ea typeface="Calibri" pitchFamily="34" charset="-122"/>
                <a:cs typeface="Calibri" pitchFamily="34" charset="-120"/>
              </a:rPr>
              <a:t>Generic switch rate</a:t>
            </a:r>
            <a:endParaRPr lang="en-US" sz="1000" dirty="0"/>
          </a:p>
        </p:txBody>
      </p:sp>
      <p:sp>
        <p:nvSpPr>
          <p:cNvPr id="55" name="Shape 32">
            <a:extLst>
              <a:ext uri="{FF2B5EF4-FFF2-40B4-BE49-F238E27FC236}">
                <a16:creationId xmlns:a16="http://schemas.microsoft.com/office/drawing/2014/main" id="{08052754-B851-A5F3-1A5E-4255EF1829D3}"/>
              </a:ext>
            </a:extLst>
          </p:cNvPr>
          <p:cNvSpPr/>
          <p:nvPr/>
        </p:nvSpPr>
        <p:spPr>
          <a:xfrm>
            <a:off x="6412230" y="1899666"/>
            <a:ext cx="1200150" cy="205740"/>
          </a:xfrm>
          <a:prstGeom prst="rect">
            <a:avLst/>
          </a:prstGeom>
          <a:solidFill>
            <a:srgbClr val="1D2F55"/>
          </a:solidFill>
          <a:ln w="6350">
            <a:solidFill>
              <a:srgbClr val="2E4270"/>
            </a:solidFill>
            <a:prstDash val="solid"/>
          </a:ln>
        </p:spPr>
        <p:txBody>
          <a:bodyPr/>
          <a:lstStyle/>
          <a:p>
            <a:endParaRPr lang="en-US" sz="1000"/>
          </a:p>
        </p:txBody>
      </p:sp>
      <p:sp>
        <p:nvSpPr>
          <p:cNvPr id="56" name="Text 33">
            <a:extLst>
              <a:ext uri="{FF2B5EF4-FFF2-40B4-BE49-F238E27FC236}">
                <a16:creationId xmlns:a16="http://schemas.microsoft.com/office/drawing/2014/main" id="{498D4301-F4F4-F900-4881-133072A431D3}"/>
              </a:ext>
            </a:extLst>
          </p:cNvPr>
          <p:cNvSpPr/>
          <p:nvPr/>
        </p:nvSpPr>
        <p:spPr>
          <a:xfrm>
            <a:off x="6446520" y="1899666"/>
            <a:ext cx="1131570" cy="205740"/>
          </a:xfrm>
          <a:prstGeom prst="rect">
            <a:avLst/>
          </a:prstGeom>
          <a:noFill/>
          <a:ln/>
        </p:spPr>
        <p:txBody>
          <a:bodyPr wrap="square" lIns="0" tIns="0" rIns="0" bIns="0" rtlCol="0" anchor="ctr"/>
          <a:lstStyle/>
          <a:p>
            <a:pPr algn="ctr"/>
            <a:r>
              <a:rPr lang="en-US" sz="1000" dirty="0">
                <a:solidFill>
                  <a:srgbClr val="C0B8D8"/>
                </a:solidFill>
                <a:latin typeface="Calibri" pitchFamily="34" charset="0"/>
                <a:ea typeface="Calibri" pitchFamily="34" charset="-122"/>
                <a:cs typeface="Calibri" pitchFamily="34" charset="-120"/>
              </a:rPr>
              <a:t>~9%</a:t>
            </a:r>
            <a:endParaRPr lang="en-US" sz="1000" dirty="0"/>
          </a:p>
        </p:txBody>
      </p:sp>
      <p:sp>
        <p:nvSpPr>
          <p:cNvPr id="57" name="Shape 34">
            <a:extLst>
              <a:ext uri="{FF2B5EF4-FFF2-40B4-BE49-F238E27FC236}">
                <a16:creationId xmlns:a16="http://schemas.microsoft.com/office/drawing/2014/main" id="{07CA733E-268D-D1EE-3060-C45109CE2DE3}"/>
              </a:ext>
            </a:extLst>
          </p:cNvPr>
          <p:cNvSpPr/>
          <p:nvPr/>
        </p:nvSpPr>
        <p:spPr>
          <a:xfrm>
            <a:off x="7612380" y="1899666"/>
            <a:ext cx="1200150" cy="205740"/>
          </a:xfrm>
          <a:prstGeom prst="rect">
            <a:avLst/>
          </a:prstGeom>
          <a:solidFill>
            <a:srgbClr val="1D2F55"/>
          </a:solidFill>
          <a:ln w="6350">
            <a:solidFill>
              <a:srgbClr val="2E4270"/>
            </a:solidFill>
            <a:prstDash val="solid"/>
          </a:ln>
        </p:spPr>
        <p:txBody>
          <a:bodyPr/>
          <a:lstStyle/>
          <a:p>
            <a:endParaRPr lang="en-US" sz="1000"/>
          </a:p>
        </p:txBody>
      </p:sp>
      <p:sp>
        <p:nvSpPr>
          <p:cNvPr id="58" name="Text 35">
            <a:extLst>
              <a:ext uri="{FF2B5EF4-FFF2-40B4-BE49-F238E27FC236}">
                <a16:creationId xmlns:a16="http://schemas.microsoft.com/office/drawing/2014/main" id="{29076430-D12C-1BE8-87BC-7DE8FC2D7837}"/>
              </a:ext>
            </a:extLst>
          </p:cNvPr>
          <p:cNvSpPr/>
          <p:nvPr/>
        </p:nvSpPr>
        <p:spPr>
          <a:xfrm>
            <a:off x="7646670" y="1899666"/>
            <a:ext cx="1131570" cy="205740"/>
          </a:xfrm>
          <a:prstGeom prst="rect">
            <a:avLst/>
          </a:prstGeom>
          <a:noFill/>
          <a:ln/>
        </p:spPr>
        <p:txBody>
          <a:bodyPr wrap="square" lIns="0" tIns="0" rIns="0" bIns="0" rtlCol="0" anchor="ctr"/>
          <a:lstStyle/>
          <a:p>
            <a:pPr algn="ctr"/>
            <a:r>
              <a:rPr lang="en-US" sz="1000" dirty="0">
                <a:solidFill>
                  <a:srgbClr val="D4E8D0"/>
                </a:solidFill>
                <a:latin typeface="Calibri" pitchFamily="34" charset="0"/>
                <a:ea typeface="Calibri" pitchFamily="34" charset="-122"/>
                <a:cs typeface="Calibri" pitchFamily="34" charset="-120"/>
              </a:rPr>
              <a:t>~18% (+100%)</a:t>
            </a:r>
            <a:endParaRPr lang="en-US" sz="1000" dirty="0"/>
          </a:p>
        </p:txBody>
      </p:sp>
      <p:sp>
        <p:nvSpPr>
          <p:cNvPr id="59" name="Shape 36">
            <a:extLst>
              <a:ext uri="{FF2B5EF4-FFF2-40B4-BE49-F238E27FC236}">
                <a16:creationId xmlns:a16="http://schemas.microsoft.com/office/drawing/2014/main" id="{2BC9DF55-9B02-F1F7-1B48-A21055668ADB}"/>
              </a:ext>
            </a:extLst>
          </p:cNvPr>
          <p:cNvSpPr/>
          <p:nvPr/>
        </p:nvSpPr>
        <p:spPr>
          <a:xfrm>
            <a:off x="4697730" y="2105406"/>
            <a:ext cx="1714500" cy="205740"/>
          </a:xfrm>
          <a:prstGeom prst="rect">
            <a:avLst/>
          </a:prstGeom>
          <a:solidFill>
            <a:srgbClr val="243665"/>
          </a:solidFill>
          <a:ln w="6350">
            <a:solidFill>
              <a:srgbClr val="2E4270"/>
            </a:solidFill>
            <a:prstDash val="solid"/>
          </a:ln>
        </p:spPr>
        <p:txBody>
          <a:bodyPr/>
          <a:lstStyle/>
          <a:p>
            <a:endParaRPr lang="en-US" sz="1000"/>
          </a:p>
        </p:txBody>
      </p:sp>
      <p:sp>
        <p:nvSpPr>
          <p:cNvPr id="60" name="Text 37">
            <a:extLst>
              <a:ext uri="{FF2B5EF4-FFF2-40B4-BE49-F238E27FC236}">
                <a16:creationId xmlns:a16="http://schemas.microsoft.com/office/drawing/2014/main" id="{0D858A88-C0E2-4247-2633-5929DB98F50C}"/>
              </a:ext>
            </a:extLst>
          </p:cNvPr>
          <p:cNvSpPr/>
          <p:nvPr/>
        </p:nvSpPr>
        <p:spPr>
          <a:xfrm>
            <a:off x="4732020" y="2105406"/>
            <a:ext cx="1645920" cy="205740"/>
          </a:xfrm>
          <a:prstGeom prst="rect">
            <a:avLst/>
          </a:prstGeom>
          <a:noFill/>
          <a:ln/>
        </p:spPr>
        <p:txBody>
          <a:bodyPr wrap="square" lIns="0" tIns="0" rIns="0" bIns="0" rtlCol="0" anchor="ctr"/>
          <a:lstStyle/>
          <a:p>
            <a:r>
              <a:rPr lang="en-US" sz="1000" dirty="0">
                <a:solidFill>
                  <a:srgbClr val="C8D0E0"/>
                </a:solidFill>
                <a:latin typeface="Calibri" pitchFamily="34" charset="0"/>
                <a:ea typeface="Calibri" pitchFamily="34" charset="-122"/>
                <a:cs typeface="Calibri" pitchFamily="34" charset="-120"/>
              </a:rPr>
              <a:t>Avg. savings per switch</a:t>
            </a:r>
            <a:endParaRPr lang="en-US" sz="1000" dirty="0"/>
          </a:p>
        </p:txBody>
      </p:sp>
      <p:sp>
        <p:nvSpPr>
          <p:cNvPr id="61" name="Shape 38">
            <a:extLst>
              <a:ext uri="{FF2B5EF4-FFF2-40B4-BE49-F238E27FC236}">
                <a16:creationId xmlns:a16="http://schemas.microsoft.com/office/drawing/2014/main" id="{AF407E99-A8E3-8EB8-1CEC-BE116953A39E}"/>
              </a:ext>
            </a:extLst>
          </p:cNvPr>
          <p:cNvSpPr/>
          <p:nvPr/>
        </p:nvSpPr>
        <p:spPr>
          <a:xfrm>
            <a:off x="6412230" y="2105406"/>
            <a:ext cx="1200150" cy="205740"/>
          </a:xfrm>
          <a:prstGeom prst="rect">
            <a:avLst/>
          </a:prstGeom>
          <a:solidFill>
            <a:srgbClr val="243665"/>
          </a:solidFill>
          <a:ln w="6350">
            <a:solidFill>
              <a:srgbClr val="2E4270"/>
            </a:solidFill>
            <a:prstDash val="solid"/>
          </a:ln>
        </p:spPr>
        <p:txBody>
          <a:bodyPr/>
          <a:lstStyle/>
          <a:p>
            <a:endParaRPr lang="en-US" sz="1000"/>
          </a:p>
        </p:txBody>
      </p:sp>
      <p:sp>
        <p:nvSpPr>
          <p:cNvPr id="62" name="Text 39">
            <a:extLst>
              <a:ext uri="{FF2B5EF4-FFF2-40B4-BE49-F238E27FC236}">
                <a16:creationId xmlns:a16="http://schemas.microsoft.com/office/drawing/2014/main" id="{4C407122-3E24-114C-C0F5-E258ED325E1F}"/>
              </a:ext>
            </a:extLst>
          </p:cNvPr>
          <p:cNvSpPr/>
          <p:nvPr/>
        </p:nvSpPr>
        <p:spPr>
          <a:xfrm>
            <a:off x="6446520" y="2105406"/>
            <a:ext cx="1131570" cy="205740"/>
          </a:xfrm>
          <a:prstGeom prst="rect">
            <a:avLst/>
          </a:prstGeom>
          <a:noFill/>
          <a:ln/>
        </p:spPr>
        <p:txBody>
          <a:bodyPr wrap="square" lIns="0" tIns="0" rIns="0" bIns="0" rtlCol="0" anchor="ctr"/>
          <a:lstStyle/>
          <a:p>
            <a:pPr algn="ctr"/>
            <a:r>
              <a:rPr lang="en-US" sz="1000" dirty="0">
                <a:solidFill>
                  <a:srgbClr val="C0B8D8"/>
                </a:solidFill>
                <a:latin typeface="Calibri" pitchFamily="34" charset="0"/>
                <a:ea typeface="Calibri" pitchFamily="34" charset="-122"/>
                <a:cs typeface="Calibri" pitchFamily="34" charset="-120"/>
              </a:rPr>
              <a:t>$50/member/mo</a:t>
            </a:r>
            <a:endParaRPr lang="en-US" sz="1000" dirty="0"/>
          </a:p>
        </p:txBody>
      </p:sp>
      <p:sp>
        <p:nvSpPr>
          <p:cNvPr id="63" name="Shape 40">
            <a:extLst>
              <a:ext uri="{FF2B5EF4-FFF2-40B4-BE49-F238E27FC236}">
                <a16:creationId xmlns:a16="http://schemas.microsoft.com/office/drawing/2014/main" id="{B8187277-AC30-0AB7-D8D5-4CCBEB5A6BC8}"/>
              </a:ext>
            </a:extLst>
          </p:cNvPr>
          <p:cNvSpPr/>
          <p:nvPr/>
        </p:nvSpPr>
        <p:spPr>
          <a:xfrm>
            <a:off x="7612380" y="2105406"/>
            <a:ext cx="1200150" cy="205740"/>
          </a:xfrm>
          <a:prstGeom prst="rect">
            <a:avLst/>
          </a:prstGeom>
          <a:solidFill>
            <a:srgbClr val="243665"/>
          </a:solidFill>
          <a:ln w="6350">
            <a:solidFill>
              <a:srgbClr val="2E4270"/>
            </a:solidFill>
            <a:prstDash val="solid"/>
          </a:ln>
        </p:spPr>
        <p:txBody>
          <a:bodyPr/>
          <a:lstStyle/>
          <a:p>
            <a:endParaRPr lang="en-US" sz="1000"/>
          </a:p>
        </p:txBody>
      </p:sp>
      <p:sp>
        <p:nvSpPr>
          <p:cNvPr id="64" name="Text 41">
            <a:extLst>
              <a:ext uri="{FF2B5EF4-FFF2-40B4-BE49-F238E27FC236}">
                <a16:creationId xmlns:a16="http://schemas.microsoft.com/office/drawing/2014/main" id="{04D8CED7-953F-A9EC-DB9F-8D58F0449896}"/>
              </a:ext>
            </a:extLst>
          </p:cNvPr>
          <p:cNvSpPr/>
          <p:nvPr/>
        </p:nvSpPr>
        <p:spPr>
          <a:xfrm>
            <a:off x="7646670" y="2105406"/>
            <a:ext cx="1131570" cy="205740"/>
          </a:xfrm>
          <a:prstGeom prst="rect">
            <a:avLst/>
          </a:prstGeom>
          <a:noFill/>
          <a:ln/>
        </p:spPr>
        <p:txBody>
          <a:bodyPr wrap="square" lIns="0" tIns="0" rIns="0" bIns="0" rtlCol="0" anchor="ctr"/>
          <a:lstStyle/>
          <a:p>
            <a:pPr algn="ctr"/>
            <a:r>
              <a:rPr lang="en-US" sz="1000" dirty="0">
                <a:solidFill>
                  <a:srgbClr val="D4E8D0"/>
                </a:solidFill>
                <a:latin typeface="Calibri" pitchFamily="34" charset="0"/>
                <a:ea typeface="Calibri" pitchFamily="34" charset="-122"/>
                <a:cs typeface="Calibri" pitchFamily="34" charset="-120"/>
              </a:rPr>
              <a:t>$50/member/mo</a:t>
            </a:r>
            <a:endParaRPr lang="en-US" sz="1000" dirty="0"/>
          </a:p>
        </p:txBody>
      </p:sp>
      <p:sp>
        <p:nvSpPr>
          <p:cNvPr id="65" name="Shape 42">
            <a:extLst>
              <a:ext uri="{FF2B5EF4-FFF2-40B4-BE49-F238E27FC236}">
                <a16:creationId xmlns:a16="http://schemas.microsoft.com/office/drawing/2014/main" id="{E6D80D9B-D97B-BAC6-6DA2-F6D7830A22A7}"/>
              </a:ext>
            </a:extLst>
          </p:cNvPr>
          <p:cNvSpPr/>
          <p:nvPr/>
        </p:nvSpPr>
        <p:spPr>
          <a:xfrm>
            <a:off x="4697730" y="2311146"/>
            <a:ext cx="1714500" cy="205740"/>
          </a:xfrm>
          <a:prstGeom prst="rect">
            <a:avLst/>
          </a:prstGeom>
          <a:solidFill>
            <a:srgbClr val="1D2F55"/>
          </a:solidFill>
          <a:ln w="6350">
            <a:solidFill>
              <a:srgbClr val="2E4270"/>
            </a:solidFill>
            <a:prstDash val="solid"/>
          </a:ln>
        </p:spPr>
        <p:txBody>
          <a:bodyPr/>
          <a:lstStyle/>
          <a:p>
            <a:endParaRPr lang="en-US" sz="1000"/>
          </a:p>
        </p:txBody>
      </p:sp>
      <p:sp>
        <p:nvSpPr>
          <p:cNvPr id="66" name="Text 43">
            <a:extLst>
              <a:ext uri="{FF2B5EF4-FFF2-40B4-BE49-F238E27FC236}">
                <a16:creationId xmlns:a16="http://schemas.microsoft.com/office/drawing/2014/main" id="{35F14CD8-90F2-87A9-6CE0-73171468D1EF}"/>
              </a:ext>
            </a:extLst>
          </p:cNvPr>
          <p:cNvSpPr/>
          <p:nvPr/>
        </p:nvSpPr>
        <p:spPr>
          <a:xfrm>
            <a:off x="4732020" y="2311146"/>
            <a:ext cx="1645920" cy="205740"/>
          </a:xfrm>
          <a:prstGeom prst="rect">
            <a:avLst/>
          </a:prstGeom>
          <a:noFill/>
          <a:ln/>
        </p:spPr>
        <p:txBody>
          <a:bodyPr wrap="square" lIns="0" tIns="0" rIns="0" bIns="0" rtlCol="0" anchor="ctr"/>
          <a:lstStyle/>
          <a:p>
            <a:r>
              <a:rPr lang="en-US" sz="1000" dirty="0">
                <a:solidFill>
                  <a:srgbClr val="C8D0E0"/>
                </a:solidFill>
                <a:latin typeface="Calibri" pitchFamily="34" charset="0"/>
                <a:ea typeface="Calibri" pitchFamily="34" charset="-122"/>
                <a:cs typeface="Calibri" pitchFamily="34" charset="-120"/>
              </a:rPr>
              <a:t>Monthly savings captured</a:t>
            </a:r>
            <a:endParaRPr lang="en-US" sz="1000" dirty="0"/>
          </a:p>
        </p:txBody>
      </p:sp>
      <p:sp>
        <p:nvSpPr>
          <p:cNvPr id="67" name="Shape 44">
            <a:extLst>
              <a:ext uri="{FF2B5EF4-FFF2-40B4-BE49-F238E27FC236}">
                <a16:creationId xmlns:a16="http://schemas.microsoft.com/office/drawing/2014/main" id="{EA490F1D-65F3-6F2C-E50C-6FB068DFAF1B}"/>
              </a:ext>
            </a:extLst>
          </p:cNvPr>
          <p:cNvSpPr/>
          <p:nvPr/>
        </p:nvSpPr>
        <p:spPr>
          <a:xfrm>
            <a:off x="6412230" y="2311146"/>
            <a:ext cx="1200150" cy="205740"/>
          </a:xfrm>
          <a:prstGeom prst="rect">
            <a:avLst/>
          </a:prstGeom>
          <a:solidFill>
            <a:srgbClr val="1D2F55"/>
          </a:solidFill>
          <a:ln w="6350">
            <a:solidFill>
              <a:srgbClr val="2E4270"/>
            </a:solidFill>
            <a:prstDash val="solid"/>
          </a:ln>
        </p:spPr>
        <p:txBody>
          <a:bodyPr/>
          <a:lstStyle/>
          <a:p>
            <a:endParaRPr lang="en-US" sz="1000"/>
          </a:p>
        </p:txBody>
      </p:sp>
      <p:sp>
        <p:nvSpPr>
          <p:cNvPr id="68" name="Text 45">
            <a:extLst>
              <a:ext uri="{FF2B5EF4-FFF2-40B4-BE49-F238E27FC236}">
                <a16:creationId xmlns:a16="http://schemas.microsoft.com/office/drawing/2014/main" id="{37AC5199-F077-56A0-4E95-FD1E1B7453DB}"/>
              </a:ext>
            </a:extLst>
          </p:cNvPr>
          <p:cNvSpPr/>
          <p:nvPr/>
        </p:nvSpPr>
        <p:spPr>
          <a:xfrm>
            <a:off x="6446520" y="2311146"/>
            <a:ext cx="1131570" cy="205740"/>
          </a:xfrm>
          <a:prstGeom prst="rect">
            <a:avLst/>
          </a:prstGeom>
          <a:noFill/>
          <a:ln/>
        </p:spPr>
        <p:txBody>
          <a:bodyPr wrap="square" lIns="0" tIns="0" rIns="0" bIns="0" rtlCol="0" anchor="ctr"/>
          <a:lstStyle/>
          <a:p>
            <a:pPr algn="ctr"/>
            <a:r>
              <a:rPr lang="en-US" sz="1000" dirty="0">
                <a:solidFill>
                  <a:srgbClr val="C0B8D8"/>
                </a:solidFill>
                <a:latin typeface="Calibri" pitchFamily="34" charset="0"/>
                <a:ea typeface="Calibri" pitchFamily="34" charset="-122"/>
                <a:cs typeface="Calibri" pitchFamily="34" charset="-120"/>
              </a:rPr>
              <a:t>—</a:t>
            </a:r>
            <a:endParaRPr lang="en-US" sz="1000" dirty="0"/>
          </a:p>
        </p:txBody>
      </p:sp>
      <p:sp>
        <p:nvSpPr>
          <p:cNvPr id="69" name="Shape 46">
            <a:extLst>
              <a:ext uri="{FF2B5EF4-FFF2-40B4-BE49-F238E27FC236}">
                <a16:creationId xmlns:a16="http://schemas.microsoft.com/office/drawing/2014/main" id="{647CD580-DDFB-3738-EA82-712052395F99}"/>
              </a:ext>
            </a:extLst>
          </p:cNvPr>
          <p:cNvSpPr/>
          <p:nvPr/>
        </p:nvSpPr>
        <p:spPr>
          <a:xfrm>
            <a:off x="7612380" y="2311146"/>
            <a:ext cx="1200150" cy="205740"/>
          </a:xfrm>
          <a:prstGeom prst="rect">
            <a:avLst/>
          </a:prstGeom>
          <a:solidFill>
            <a:srgbClr val="1D2F55"/>
          </a:solidFill>
          <a:ln w="6350">
            <a:solidFill>
              <a:srgbClr val="2E4270"/>
            </a:solidFill>
            <a:prstDash val="solid"/>
          </a:ln>
        </p:spPr>
        <p:txBody>
          <a:bodyPr/>
          <a:lstStyle/>
          <a:p>
            <a:endParaRPr lang="en-US" sz="1000"/>
          </a:p>
        </p:txBody>
      </p:sp>
      <p:sp>
        <p:nvSpPr>
          <p:cNvPr id="70" name="Text 47">
            <a:extLst>
              <a:ext uri="{FF2B5EF4-FFF2-40B4-BE49-F238E27FC236}">
                <a16:creationId xmlns:a16="http://schemas.microsoft.com/office/drawing/2014/main" id="{01B51860-E73C-1553-8BB3-A53CCB00B437}"/>
              </a:ext>
            </a:extLst>
          </p:cNvPr>
          <p:cNvSpPr/>
          <p:nvPr/>
        </p:nvSpPr>
        <p:spPr>
          <a:xfrm>
            <a:off x="7646670" y="2311146"/>
            <a:ext cx="1131570" cy="205740"/>
          </a:xfrm>
          <a:prstGeom prst="rect">
            <a:avLst/>
          </a:prstGeom>
          <a:noFill/>
          <a:ln/>
        </p:spPr>
        <p:txBody>
          <a:bodyPr wrap="square" lIns="0" tIns="0" rIns="0" bIns="0" rtlCol="0" anchor="ctr"/>
          <a:lstStyle/>
          <a:p>
            <a:pPr algn="ctr"/>
            <a:r>
              <a:rPr lang="en-US" sz="1000" dirty="0">
                <a:solidFill>
                  <a:srgbClr val="D4E8D0"/>
                </a:solidFill>
                <a:latin typeface="Calibri" pitchFamily="34" charset="0"/>
                <a:ea typeface="Calibri" pitchFamily="34" charset="-122"/>
                <a:cs typeface="Calibri" pitchFamily="34" charset="-120"/>
              </a:rPr>
              <a:t>$20,000+</a:t>
            </a:r>
            <a:endParaRPr lang="en-US" sz="1000" dirty="0"/>
          </a:p>
        </p:txBody>
      </p:sp>
      <p:sp>
        <p:nvSpPr>
          <p:cNvPr id="71" name="Shape 48">
            <a:extLst>
              <a:ext uri="{FF2B5EF4-FFF2-40B4-BE49-F238E27FC236}">
                <a16:creationId xmlns:a16="http://schemas.microsoft.com/office/drawing/2014/main" id="{3EB5395A-1C09-03B5-7ED5-9E8AC32680AC}"/>
              </a:ext>
            </a:extLst>
          </p:cNvPr>
          <p:cNvSpPr/>
          <p:nvPr/>
        </p:nvSpPr>
        <p:spPr>
          <a:xfrm>
            <a:off x="4697730" y="2516886"/>
            <a:ext cx="1714500" cy="205740"/>
          </a:xfrm>
          <a:prstGeom prst="rect">
            <a:avLst/>
          </a:prstGeom>
          <a:solidFill>
            <a:srgbClr val="243665"/>
          </a:solidFill>
          <a:ln w="6350">
            <a:solidFill>
              <a:srgbClr val="2E4270"/>
            </a:solidFill>
            <a:prstDash val="solid"/>
          </a:ln>
        </p:spPr>
        <p:txBody>
          <a:bodyPr/>
          <a:lstStyle/>
          <a:p>
            <a:endParaRPr lang="en-US" sz="1000"/>
          </a:p>
        </p:txBody>
      </p:sp>
      <p:sp>
        <p:nvSpPr>
          <p:cNvPr id="72" name="Text 49">
            <a:extLst>
              <a:ext uri="{FF2B5EF4-FFF2-40B4-BE49-F238E27FC236}">
                <a16:creationId xmlns:a16="http://schemas.microsoft.com/office/drawing/2014/main" id="{8D32BA0D-F675-77FC-73AD-E7581D013600}"/>
              </a:ext>
            </a:extLst>
          </p:cNvPr>
          <p:cNvSpPr/>
          <p:nvPr/>
        </p:nvSpPr>
        <p:spPr>
          <a:xfrm>
            <a:off x="4732020" y="2516886"/>
            <a:ext cx="1645920" cy="205740"/>
          </a:xfrm>
          <a:prstGeom prst="rect">
            <a:avLst/>
          </a:prstGeom>
          <a:noFill/>
          <a:ln/>
        </p:spPr>
        <p:txBody>
          <a:bodyPr wrap="square" lIns="0" tIns="0" rIns="0" bIns="0" rtlCol="0" anchor="ctr"/>
          <a:lstStyle/>
          <a:p>
            <a:r>
              <a:rPr lang="en-US" sz="1000" dirty="0">
                <a:solidFill>
                  <a:srgbClr val="C8D0E0"/>
                </a:solidFill>
                <a:latin typeface="Calibri" pitchFamily="34" charset="0"/>
                <a:ea typeface="Calibri" pitchFamily="34" charset="-122"/>
                <a:cs typeface="Calibri" pitchFamily="34" charset="-120"/>
              </a:rPr>
              <a:t>Annual savings</a:t>
            </a:r>
            <a:endParaRPr lang="en-US" sz="1000" dirty="0"/>
          </a:p>
        </p:txBody>
      </p:sp>
      <p:sp>
        <p:nvSpPr>
          <p:cNvPr id="73" name="Shape 50">
            <a:extLst>
              <a:ext uri="{FF2B5EF4-FFF2-40B4-BE49-F238E27FC236}">
                <a16:creationId xmlns:a16="http://schemas.microsoft.com/office/drawing/2014/main" id="{2A066901-52A6-2BC5-F7EE-7EA74D10FE45}"/>
              </a:ext>
            </a:extLst>
          </p:cNvPr>
          <p:cNvSpPr/>
          <p:nvPr/>
        </p:nvSpPr>
        <p:spPr>
          <a:xfrm>
            <a:off x="6412230" y="2516886"/>
            <a:ext cx="1200150" cy="205740"/>
          </a:xfrm>
          <a:prstGeom prst="rect">
            <a:avLst/>
          </a:prstGeom>
          <a:solidFill>
            <a:srgbClr val="243665"/>
          </a:solidFill>
          <a:ln w="6350">
            <a:solidFill>
              <a:srgbClr val="2E4270"/>
            </a:solidFill>
            <a:prstDash val="solid"/>
          </a:ln>
        </p:spPr>
        <p:txBody>
          <a:bodyPr/>
          <a:lstStyle/>
          <a:p>
            <a:endParaRPr lang="en-US" sz="1000"/>
          </a:p>
        </p:txBody>
      </p:sp>
      <p:sp>
        <p:nvSpPr>
          <p:cNvPr id="74" name="Text 51">
            <a:extLst>
              <a:ext uri="{FF2B5EF4-FFF2-40B4-BE49-F238E27FC236}">
                <a16:creationId xmlns:a16="http://schemas.microsoft.com/office/drawing/2014/main" id="{1854B955-8CFF-A255-23BB-2E7F596E1282}"/>
              </a:ext>
            </a:extLst>
          </p:cNvPr>
          <p:cNvSpPr/>
          <p:nvPr/>
        </p:nvSpPr>
        <p:spPr>
          <a:xfrm>
            <a:off x="6446520" y="2516886"/>
            <a:ext cx="1131570" cy="205740"/>
          </a:xfrm>
          <a:prstGeom prst="rect">
            <a:avLst/>
          </a:prstGeom>
          <a:noFill/>
          <a:ln/>
        </p:spPr>
        <p:txBody>
          <a:bodyPr wrap="square" lIns="0" tIns="0" rIns="0" bIns="0" rtlCol="0" anchor="ctr"/>
          <a:lstStyle/>
          <a:p>
            <a:pPr algn="ctr"/>
            <a:r>
              <a:rPr lang="en-US" sz="1000" dirty="0">
                <a:solidFill>
                  <a:srgbClr val="C0B8D8"/>
                </a:solidFill>
                <a:latin typeface="Calibri" pitchFamily="34" charset="0"/>
                <a:ea typeface="Calibri" pitchFamily="34" charset="-122"/>
                <a:cs typeface="Calibri" pitchFamily="34" charset="-120"/>
              </a:rPr>
              <a:t>—</a:t>
            </a:r>
            <a:endParaRPr lang="en-US" sz="1000" dirty="0"/>
          </a:p>
        </p:txBody>
      </p:sp>
      <p:sp>
        <p:nvSpPr>
          <p:cNvPr id="75" name="Shape 52">
            <a:extLst>
              <a:ext uri="{FF2B5EF4-FFF2-40B4-BE49-F238E27FC236}">
                <a16:creationId xmlns:a16="http://schemas.microsoft.com/office/drawing/2014/main" id="{194D9E09-A595-E97D-E064-75B27A21C391}"/>
              </a:ext>
            </a:extLst>
          </p:cNvPr>
          <p:cNvSpPr/>
          <p:nvPr/>
        </p:nvSpPr>
        <p:spPr>
          <a:xfrm>
            <a:off x="7612380" y="2516886"/>
            <a:ext cx="1200150" cy="205740"/>
          </a:xfrm>
          <a:prstGeom prst="rect">
            <a:avLst/>
          </a:prstGeom>
          <a:solidFill>
            <a:srgbClr val="243665"/>
          </a:solidFill>
          <a:ln w="6350">
            <a:solidFill>
              <a:srgbClr val="2E4270"/>
            </a:solidFill>
            <a:prstDash val="solid"/>
          </a:ln>
        </p:spPr>
        <p:txBody>
          <a:bodyPr/>
          <a:lstStyle/>
          <a:p>
            <a:endParaRPr lang="en-US" sz="1000"/>
          </a:p>
        </p:txBody>
      </p:sp>
      <p:sp>
        <p:nvSpPr>
          <p:cNvPr id="76" name="Text 53">
            <a:extLst>
              <a:ext uri="{FF2B5EF4-FFF2-40B4-BE49-F238E27FC236}">
                <a16:creationId xmlns:a16="http://schemas.microsoft.com/office/drawing/2014/main" id="{6F6E6733-BEF3-6BD9-CE53-7BDA2D0A5FE5}"/>
              </a:ext>
            </a:extLst>
          </p:cNvPr>
          <p:cNvSpPr/>
          <p:nvPr/>
        </p:nvSpPr>
        <p:spPr>
          <a:xfrm>
            <a:off x="7646670" y="2516886"/>
            <a:ext cx="1131570" cy="205740"/>
          </a:xfrm>
          <a:prstGeom prst="rect">
            <a:avLst/>
          </a:prstGeom>
          <a:noFill/>
          <a:ln/>
        </p:spPr>
        <p:txBody>
          <a:bodyPr wrap="square" lIns="0" tIns="0" rIns="0" bIns="0" rtlCol="0" anchor="ctr"/>
          <a:lstStyle/>
          <a:p>
            <a:pPr algn="ctr"/>
            <a:r>
              <a:rPr lang="en-US" sz="1000" dirty="0">
                <a:solidFill>
                  <a:srgbClr val="D4E8D0"/>
                </a:solidFill>
                <a:latin typeface="Calibri" pitchFamily="34" charset="0"/>
                <a:ea typeface="Calibri" pitchFamily="34" charset="-122"/>
                <a:cs typeface="Calibri" pitchFamily="34" charset="-120"/>
              </a:rPr>
              <a:t>$240,000+</a:t>
            </a:r>
            <a:endParaRPr lang="en-US" sz="1000" dirty="0"/>
          </a:p>
        </p:txBody>
      </p:sp>
      <p:sp>
        <p:nvSpPr>
          <p:cNvPr id="77" name="Shape 54">
            <a:extLst>
              <a:ext uri="{FF2B5EF4-FFF2-40B4-BE49-F238E27FC236}">
                <a16:creationId xmlns:a16="http://schemas.microsoft.com/office/drawing/2014/main" id="{968DE5CA-8583-07F8-3346-603FFA554AC6}"/>
              </a:ext>
            </a:extLst>
          </p:cNvPr>
          <p:cNvSpPr/>
          <p:nvPr/>
        </p:nvSpPr>
        <p:spPr>
          <a:xfrm>
            <a:off x="4697730" y="2722626"/>
            <a:ext cx="1714500" cy="205740"/>
          </a:xfrm>
          <a:prstGeom prst="rect">
            <a:avLst/>
          </a:prstGeom>
          <a:solidFill>
            <a:srgbClr val="1D2F55"/>
          </a:solidFill>
          <a:ln w="6350">
            <a:solidFill>
              <a:srgbClr val="2E4270"/>
            </a:solidFill>
            <a:prstDash val="solid"/>
          </a:ln>
        </p:spPr>
        <p:txBody>
          <a:bodyPr/>
          <a:lstStyle/>
          <a:p>
            <a:endParaRPr lang="en-US" sz="1000"/>
          </a:p>
        </p:txBody>
      </p:sp>
      <p:sp>
        <p:nvSpPr>
          <p:cNvPr id="78" name="Text 55">
            <a:extLst>
              <a:ext uri="{FF2B5EF4-FFF2-40B4-BE49-F238E27FC236}">
                <a16:creationId xmlns:a16="http://schemas.microsoft.com/office/drawing/2014/main" id="{4341D805-26C0-0234-2A74-9E2771E3B0B0}"/>
              </a:ext>
            </a:extLst>
          </p:cNvPr>
          <p:cNvSpPr/>
          <p:nvPr/>
        </p:nvSpPr>
        <p:spPr>
          <a:xfrm>
            <a:off x="4732020" y="2722626"/>
            <a:ext cx="1645920" cy="205740"/>
          </a:xfrm>
          <a:prstGeom prst="rect">
            <a:avLst/>
          </a:prstGeom>
          <a:noFill/>
          <a:ln/>
        </p:spPr>
        <p:txBody>
          <a:bodyPr wrap="square" lIns="0" tIns="0" rIns="0" bIns="0" rtlCol="0" anchor="ctr"/>
          <a:lstStyle/>
          <a:p>
            <a:r>
              <a:rPr lang="en-US" sz="1000" dirty="0">
                <a:solidFill>
                  <a:srgbClr val="C8D0E0"/>
                </a:solidFill>
                <a:latin typeface="Calibri" pitchFamily="34" charset="0"/>
                <a:ea typeface="Calibri" pitchFamily="34" charset="-122"/>
                <a:cs typeface="Calibri" pitchFamily="34" charset="-120"/>
              </a:rPr>
              <a:t>Tool cost (Gold plan)</a:t>
            </a:r>
            <a:endParaRPr lang="en-US" sz="1000" dirty="0"/>
          </a:p>
        </p:txBody>
      </p:sp>
      <p:sp>
        <p:nvSpPr>
          <p:cNvPr id="79" name="Shape 56">
            <a:extLst>
              <a:ext uri="{FF2B5EF4-FFF2-40B4-BE49-F238E27FC236}">
                <a16:creationId xmlns:a16="http://schemas.microsoft.com/office/drawing/2014/main" id="{68778462-CB06-5F52-F26A-36AC0D573D7A}"/>
              </a:ext>
            </a:extLst>
          </p:cNvPr>
          <p:cNvSpPr/>
          <p:nvPr/>
        </p:nvSpPr>
        <p:spPr>
          <a:xfrm>
            <a:off x="6412230" y="2722626"/>
            <a:ext cx="1200150" cy="205740"/>
          </a:xfrm>
          <a:prstGeom prst="rect">
            <a:avLst/>
          </a:prstGeom>
          <a:solidFill>
            <a:srgbClr val="1D2F55"/>
          </a:solidFill>
          <a:ln w="6350">
            <a:solidFill>
              <a:srgbClr val="2E4270"/>
            </a:solidFill>
            <a:prstDash val="solid"/>
          </a:ln>
        </p:spPr>
        <p:txBody>
          <a:bodyPr/>
          <a:lstStyle/>
          <a:p>
            <a:endParaRPr lang="en-US" sz="1000"/>
          </a:p>
        </p:txBody>
      </p:sp>
      <p:sp>
        <p:nvSpPr>
          <p:cNvPr id="80" name="Text 57">
            <a:extLst>
              <a:ext uri="{FF2B5EF4-FFF2-40B4-BE49-F238E27FC236}">
                <a16:creationId xmlns:a16="http://schemas.microsoft.com/office/drawing/2014/main" id="{32199236-63AE-1ED0-4144-7E974AE22063}"/>
              </a:ext>
            </a:extLst>
          </p:cNvPr>
          <p:cNvSpPr/>
          <p:nvPr/>
        </p:nvSpPr>
        <p:spPr>
          <a:xfrm>
            <a:off x="6446520" y="2722626"/>
            <a:ext cx="1131570" cy="205740"/>
          </a:xfrm>
          <a:prstGeom prst="rect">
            <a:avLst/>
          </a:prstGeom>
          <a:noFill/>
          <a:ln/>
        </p:spPr>
        <p:txBody>
          <a:bodyPr wrap="square" lIns="0" tIns="0" rIns="0" bIns="0" rtlCol="0" anchor="ctr"/>
          <a:lstStyle/>
          <a:p>
            <a:pPr algn="ctr"/>
            <a:r>
              <a:rPr lang="en-US" sz="1000" dirty="0">
                <a:solidFill>
                  <a:srgbClr val="C0B8D8"/>
                </a:solidFill>
                <a:latin typeface="Calibri" pitchFamily="34" charset="0"/>
                <a:ea typeface="Calibri" pitchFamily="34" charset="-122"/>
                <a:cs typeface="Calibri" pitchFamily="34" charset="-120"/>
              </a:rPr>
              <a:t>—</a:t>
            </a:r>
            <a:endParaRPr lang="en-US" sz="1000" dirty="0"/>
          </a:p>
        </p:txBody>
      </p:sp>
      <p:sp>
        <p:nvSpPr>
          <p:cNvPr id="81" name="Shape 58">
            <a:extLst>
              <a:ext uri="{FF2B5EF4-FFF2-40B4-BE49-F238E27FC236}">
                <a16:creationId xmlns:a16="http://schemas.microsoft.com/office/drawing/2014/main" id="{6B1A3CAB-0AD4-2B2D-F716-6558A489E58D}"/>
              </a:ext>
            </a:extLst>
          </p:cNvPr>
          <p:cNvSpPr/>
          <p:nvPr/>
        </p:nvSpPr>
        <p:spPr>
          <a:xfrm>
            <a:off x="7612380" y="2722626"/>
            <a:ext cx="1200150" cy="205740"/>
          </a:xfrm>
          <a:prstGeom prst="rect">
            <a:avLst/>
          </a:prstGeom>
          <a:solidFill>
            <a:srgbClr val="1D2F55"/>
          </a:solidFill>
          <a:ln w="6350">
            <a:solidFill>
              <a:srgbClr val="2E4270"/>
            </a:solidFill>
            <a:prstDash val="solid"/>
          </a:ln>
        </p:spPr>
        <p:txBody>
          <a:bodyPr/>
          <a:lstStyle/>
          <a:p>
            <a:endParaRPr lang="en-US" sz="1000"/>
          </a:p>
        </p:txBody>
      </p:sp>
      <p:sp>
        <p:nvSpPr>
          <p:cNvPr id="82" name="Text 59">
            <a:extLst>
              <a:ext uri="{FF2B5EF4-FFF2-40B4-BE49-F238E27FC236}">
                <a16:creationId xmlns:a16="http://schemas.microsoft.com/office/drawing/2014/main" id="{1431EF58-DC37-497D-B35D-6F7AE7ACB2BA}"/>
              </a:ext>
            </a:extLst>
          </p:cNvPr>
          <p:cNvSpPr/>
          <p:nvPr/>
        </p:nvSpPr>
        <p:spPr>
          <a:xfrm>
            <a:off x="7646670" y="2722626"/>
            <a:ext cx="1131570" cy="205740"/>
          </a:xfrm>
          <a:prstGeom prst="rect">
            <a:avLst/>
          </a:prstGeom>
          <a:noFill/>
          <a:ln/>
        </p:spPr>
        <p:txBody>
          <a:bodyPr wrap="square" lIns="0" tIns="0" rIns="0" bIns="0" rtlCol="0" anchor="ctr"/>
          <a:lstStyle/>
          <a:p>
            <a:pPr algn="ctr"/>
            <a:r>
              <a:rPr lang="en-US" sz="1000" dirty="0">
                <a:solidFill>
                  <a:srgbClr val="D4E8D0"/>
                </a:solidFill>
                <a:latin typeface="Calibri" pitchFamily="34" charset="0"/>
                <a:ea typeface="Calibri" pitchFamily="34" charset="-122"/>
                <a:cs typeface="Calibri" pitchFamily="34" charset="-120"/>
              </a:rPr>
              <a:t>$650/mo</a:t>
            </a:r>
            <a:endParaRPr lang="en-US" sz="1000" dirty="0"/>
          </a:p>
        </p:txBody>
      </p:sp>
      <p:sp>
        <p:nvSpPr>
          <p:cNvPr id="83" name="Shape 60">
            <a:extLst>
              <a:ext uri="{FF2B5EF4-FFF2-40B4-BE49-F238E27FC236}">
                <a16:creationId xmlns:a16="http://schemas.microsoft.com/office/drawing/2014/main" id="{188FFAE9-75BC-DC4E-79AE-8DA6D70095E8}"/>
              </a:ext>
            </a:extLst>
          </p:cNvPr>
          <p:cNvSpPr/>
          <p:nvPr/>
        </p:nvSpPr>
        <p:spPr>
          <a:xfrm>
            <a:off x="4697730" y="2928366"/>
            <a:ext cx="1714500" cy="205740"/>
          </a:xfrm>
          <a:prstGeom prst="rect">
            <a:avLst/>
          </a:prstGeom>
          <a:solidFill>
            <a:srgbClr val="1C3A6E"/>
          </a:solidFill>
          <a:ln w="6350">
            <a:solidFill>
              <a:srgbClr val="2E4270"/>
            </a:solidFill>
            <a:prstDash val="solid"/>
          </a:ln>
        </p:spPr>
        <p:txBody>
          <a:bodyPr/>
          <a:lstStyle/>
          <a:p>
            <a:endParaRPr lang="en-US" sz="1000"/>
          </a:p>
        </p:txBody>
      </p:sp>
      <p:sp>
        <p:nvSpPr>
          <p:cNvPr id="84" name="Text 61">
            <a:extLst>
              <a:ext uri="{FF2B5EF4-FFF2-40B4-BE49-F238E27FC236}">
                <a16:creationId xmlns:a16="http://schemas.microsoft.com/office/drawing/2014/main" id="{36F4411F-D467-D5A7-17E9-43A930F96833}"/>
              </a:ext>
            </a:extLst>
          </p:cNvPr>
          <p:cNvSpPr/>
          <p:nvPr/>
        </p:nvSpPr>
        <p:spPr>
          <a:xfrm>
            <a:off x="4732020" y="2928366"/>
            <a:ext cx="1645920" cy="205740"/>
          </a:xfrm>
          <a:prstGeom prst="rect">
            <a:avLst/>
          </a:prstGeom>
          <a:noFill/>
          <a:ln/>
        </p:spPr>
        <p:txBody>
          <a:bodyPr wrap="square" lIns="0" tIns="0" rIns="0" bIns="0" rtlCol="0" anchor="ctr"/>
          <a:lstStyle/>
          <a:p>
            <a:r>
              <a:rPr lang="en-US" sz="1000" b="1" dirty="0">
                <a:solidFill>
                  <a:srgbClr val="C8D0E0"/>
                </a:solidFill>
                <a:latin typeface="Calibri" pitchFamily="34" charset="0"/>
                <a:ea typeface="Calibri" pitchFamily="34" charset="-122"/>
                <a:cs typeface="Calibri" pitchFamily="34" charset="-120"/>
              </a:rPr>
              <a:t>Net annual ROI</a:t>
            </a:r>
            <a:endParaRPr lang="en-US" sz="1000" dirty="0"/>
          </a:p>
        </p:txBody>
      </p:sp>
      <p:sp>
        <p:nvSpPr>
          <p:cNvPr id="85" name="Shape 62">
            <a:extLst>
              <a:ext uri="{FF2B5EF4-FFF2-40B4-BE49-F238E27FC236}">
                <a16:creationId xmlns:a16="http://schemas.microsoft.com/office/drawing/2014/main" id="{6560DAD8-D9C2-1E05-9495-12D8DE0689C9}"/>
              </a:ext>
            </a:extLst>
          </p:cNvPr>
          <p:cNvSpPr/>
          <p:nvPr/>
        </p:nvSpPr>
        <p:spPr>
          <a:xfrm>
            <a:off x="6412230" y="2928366"/>
            <a:ext cx="1200150" cy="205740"/>
          </a:xfrm>
          <a:prstGeom prst="rect">
            <a:avLst/>
          </a:prstGeom>
          <a:solidFill>
            <a:srgbClr val="1C3A6E"/>
          </a:solidFill>
          <a:ln w="6350">
            <a:solidFill>
              <a:srgbClr val="2E4270"/>
            </a:solidFill>
            <a:prstDash val="solid"/>
          </a:ln>
        </p:spPr>
        <p:txBody>
          <a:bodyPr/>
          <a:lstStyle/>
          <a:p>
            <a:endParaRPr lang="en-US" sz="1000"/>
          </a:p>
        </p:txBody>
      </p:sp>
      <p:sp>
        <p:nvSpPr>
          <p:cNvPr id="86" name="Text 63">
            <a:extLst>
              <a:ext uri="{FF2B5EF4-FFF2-40B4-BE49-F238E27FC236}">
                <a16:creationId xmlns:a16="http://schemas.microsoft.com/office/drawing/2014/main" id="{0C914B91-73DB-4A4D-8E6A-8B7F45B73CBE}"/>
              </a:ext>
            </a:extLst>
          </p:cNvPr>
          <p:cNvSpPr/>
          <p:nvPr/>
        </p:nvSpPr>
        <p:spPr>
          <a:xfrm>
            <a:off x="6446520" y="2928366"/>
            <a:ext cx="1131570" cy="205740"/>
          </a:xfrm>
          <a:prstGeom prst="rect">
            <a:avLst/>
          </a:prstGeom>
          <a:noFill/>
          <a:ln/>
        </p:spPr>
        <p:txBody>
          <a:bodyPr wrap="square" lIns="0" tIns="0" rIns="0" bIns="0" rtlCol="0" anchor="ctr"/>
          <a:lstStyle/>
          <a:p>
            <a:pPr algn="ctr"/>
            <a:r>
              <a:rPr lang="en-US" sz="1000" dirty="0">
                <a:solidFill>
                  <a:srgbClr val="C0B8D8"/>
                </a:solidFill>
                <a:latin typeface="Calibri" pitchFamily="34" charset="0"/>
                <a:ea typeface="Calibri" pitchFamily="34" charset="-122"/>
                <a:cs typeface="Calibri" pitchFamily="34" charset="-120"/>
              </a:rPr>
              <a:t>—</a:t>
            </a:r>
            <a:endParaRPr lang="en-US" sz="1000" dirty="0"/>
          </a:p>
        </p:txBody>
      </p:sp>
      <p:sp>
        <p:nvSpPr>
          <p:cNvPr id="87" name="Shape 64">
            <a:extLst>
              <a:ext uri="{FF2B5EF4-FFF2-40B4-BE49-F238E27FC236}">
                <a16:creationId xmlns:a16="http://schemas.microsoft.com/office/drawing/2014/main" id="{56CE2EBD-D833-393E-ED20-BA0107F61D8B}"/>
              </a:ext>
            </a:extLst>
          </p:cNvPr>
          <p:cNvSpPr/>
          <p:nvPr/>
        </p:nvSpPr>
        <p:spPr>
          <a:xfrm>
            <a:off x="7612380" y="2928366"/>
            <a:ext cx="1200150" cy="205740"/>
          </a:xfrm>
          <a:prstGeom prst="rect">
            <a:avLst/>
          </a:prstGeom>
          <a:solidFill>
            <a:srgbClr val="1C3A6E"/>
          </a:solidFill>
          <a:ln w="6350">
            <a:solidFill>
              <a:srgbClr val="2E4270"/>
            </a:solidFill>
            <a:prstDash val="solid"/>
          </a:ln>
        </p:spPr>
        <p:txBody>
          <a:bodyPr/>
          <a:lstStyle/>
          <a:p>
            <a:endParaRPr lang="en-US" sz="1000"/>
          </a:p>
        </p:txBody>
      </p:sp>
      <p:sp>
        <p:nvSpPr>
          <p:cNvPr id="88" name="Text 65">
            <a:extLst>
              <a:ext uri="{FF2B5EF4-FFF2-40B4-BE49-F238E27FC236}">
                <a16:creationId xmlns:a16="http://schemas.microsoft.com/office/drawing/2014/main" id="{53C8368E-1E17-5E60-9D33-70D8D4E12B6B}"/>
              </a:ext>
            </a:extLst>
          </p:cNvPr>
          <p:cNvSpPr/>
          <p:nvPr/>
        </p:nvSpPr>
        <p:spPr>
          <a:xfrm>
            <a:off x="7646670" y="2928366"/>
            <a:ext cx="1131570" cy="205740"/>
          </a:xfrm>
          <a:prstGeom prst="rect">
            <a:avLst/>
          </a:prstGeom>
          <a:noFill/>
          <a:ln/>
        </p:spPr>
        <p:txBody>
          <a:bodyPr wrap="square" lIns="0" tIns="0" rIns="0" bIns="0" rtlCol="0" anchor="ctr"/>
          <a:lstStyle/>
          <a:p>
            <a:pPr algn="ctr"/>
            <a:r>
              <a:rPr lang="en-US" sz="1000" b="1" dirty="0">
                <a:solidFill>
                  <a:srgbClr val="3DBFB8"/>
                </a:solidFill>
                <a:latin typeface="Calibri" pitchFamily="34" charset="0"/>
                <a:ea typeface="Calibri" pitchFamily="34" charset="-122"/>
                <a:cs typeface="Calibri" pitchFamily="34" charset="-120"/>
              </a:rPr>
              <a:t>+$232,200</a:t>
            </a:r>
            <a:endParaRPr lang="en-US" sz="1000" dirty="0"/>
          </a:p>
        </p:txBody>
      </p:sp>
      <p:sp>
        <p:nvSpPr>
          <p:cNvPr id="89" name="Text 66">
            <a:extLst>
              <a:ext uri="{FF2B5EF4-FFF2-40B4-BE49-F238E27FC236}">
                <a16:creationId xmlns:a16="http://schemas.microsoft.com/office/drawing/2014/main" id="{E2E76220-0421-D7B0-26F7-3432A5DD71AF}"/>
              </a:ext>
            </a:extLst>
          </p:cNvPr>
          <p:cNvSpPr/>
          <p:nvPr/>
        </p:nvSpPr>
        <p:spPr>
          <a:xfrm>
            <a:off x="4681650" y="3428883"/>
            <a:ext cx="754380" cy="171450"/>
          </a:xfrm>
          <a:prstGeom prst="rect">
            <a:avLst/>
          </a:prstGeom>
          <a:noFill/>
          <a:ln/>
        </p:spPr>
        <p:txBody>
          <a:bodyPr wrap="square" lIns="0" tIns="0" rIns="0" bIns="0" rtlCol="0" anchor="ctr"/>
          <a:lstStyle/>
          <a:p>
            <a:r>
              <a:rPr lang="en-US" sz="1100" b="1" dirty="0">
                <a:solidFill>
                  <a:schemeClr val="accent2"/>
                </a:solidFill>
                <a:latin typeface="Calibri" pitchFamily="34" charset="0"/>
                <a:ea typeface="Calibri" pitchFamily="34" charset="-122"/>
                <a:cs typeface="Calibri" pitchFamily="34" charset="-120"/>
              </a:rPr>
              <a:t>ROI Impact:</a:t>
            </a:r>
            <a:endParaRPr lang="en-US" sz="1100" dirty="0">
              <a:solidFill>
                <a:schemeClr val="accent2"/>
              </a:solidFill>
            </a:endParaRPr>
          </a:p>
        </p:txBody>
      </p:sp>
      <p:sp>
        <p:nvSpPr>
          <p:cNvPr id="90" name="Text 67">
            <a:extLst>
              <a:ext uri="{FF2B5EF4-FFF2-40B4-BE49-F238E27FC236}">
                <a16:creationId xmlns:a16="http://schemas.microsoft.com/office/drawing/2014/main" id="{DF356E80-F878-2659-FC75-BB61D050A438}"/>
              </a:ext>
            </a:extLst>
          </p:cNvPr>
          <p:cNvSpPr/>
          <p:nvPr/>
        </p:nvSpPr>
        <p:spPr>
          <a:xfrm>
            <a:off x="5899911" y="3449213"/>
            <a:ext cx="2855488" cy="458800"/>
          </a:xfrm>
          <a:prstGeom prst="rect">
            <a:avLst/>
          </a:prstGeom>
          <a:noFill/>
          <a:ln/>
        </p:spPr>
        <p:txBody>
          <a:bodyPr wrap="square" lIns="0" tIns="0" rIns="0" bIns="0" rtlCol="0" anchor="ctr"/>
          <a:lstStyle/>
          <a:p>
            <a:r>
              <a:rPr lang="en-US" sz="1050" dirty="0">
                <a:solidFill>
                  <a:srgbClr val="3DBFB8"/>
                </a:solidFill>
                <a:latin typeface="Calibri" pitchFamily="34" charset="0"/>
                <a:cs typeface="Calibri" pitchFamily="34" charset="-120"/>
              </a:rPr>
              <a:t>Very high ROI — $232K annual savings vs. $7,800/yr tool cost. Even 5–10 switches/month justify the Gold plan.</a:t>
            </a:r>
          </a:p>
        </p:txBody>
      </p:sp>
      <p:sp>
        <p:nvSpPr>
          <p:cNvPr id="91" name="Text 68">
            <a:extLst>
              <a:ext uri="{FF2B5EF4-FFF2-40B4-BE49-F238E27FC236}">
                <a16:creationId xmlns:a16="http://schemas.microsoft.com/office/drawing/2014/main" id="{4B57F4CE-529A-D0AD-F476-90724600CF11}"/>
              </a:ext>
            </a:extLst>
          </p:cNvPr>
          <p:cNvSpPr/>
          <p:nvPr/>
        </p:nvSpPr>
        <p:spPr>
          <a:xfrm>
            <a:off x="4677156" y="4223121"/>
            <a:ext cx="1125581" cy="378105"/>
          </a:xfrm>
          <a:prstGeom prst="rect">
            <a:avLst/>
          </a:prstGeom>
          <a:noFill/>
          <a:ln/>
        </p:spPr>
        <p:txBody>
          <a:bodyPr wrap="square" lIns="0" tIns="0" rIns="0" bIns="0" rtlCol="0" anchor="ctr"/>
          <a:lstStyle/>
          <a:p>
            <a:r>
              <a:rPr lang="en-US" sz="1100" b="1" dirty="0">
                <a:solidFill>
                  <a:schemeClr val="accent2"/>
                </a:solidFill>
                <a:latin typeface="Calibri" pitchFamily="34" charset="0"/>
                <a:ea typeface="Calibri" pitchFamily="34" charset="-122"/>
                <a:cs typeface="Calibri" pitchFamily="34" charset="-120"/>
              </a:rPr>
              <a:t>Where </a:t>
            </a:r>
            <a:r>
              <a:rPr lang="en-US" sz="1100" b="1" dirty="0">
                <a:solidFill>
                  <a:schemeClr val="accent2"/>
                </a:solidFill>
                <a:latin typeface="Calibri" pitchFamily="34" charset="0"/>
                <a:cs typeface="Calibri" pitchFamily="34" charset="-120"/>
              </a:rPr>
              <a:t>savings</a:t>
            </a:r>
            <a:r>
              <a:rPr lang="en-US" sz="1100" b="1" dirty="0">
                <a:solidFill>
                  <a:schemeClr val="accent2"/>
                </a:solidFill>
                <a:latin typeface="Calibri" pitchFamily="34" charset="0"/>
                <a:ea typeface="Calibri" pitchFamily="34" charset="-122"/>
                <a:cs typeface="Calibri" pitchFamily="34" charset="-120"/>
              </a:rPr>
              <a:t> get reinvested:</a:t>
            </a:r>
            <a:endParaRPr lang="en-US" sz="1100" dirty="0">
              <a:solidFill>
                <a:schemeClr val="accent2"/>
              </a:solidFill>
            </a:endParaRPr>
          </a:p>
        </p:txBody>
      </p:sp>
      <p:sp>
        <p:nvSpPr>
          <p:cNvPr id="92" name="Text 69">
            <a:extLst>
              <a:ext uri="{FF2B5EF4-FFF2-40B4-BE49-F238E27FC236}">
                <a16:creationId xmlns:a16="http://schemas.microsoft.com/office/drawing/2014/main" id="{F9FC502A-7FC8-7830-1143-3FBA38ED47F4}"/>
              </a:ext>
            </a:extLst>
          </p:cNvPr>
          <p:cNvSpPr/>
          <p:nvPr/>
        </p:nvSpPr>
        <p:spPr>
          <a:xfrm>
            <a:off x="5915894" y="4223156"/>
            <a:ext cx="2896636" cy="400507"/>
          </a:xfrm>
          <a:prstGeom prst="rect">
            <a:avLst/>
          </a:prstGeom>
          <a:noFill/>
          <a:ln/>
        </p:spPr>
        <p:txBody>
          <a:bodyPr wrap="square" lIns="0" tIns="0" rIns="0" bIns="0" rtlCol="0" anchor="ctr"/>
          <a:lstStyle/>
          <a:p>
            <a:r>
              <a:rPr lang="en-US" sz="1050" dirty="0">
                <a:solidFill>
                  <a:srgbClr val="3DBFB8"/>
                </a:solidFill>
                <a:latin typeface="Calibri" pitchFamily="34" charset="0"/>
                <a:ea typeface="Calibri" pitchFamily="34" charset="-122"/>
                <a:cs typeface="Calibri" pitchFamily="34" charset="-120"/>
              </a:rPr>
              <a:t>Lower premiums · Preventive care · Digital health · AI tooling · Member benefits</a:t>
            </a:r>
            <a:endParaRPr lang="en-US" sz="1050" dirty="0"/>
          </a:p>
        </p:txBody>
      </p:sp>
      <p:sp>
        <p:nvSpPr>
          <p:cNvPr id="95" name="Text 24">
            <a:extLst>
              <a:ext uri="{FF2B5EF4-FFF2-40B4-BE49-F238E27FC236}">
                <a16:creationId xmlns:a16="http://schemas.microsoft.com/office/drawing/2014/main" id="{53F215D4-13D5-9CAA-0EA1-8C005948FB3C}"/>
              </a:ext>
            </a:extLst>
          </p:cNvPr>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chemeClr val="bg1"/>
                </a:solidFill>
                <a:latin typeface="Calibri" pitchFamily="34" charset="0"/>
                <a:cs typeface="Calibri" pitchFamily="34" charset="-120"/>
              </a:rPr>
              <a:t>9</a:t>
            </a:r>
            <a:endParaRPr lang="en-US" sz="900" dirty="0">
              <a:solidFill>
                <a:schemeClr val="bg1"/>
              </a:solidFill>
            </a:endParaRPr>
          </a:p>
        </p:txBody>
      </p:sp>
    </p:spTree>
    <p:extLst>
      <p:ext uri="{BB962C8B-B14F-4D97-AF65-F5344CB8AC3E}">
        <p14:creationId xmlns:p14="http://schemas.microsoft.com/office/powerpoint/2010/main" val="3486954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30135-7AB1-51CB-098C-A641CE9551A5}"/>
            </a:ext>
          </a:extLst>
        </p:cNvPr>
        <p:cNvGrpSpPr/>
        <p:nvPr/>
      </p:nvGrpSpPr>
      <p:grpSpPr>
        <a:xfrm>
          <a:off x="0" y="0"/>
          <a:ext cx="0" cy="0"/>
          <a:chOff x="0" y="0"/>
          <a:chExt cx="0" cy="0"/>
        </a:xfrm>
      </p:grpSpPr>
      <p:sp>
        <p:nvSpPr>
          <p:cNvPr id="42" name="Shape 0">
            <a:extLst>
              <a:ext uri="{FF2B5EF4-FFF2-40B4-BE49-F238E27FC236}">
                <a16:creationId xmlns:a16="http://schemas.microsoft.com/office/drawing/2014/main" id="{0CE078D2-F640-7CA3-30AA-BA366E8FFC83}"/>
              </a:ext>
            </a:extLst>
          </p:cNvPr>
          <p:cNvSpPr/>
          <p:nvPr/>
        </p:nvSpPr>
        <p:spPr>
          <a:xfrm>
            <a:off x="0" y="0"/>
            <a:ext cx="9144001" cy="5143499"/>
          </a:xfrm>
          <a:prstGeom prst="rect">
            <a:avLst/>
          </a:prstGeom>
          <a:solidFill>
            <a:srgbClr val="1A2B52"/>
          </a:solidFill>
          <a:ln w="12700">
            <a:solidFill>
              <a:srgbClr val="1A2B52"/>
            </a:solidFill>
            <a:prstDash val="solid"/>
          </a:ln>
        </p:spPr>
        <p:txBody>
          <a:bodyPr/>
          <a:lstStyle/>
          <a:p>
            <a:pPr algn="ctr"/>
            <a:endParaRPr lang="en-US" sz="5400" b="1" dirty="0">
              <a:solidFill>
                <a:srgbClr val="FFFFFF"/>
              </a:solidFill>
              <a:latin typeface="Calibri" pitchFamily="34" charset="0"/>
              <a:cs typeface="Calibri" pitchFamily="34" charset="-120"/>
            </a:endParaRPr>
          </a:p>
        </p:txBody>
      </p:sp>
      <p:sp>
        <p:nvSpPr>
          <p:cNvPr id="3" name="TextBox 2">
            <a:extLst>
              <a:ext uri="{FF2B5EF4-FFF2-40B4-BE49-F238E27FC236}">
                <a16:creationId xmlns:a16="http://schemas.microsoft.com/office/drawing/2014/main" id="{10B634E8-2C12-C001-F42C-472756558F2F}"/>
              </a:ext>
            </a:extLst>
          </p:cNvPr>
          <p:cNvSpPr txBox="1"/>
          <p:nvPr/>
        </p:nvSpPr>
        <p:spPr>
          <a:xfrm>
            <a:off x="3054693" y="1959414"/>
            <a:ext cx="3034613" cy="830997"/>
          </a:xfrm>
          <a:prstGeom prst="rect">
            <a:avLst/>
          </a:prstGeom>
          <a:noFill/>
        </p:spPr>
        <p:txBody>
          <a:bodyPr wrap="none" rtlCol="0">
            <a:spAutoFit/>
          </a:bodyPr>
          <a:lstStyle/>
          <a:p>
            <a:r>
              <a:rPr lang="en-US" sz="4800" b="1" dirty="0">
                <a:solidFill>
                  <a:srgbClr val="FFFFFF"/>
                </a:solidFill>
                <a:latin typeface="Calibri" pitchFamily="34" charset="0"/>
                <a:cs typeface="Calibri" pitchFamily="34" charset="-120"/>
              </a:rPr>
              <a:t>Thank you!</a:t>
            </a:r>
          </a:p>
        </p:txBody>
      </p:sp>
    </p:spTree>
    <p:extLst>
      <p:ext uri="{BB962C8B-B14F-4D97-AF65-F5344CB8AC3E}">
        <p14:creationId xmlns:p14="http://schemas.microsoft.com/office/powerpoint/2010/main" val="3665528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A2B52"/>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1508760"/>
          </a:xfrm>
          <a:prstGeom prst="rect">
            <a:avLst/>
          </a:prstGeom>
          <a:noFill/>
          <a:ln/>
        </p:spPr>
        <p:txBody>
          <a:bodyPr wrap="square"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Turning Data Into Action —</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One Switch at a Time</a:t>
            </a:r>
            <a:endParaRPr lang="en-US" sz="3800" dirty="0"/>
          </a:p>
        </p:txBody>
      </p:sp>
      <p:sp>
        <p:nvSpPr>
          <p:cNvPr id="3" name="Shape 1"/>
          <p:cNvSpPr/>
          <p:nvPr/>
        </p:nvSpPr>
        <p:spPr>
          <a:xfrm>
            <a:off x="502920" y="1938528"/>
            <a:ext cx="4069080" cy="1261872"/>
          </a:xfrm>
          <a:prstGeom prst="rect">
            <a:avLst/>
          </a:prstGeom>
          <a:solidFill>
            <a:srgbClr val="1E3A70"/>
          </a:solidFill>
          <a:ln w="12700">
            <a:solidFill>
              <a:srgbClr val="304A7A"/>
            </a:solidFill>
            <a:prstDash val="solid"/>
          </a:ln>
        </p:spPr>
        <p:txBody>
          <a:bodyPr/>
          <a:lstStyle/>
          <a:p>
            <a:endParaRPr lang="en-US"/>
          </a:p>
        </p:txBody>
      </p:sp>
      <p:sp>
        <p:nvSpPr>
          <p:cNvPr id="4" name="Shape 2"/>
          <p:cNvSpPr/>
          <p:nvPr/>
        </p:nvSpPr>
        <p:spPr>
          <a:xfrm>
            <a:off x="502920" y="1938528"/>
            <a:ext cx="91440" cy="1261872"/>
          </a:xfrm>
          <a:prstGeom prst="rect">
            <a:avLst/>
          </a:prstGeom>
          <a:solidFill>
            <a:srgbClr val="E8622A"/>
          </a:solidFill>
          <a:ln w="12700">
            <a:solidFill>
              <a:srgbClr val="E8622A"/>
            </a:solidFill>
            <a:prstDash val="solid"/>
          </a:ln>
        </p:spPr>
        <p:txBody>
          <a:bodyPr/>
          <a:lstStyle/>
          <a:p>
            <a:endParaRPr lang="en-US"/>
          </a:p>
        </p:txBody>
      </p:sp>
      <p:sp>
        <p:nvSpPr>
          <p:cNvPr id="5" name="Text 3"/>
          <p:cNvSpPr/>
          <p:nvPr/>
        </p:nvSpPr>
        <p:spPr>
          <a:xfrm>
            <a:off x="685800" y="2029968"/>
            <a:ext cx="3749040" cy="384048"/>
          </a:xfrm>
          <a:prstGeom prst="rect">
            <a:avLst/>
          </a:prstGeom>
          <a:noFill/>
          <a:ln/>
        </p:spPr>
        <p:txBody>
          <a:bodyPr wrap="square" rtlCol="0" anchor="ctr"/>
          <a:lstStyle/>
          <a:p>
            <a:pPr marL="0" indent="0">
              <a:buNone/>
            </a:pPr>
            <a:r>
              <a:rPr lang="en-US" sz="1300" b="1" dirty="0">
                <a:solidFill>
                  <a:srgbClr val="E8622A"/>
                </a:solidFill>
                <a:latin typeface="Calibri" pitchFamily="34" charset="0"/>
                <a:ea typeface="Calibri" pitchFamily="34" charset="-122"/>
                <a:cs typeface="Calibri" pitchFamily="34" charset="-120"/>
              </a:rPr>
              <a:t>💊  Insurance companies save money</a:t>
            </a:r>
            <a:endParaRPr lang="en-US" sz="1300" dirty="0"/>
          </a:p>
        </p:txBody>
      </p:sp>
      <p:sp>
        <p:nvSpPr>
          <p:cNvPr id="6" name="Text 4"/>
          <p:cNvSpPr/>
          <p:nvPr/>
        </p:nvSpPr>
        <p:spPr>
          <a:xfrm>
            <a:off x="685800" y="2395728"/>
            <a:ext cx="3749040" cy="713232"/>
          </a:xfrm>
          <a:prstGeom prst="rect">
            <a:avLst/>
          </a:prstGeom>
          <a:noFill/>
          <a:ln/>
        </p:spPr>
        <p:txBody>
          <a:bodyPr wrap="square" rtlCol="0" anchor="t"/>
          <a:lstStyle/>
          <a:p>
            <a:pPr marL="0" indent="0">
              <a:buNone/>
            </a:pPr>
            <a:r>
              <a:rPr lang="en-US" sz="1050" dirty="0">
                <a:solidFill>
                  <a:srgbClr val="A0B4D4"/>
                </a:solidFill>
                <a:latin typeface="Calibri" pitchFamily="34" charset="0"/>
                <a:ea typeface="Calibri" pitchFamily="34" charset="-122"/>
                <a:cs typeface="Calibri" pitchFamily="34" charset="-120"/>
              </a:rPr>
              <a:t>500 members on a high-cost brand drug at $40 savings/month = $20,000/month from one opportunity. PharmaFlow finds hundreds.</a:t>
            </a:r>
            <a:endParaRPr lang="en-US" sz="1050" dirty="0"/>
          </a:p>
        </p:txBody>
      </p:sp>
      <p:sp>
        <p:nvSpPr>
          <p:cNvPr id="7" name="Shape 5"/>
          <p:cNvSpPr/>
          <p:nvPr/>
        </p:nvSpPr>
        <p:spPr>
          <a:xfrm>
            <a:off x="4709160" y="1938528"/>
            <a:ext cx="4069080" cy="1261872"/>
          </a:xfrm>
          <a:prstGeom prst="rect">
            <a:avLst/>
          </a:prstGeom>
          <a:solidFill>
            <a:srgbClr val="1E3A70"/>
          </a:solidFill>
          <a:ln w="12700">
            <a:solidFill>
              <a:srgbClr val="304A7A"/>
            </a:solidFill>
            <a:prstDash val="solid"/>
          </a:ln>
        </p:spPr>
        <p:txBody>
          <a:bodyPr/>
          <a:lstStyle/>
          <a:p>
            <a:endParaRPr lang="en-US"/>
          </a:p>
        </p:txBody>
      </p:sp>
      <p:sp>
        <p:nvSpPr>
          <p:cNvPr id="8" name="Shape 6"/>
          <p:cNvSpPr/>
          <p:nvPr/>
        </p:nvSpPr>
        <p:spPr>
          <a:xfrm>
            <a:off x="4709160" y="1938528"/>
            <a:ext cx="91440" cy="1261872"/>
          </a:xfrm>
          <a:prstGeom prst="rect">
            <a:avLst/>
          </a:prstGeom>
          <a:solidFill>
            <a:srgbClr val="E8622A"/>
          </a:solidFill>
          <a:ln w="12700">
            <a:solidFill>
              <a:srgbClr val="E8622A"/>
            </a:solidFill>
            <a:prstDash val="solid"/>
          </a:ln>
        </p:spPr>
        <p:txBody>
          <a:bodyPr/>
          <a:lstStyle/>
          <a:p>
            <a:endParaRPr lang="en-US"/>
          </a:p>
        </p:txBody>
      </p:sp>
      <p:sp>
        <p:nvSpPr>
          <p:cNvPr id="9" name="Text 7"/>
          <p:cNvSpPr/>
          <p:nvPr/>
        </p:nvSpPr>
        <p:spPr>
          <a:xfrm>
            <a:off x="4892040" y="2029968"/>
            <a:ext cx="3749040" cy="384048"/>
          </a:xfrm>
          <a:prstGeom prst="rect">
            <a:avLst/>
          </a:prstGeom>
          <a:noFill/>
          <a:ln/>
        </p:spPr>
        <p:txBody>
          <a:bodyPr wrap="square" rtlCol="0" anchor="ctr"/>
          <a:lstStyle/>
          <a:p>
            <a:pPr marL="0" indent="0">
              <a:buNone/>
            </a:pPr>
            <a:r>
              <a:rPr lang="en-US" sz="1300" b="1" dirty="0">
                <a:solidFill>
                  <a:srgbClr val="E8622A"/>
                </a:solidFill>
                <a:latin typeface="Calibri" pitchFamily="34" charset="0"/>
                <a:ea typeface="Calibri" pitchFamily="34" charset="-122"/>
                <a:cs typeface="Calibri" pitchFamily="34" charset="-120"/>
              </a:rPr>
              <a:t>🔒  Clinically safe, not just cheap</a:t>
            </a:r>
            <a:endParaRPr lang="en-US" sz="1300" dirty="0"/>
          </a:p>
        </p:txBody>
      </p:sp>
      <p:sp>
        <p:nvSpPr>
          <p:cNvPr id="10" name="Text 8"/>
          <p:cNvSpPr/>
          <p:nvPr/>
        </p:nvSpPr>
        <p:spPr>
          <a:xfrm>
            <a:off x="4892040" y="2395728"/>
            <a:ext cx="3749040" cy="713232"/>
          </a:xfrm>
          <a:prstGeom prst="rect">
            <a:avLst/>
          </a:prstGeom>
          <a:noFill/>
          <a:ln/>
        </p:spPr>
        <p:txBody>
          <a:bodyPr wrap="square" rtlCol="0" anchor="t"/>
          <a:lstStyle/>
          <a:p>
            <a:pPr marL="0" indent="0">
              <a:buNone/>
            </a:pPr>
            <a:r>
              <a:rPr lang="en-US" sz="1050" dirty="0">
                <a:solidFill>
                  <a:srgbClr val="A0B4D4"/>
                </a:solidFill>
                <a:latin typeface="Calibri" pitchFamily="34" charset="0"/>
                <a:ea typeface="Calibri" pitchFamily="34" charset="-122"/>
                <a:cs typeface="Calibri" pitchFamily="34" charset="-120"/>
              </a:rPr>
              <a:t>Risk-adjusted savings account for clinical failure probability, adherence impact, and pharmacy access — not just the NADAC price gap.</a:t>
            </a:r>
            <a:endParaRPr lang="en-US" sz="1050" dirty="0"/>
          </a:p>
        </p:txBody>
      </p:sp>
      <p:sp>
        <p:nvSpPr>
          <p:cNvPr id="11" name="Shape 9"/>
          <p:cNvSpPr/>
          <p:nvPr/>
        </p:nvSpPr>
        <p:spPr>
          <a:xfrm>
            <a:off x="502920" y="3337560"/>
            <a:ext cx="4069080" cy="1261872"/>
          </a:xfrm>
          <a:prstGeom prst="rect">
            <a:avLst/>
          </a:prstGeom>
          <a:solidFill>
            <a:srgbClr val="1E3A70"/>
          </a:solidFill>
          <a:ln w="12700">
            <a:solidFill>
              <a:srgbClr val="304A7A"/>
            </a:solidFill>
            <a:prstDash val="solid"/>
          </a:ln>
        </p:spPr>
        <p:txBody>
          <a:bodyPr/>
          <a:lstStyle/>
          <a:p>
            <a:endParaRPr lang="en-US"/>
          </a:p>
        </p:txBody>
      </p:sp>
      <p:sp>
        <p:nvSpPr>
          <p:cNvPr id="12" name="Shape 10"/>
          <p:cNvSpPr/>
          <p:nvPr/>
        </p:nvSpPr>
        <p:spPr>
          <a:xfrm>
            <a:off x="502920" y="3337560"/>
            <a:ext cx="91440" cy="1261872"/>
          </a:xfrm>
          <a:prstGeom prst="rect">
            <a:avLst/>
          </a:prstGeom>
          <a:solidFill>
            <a:srgbClr val="E8622A"/>
          </a:solidFill>
          <a:ln w="12700">
            <a:solidFill>
              <a:srgbClr val="E8622A"/>
            </a:solidFill>
            <a:prstDash val="solid"/>
          </a:ln>
        </p:spPr>
        <p:txBody>
          <a:bodyPr/>
          <a:lstStyle/>
          <a:p>
            <a:endParaRPr lang="en-US"/>
          </a:p>
        </p:txBody>
      </p:sp>
      <p:sp>
        <p:nvSpPr>
          <p:cNvPr id="13" name="Text 11"/>
          <p:cNvSpPr/>
          <p:nvPr/>
        </p:nvSpPr>
        <p:spPr>
          <a:xfrm>
            <a:off x="685800" y="3429000"/>
            <a:ext cx="3749040" cy="384048"/>
          </a:xfrm>
          <a:prstGeom prst="rect">
            <a:avLst/>
          </a:prstGeom>
          <a:noFill/>
          <a:ln/>
        </p:spPr>
        <p:txBody>
          <a:bodyPr wrap="square" rtlCol="0" anchor="ctr"/>
          <a:lstStyle/>
          <a:p>
            <a:pPr marL="0" indent="0">
              <a:buNone/>
            </a:pPr>
            <a:r>
              <a:rPr lang="en-US" sz="1300" b="1" dirty="0">
                <a:solidFill>
                  <a:srgbClr val="E8622A"/>
                </a:solidFill>
                <a:latin typeface="Calibri" pitchFamily="34" charset="0"/>
                <a:ea typeface="Calibri" pitchFamily="34" charset="-122"/>
                <a:cs typeface="Calibri" pitchFamily="34" charset="-120"/>
              </a:rPr>
              <a:t>📋  Decision support, not prescribing</a:t>
            </a:r>
            <a:endParaRPr lang="en-US" sz="1300" dirty="0"/>
          </a:p>
        </p:txBody>
      </p:sp>
      <p:sp>
        <p:nvSpPr>
          <p:cNvPr id="14" name="Text 12"/>
          <p:cNvSpPr/>
          <p:nvPr/>
        </p:nvSpPr>
        <p:spPr>
          <a:xfrm>
            <a:off x="685800" y="3794760"/>
            <a:ext cx="3749040" cy="713232"/>
          </a:xfrm>
          <a:prstGeom prst="rect">
            <a:avLst/>
          </a:prstGeom>
          <a:noFill/>
          <a:ln/>
        </p:spPr>
        <p:txBody>
          <a:bodyPr wrap="square" rtlCol="0" anchor="t"/>
          <a:lstStyle/>
          <a:p>
            <a:pPr marL="0" indent="0">
              <a:buNone/>
            </a:pPr>
            <a:r>
              <a:rPr lang="en-US" sz="1050" dirty="0">
                <a:solidFill>
                  <a:srgbClr val="A0B4D4"/>
                </a:solidFill>
                <a:latin typeface="Calibri" pitchFamily="34" charset="0"/>
                <a:ea typeface="Calibri" pitchFamily="34" charset="-122"/>
                <a:cs typeface="Calibri" pitchFamily="34" charset="-120"/>
              </a:rPr>
              <a:t>Every recommendation flags 'requires doctor/pharmacist review.' The Switch Package gives humans the docs they need to act safely.</a:t>
            </a:r>
            <a:endParaRPr lang="en-US" sz="1050" dirty="0"/>
          </a:p>
        </p:txBody>
      </p:sp>
      <p:sp>
        <p:nvSpPr>
          <p:cNvPr id="15" name="Shape 13"/>
          <p:cNvSpPr/>
          <p:nvPr/>
        </p:nvSpPr>
        <p:spPr>
          <a:xfrm>
            <a:off x="4709160" y="3337560"/>
            <a:ext cx="4069080" cy="1261872"/>
          </a:xfrm>
          <a:prstGeom prst="rect">
            <a:avLst/>
          </a:prstGeom>
          <a:solidFill>
            <a:srgbClr val="1E3A70"/>
          </a:solidFill>
          <a:ln w="12700">
            <a:solidFill>
              <a:srgbClr val="304A7A"/>
            </a:solidFill>
            <a:prstDash val="solid"/>
          </a:ln>
        </p:spPr>
        <p:txBody>
          <a:bodyPr/>
          <a:lstStyle/>
          <a:p>
            <a:endParaRPr lang="en-US"/>
          </a:p>
        </p:txBody>
      </p:sp>
      <p:sp>
        <p:nvSpPr>
          <p:cNvPr id="16" name="Shape 14"/>
          <p:cNvSpPr/>
          <p:nvPr/>
        </p:nvSpPr>
        <p:spPr>
          <a:xfrm>
            <a:off x="4709160" y="3337560"/>
            <a:ext cx="91440" cy="1261872"/>
          </a:xfrm>
          <a:prstGeom prst="rect">
            <a:avLst/>
          </a:prstGeom>
          <a:solidFill>
            <a:srgbClr val="E8622A"/>
          </a:solidFill>
          <a:ln w="12700">
            <a:solidFill>
              <a:srgbClr val="E8622A"/>
            </a:solidFill>
            <a:prstDash val="solid"/>
          </a:ln>
        </p:spPr>
        <p:txBody>
          <a:bodyPr/>
          <a:lstStyle/>
          <a:p>
            <a:endParaRPr lang="en-US"/>
          </a:p>
        </p:txBody>
      </p:sp>
      <p:sp>
        <p:nvSpPr>
          <p:cNvPr id="17" name="Text 15"/>
          <p:cNvSpPr/>
          <p:nvPr/>
        </p:nvSpPr>
        <p:spPr>
          <a:xfrm>
            <a:off x="4892040" y="3429000"/>
            <a:ext cx="3749040" cy="384048"/>
          </a:xfrm>
          <a:prstGeom prst="rect">
            <a:avLst/>
          </a:prstGeom>
          <a:noFill/>
          <a:ln/>
        </p:spPr>
        <p:txBody>
          <a:bodyPr wrap="square" rtlCol="0" anchor="ctr"/>
          <a:lstStyle/>
          <a:p>
            <a:pPr marL="0" indent="0">
              <a:buNone/>
            </a:pPr>
            <a:r>
              <a:rPr lang="en-US" sz="1300" b="1" dirty="0">
                <a:solidFill>
                  <a:srgbClr val="E8622A"/>
                </a:solidFill>
                <a:latin typeface="Calibri" pitchFamily="34" charset="0"/>
                <a:ea typeface="Calibri" pitchFamily="34" charset="-122"/>
                <a:cs typeface="Calibri" pitchFamily="34" charset="-120"/>
              </a:rPr>
              <a:t>⚡  Operational, not just analytical</a:t>
            </a:r>
            <a:endParaRPr lang="en-US" sz="1300" dirty="0"/>
          </a:p>
        </p:txBody>
      </p:sp>
      <p:sp>
        <p:nvSpPr>
          <p:cNvPr id="18" name="Text 16"/>
          <p:cNvSpPr/>
          <p:nvPr/>
        </p:nvSpPr>
        <p:spPr>
          <a:xfrm>
            <a:off x="4892040" y="3794760"/>
            <a:ext cx="3749040" cy="713232"/>
          </a:xfrm>
          <a:prstGeom prst="rect">
            <a:avLst/>
          </a:prstGeom>
          <a:noFill/>
          <a:ln/>
        </p:spPr>
        <p:txBody>
          <a:bodyPr wrap="square" rtlCol="0" anchor="t"/>
          <a:lstStyle/>
          <a:p>
            <a:pPr marL="0" indent="0">
              <a:buNone/>
            </a:pPr>
            <a:r>
              <a:rPr lang="en-US" sz="1050" dirty="0">
                <a:solidFill>
                  <a:srgbClr val="A0B4D4"/>
                </a:solidFill>
                <a:latin typeface="Calibri" pitchFamily="34" charset="0"/>
                <a:ea typeface="Calibri" pitchFamily="34" charset="-122"/>
                <a:cs typeface="Calibri" pitchFamily="34" charset="-120"/>
              </a:rPr>
              <a:t>Gold plan generates four ready-to-use documents. PharmaFlow is a workflow tool, not a dashboard — it turns insight into paperwork.</a:t>
            </a:r>
            <a:endParaRPr lang="en-US" sz="1050" dirty="0"/>
          </a:p>
        </p:txBody>
      </p:sp>
      <p:sp>
        <p:nvSpPr>
          <p:cNvPr id="19" name="Shape 17"/>
          <p:cNvSpPr/>
          <p:nvPr/>
        </p:nvSpPr>
        <p:spPr>
          <a:xfrm>
            <a:off x="0" y="4956048"/>
            <a:ext cx="9144000" cy="192024"/>
          </a:xfrm>
          <a:prstGeom prst="rect">
            <a:avLst/>
          </a:prstGeom>
          <a:solidFill>
            <a:srgbClr val="E8622A"/>
          </a:solidFill>
          <a:ln w="12700">
            <a:solidFill>
              <a:srgbClr val="E8622A"/>
            </a:solidFill>
            <a:prstDash val="solid"/>
          </a:ln>
        </p:spPr>
        <p:txBody>
          <a:bodyPr/>
          <a:lstStyle/>
          <a:p>
            <a:endParaRPr lang="en-US"/>
          </a:p>
        </p:txBody>
      </p:sp>
      <p:sp>
        <p:nvSpPr>
          <p:cNvPr id="20" name="Text 18"/>
          <p:cNvSpPr/>
          <p:nvPr/>
        </p:nvSpPr>
        <p:spPr>
          <a:xfrm>
            <a:off x="0" y="4956048"/>
            <a:ext cx="9144000" cy="192024"/>
          </a:xfrm>
          <a:prstGeom prst="rect">
            <a:avLst/>
          </a:prstGeom>
          <a:noFill/>
          <a:ln/>
        </p:spPr>
        <p:txBody>
          <a:bodyPr wrap="square" lIns="0" tIns="0" rIns="0" bIns="0" rtlCol="0" anchor="ctr"/>
          <a:lstStyle/>
          <a:p>
            <a:pPr marL="0" indent="0" algn="ctr">
              <a:buNone/>
            </a:pPr>
            <a:r>
              <a:rPr lang="en-US" sz="750" kern="0" spc="50" dirty="0">
                <a:solidFill>
                  <a:srgbClr val="FFFFFF"/>
                </a:solidFill>
                <a:latin typeface="Calibri" pitchFamily="34" charset="0"/>
                <a:ea typeface="Calibri" pitchFamily="34" charset="-122"/>
                <a:cs typeface="Calibri" pitchFamily="34" charset="-120"/>
              </a:rPr>
              <a:t>PharmaFlow AI  ·  Columbia University Agentic AI Capstone  ·  2026  ·  Synthetic demo data only — not clinical decision support</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EE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2"/>
          </a:solidFill>
          <a:ln w="12700">
            <a:solidFill>
              <a:srgbClr val="1A2B52"/>
            </a:solidFill>
            <a:prstDash val="solid"/>
          </a:ln>
        </p:spPr>
        <p:txBody>
          <a:bodyPr/>
          <a:lstStyle/>
          <a:p>
            <a:endParaRPr lang="en-US"/>
          </a:p>
        </p:txBody>
      </p:sp>
      <p:sp>
        <p:nvSpPr>
          <p:cNvPr id="3" name="Text 1"/>
          <p:cNvSpPr/>
          <p:nvPr/>
        </p:nvSpPr>
        <p:spPr>
          <a:xfrm>
            <a:off x="411480" y="0"/>
            <a:ext cx="7315200" cy="9601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Course Concepts Applied</a:t>
            </a:r>
            <a:endParaRPr lang="en-US" sz="3400" dirty="0"/>
          </a:p>
        </p:txBody>
      </p:sp>
      <p:sp>
        <p:nvSpPr>
          <p:cNvPr id="6" name="Shape 4"/>
          <p:cNvSpPr/>
          <p:nvPr/>
        </p:nvSpPr>
        <p:spPr>
          <a:xfrm>
            <a:off x="411480" y="1024128"/>
            <a:ext cx="3108960" cy="347472"/>
          </a:xfrm>
          <a:prstGeom prst="rect">
            <a:avLst/>
          </a:prstGeom>
          <a:solidFill>
            <a:srgbClr val="1A2B52"/>
          </a:solidFill>
          <a:ln w="12700">
            <a:solidFill>
              <a:srgbClr val="1A2B52"/>
            </a:solidFill>
            <a:prstDash val="solid"/>
          </a:ln>
        </p:spPr>
        <p:txBody>
          <a:bodyPr/>
          <a:lstStyle/>
          <a:p>
            <a:endParaRPr lang="en-US" dirty="0"/>
          </a:p>
        </p:txBody>
      </p:sp>
      <p:sp>
        <p:nvSpPr>
          <p:cNvPr id="7" name="Text 5"/>
          <p:cNvSpPr/>
          <p:nvPr/>
        </p:nvSpPr>
        <p:spPr>
          <a:xfrm>
            <a:off x="484632" y="1024128"/>
            <a:ext cx="221284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Course Concept</a:t>
            </a:r>
            <a:endParaRPr lang="en-US" sz="1100" dirty="0"/>
          </a:p>
        </p:txBody>
      </p:sp>
      <p:sp>
        <p:nvSpPr>
          <p:cNvPr id="9" name="Text 7"/>
          <p:cNvSpPr/>
          <p:nvPr/>
        </p:nvSpPr>
        <p:spPr>
          <a:xfrm>
            <a:off x="2770632" y="1024128"/>
            <a:ext cx="749808" cy="347472"/>
          </a:xfrm>
          <a:prstGeom prst="rect">
            <a:avLst/>
          </a:prstGeom>
          <a:noFill/>
          <a:ln/>
        </p:spPr>
        <p:txBody>
          <a:bodyPr wrap="square" rtlCol="0" anchor="ctr"/>
          <a:lstStyle/>
          <a:p>
            <a:pPr marL="0" indent="0">
              <a:buNone/>
            </a:pPr>
            <a:endParaRPr lang="en-US" sz="1100" dirty="0"/>
          </a:p>
        </p:txBody>
      </p:sp>
      <p:sp>
        <p:nvSpPr>
          <p:cNvPr id="10" name="Shape 8"/>
          <p:cNvSpPr/>
          <p:nvPr/>
        </p:nvSpPr>
        <p:spPr>
          <a:xfrm>
            <a:off x="3520440" y="1024128"/>
            <a:ext cx="5577840" cy="347472"/>
          </a:xfrm>
          <a:prstGeom prst="rect">
            <a:avLst/>
          </a:prstGeom>
          <a:solidFill>
            <a:srgbClr val="1A2B52"/>
          </a:solidFill>
          <a:ln w="12700">
            <a:solidFill>
              <a:srgbClr val="1A2B52"/>
            </a:solidFill>
            <a:prstDash val="solid"/>
          </a:ln>
        </p:spPr>
        <p:txBody>
          <a:bodyPr/>
          <a:lstStyle/>
          <a:p>
            <a:endParaRPr lang="en-US"/>
          </a:p>
        </p:txBody>
      </p:sp>
      <p:sp>
        <p:nvSpPr>
          <p:cNvPr id="11" name="Text 9"/>
          <p:cNvSpPr/>
          <p:nvPr/>
        </p:nvSpPr>
        <p:spPr>
          <a:xfrm>
            <a:off x="3593592" y="1024128"/>
            <a:ext cx="5504688"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Implementation in PharmaFlow AI</a:t>
            </a:r>
            <a:endParaRPr lang="en-US" sz="1100" dirty="0"/>
          </a:p>
        </p:txBody>
      </p:sp>
      <p:sp>
        <p:nvSpPr>
          <p:cNvPr id="12" name="Shape 10"/>
          <p:cNvSpPr/>
          <p:nvPr/>
        </p:nvSpPr>
        <p:spPr>
          <a:xfrm>
            <a:off x="411480" y="1371600"/>
            <a:ext cx="3108960" cy="457200"/>
          </a:xfrm>
          <a:prstGeom prst="rect">
            <a:avLst/>
          </a:prstGeom>
          <a:solidFill>
            <a:srgbClr val="FFFFFF"/>
          </a:solidFill>
          <a:ln w="6350">
            <a:solidFill>
              <a:srgbClr val="D1DCF0"/>
            </a:solidFill>
            <a:prstDash val="solid"/>
          </a:ln>
        </p:spPr>
        <p:txBody>
          <a:bodyPr/>
          <a:lstStyle/>
          <a:p>
            <a:endParaRPr lang="en-US"/>
          </a:p>
        </p:txBody>
      </p:sp>
      <p:sp>
        <p:nvSpPr>
          <p:cNvPr id="13" name="Text 11"/>
          <p:cNvSpPr/>
          <p:nvPr/>
        </p:nvSpPr>
        <p:spPr>
          <a:xfrm>
            <a:off x="484632" y="1371600"/>
            <a:ext cx="2212848" cy="457200"/>
          </a:xfrm>
          <a:prstGeom prst="rect">
            <a:avLst/>
          </a:prstGeom>
          <a:noFill/>
          <a:ln/>
        </p:spPr>
        <p:txBody>
          <a:bodyPr wrap="square" rtlCol="0" anchor="ctr"/>
          <a:lstStyle/>
          <a:p>
            <a:pPr marL="0" indent="0">
              <a:buNone/>
            </a:pPr>
            <a:r>
              <a:rPr lang="en-US" sz="1100" b="1" dirty="0">
                <a:solidFill>
                  <a:srgbClr val="1A2B52"/>
                </a:solidFill>
                <a:latin typeface="Calibri" pitchFamily="34" charset="0"/>
                <a:ea typeface="Calibri" pitchFamily="34" charset="-122"/>
                <a:cs typeface="Calibri" pitchFamily="34" charset="-120"/>
              </a:rPr>
              <a:t>Multi-Agent Orchestration</a:t>
            </a:r>
            <a:endParaRPr lang="en-US" sz="1100" dirty="0"/>
          </a:p>
        </p:txBody>
      </p:sp>
      <p:sp>
        <p:nvSpPr>
          <p:cNvPr id="15" name="Text 13"/>
          <p:cNvSpPr/>
          <p:nvPr/>
        </p:nvSpPr>
        <p:spPr>
          <a:xfrm>
            <a:off x="2770632" y="1371600"/>
            <a:ext cx="749808" cy="457200"/>
          </a:xfrm>
          <a:prstGeom prst="rect">
            <a:avLst/>
          </a:prstGeom>
          <a:noFill/>
          <a:ln/>
        </p:spPr>
        <p:txBody>
          <a:bodyPr wrap="square" rtlCol="0" anchor="ctr"/>
          <a:lstStyle/>
          <a:p>
            <a:pPr marL="0" indent="0" algn="ctr">
              <a:buNone/>
            </a:pPr>
            <a:endParaRPr lang="en-US" sz="1100" dirty="0"/>
          </a:p>
        </p:txBody>
      </p:sp>
      <p:sp>
        <p:nvSpPr>
          <p:cNvPr id="16" name="Shape 14"/>
          <p:cNvSpPr/>
          <p:nvPr/>
        </p:nvSpPr>
        <p:spPr>
          <a:xfrm>
            <a:off x="3520440" y="1371600"/>
            <a:ext cx="5577840" cy="457200"/>
          </a:xfrm>
          <a:prstGeom prst="rect">
            <a:avLst/>
          </a:prstGeom>
          <a:solidFill>
            <a:srgbClr val="FFFFFF"/>
          </a:solidFill>
          <a:ln w="6350">
            <a:solidFill>
              <a:srgbClr val="D1DCF0"/>
            </a:solidFill>
            <a:prstDash val="solid"/>
          </a:ln>
        </p:spPr>
        <p:txBody>
          <a:bodyPr/>
          <a:lstStyle/>
          <a:p>
            <a:endParaRPr lang="en-US"/>
          </a:p>
        </p:txBody>
      </p:sp>
      <p:sp>
        <p:nvSpPr>
          <p:cNvPr id="17" name="Text 15"/>
          <p:cNvSpPr/>
          <p:nvPr/>
        </p:nvSpPr>
        <p:spPr>
          <a:xfrm>
            <a:off x="3593592" y="1371600"/>
            <a:ext cx="5486400" cy="45720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4 specialist agents (Librarian, Auditor, Clinician, Social Navigator) orchestrated by recommendation_service.py</a:t>
            </a:r>
            <a:endParaRPr lang="en-US" sz="1050" dirty="0"/>
          </a:p>
        </p:txBody>
      </p:sp>
      <p:sp>
        <p:nvSpPr>
          <p:cNvPr id="18" name="Shape 16"/>
          <p:cNvSpPr/>
          <p:nvPr/>
        </p:nvSpPr>
        <p:spPr>
          <a:xfrm>
            <a:off x="411480" y="1828800"/>
            <a:ext cx="3108960" cy="457200"/>
          </a:xfrm>
          <a:prstGeom prst="rect">
            <a:avLst/>
          </a:prstGeom>
          <a:solidFill>
            <a:srgbClr val="F4F7FB"/>
          </a:solidFill>
          <a:ln w="6350">
            <a:solidFill>
              <a:srgbClr val="D1DCF0"/>
            </a:solidFill>
            <a:prstDash val="solid"/>
          </a:ln>
        </p:spPr>
        <p:txBody>
          <a:bodyPr/>
          <a:lstStyle/>
          <a:p>
            <a:endParaRPr lang="en-US"/>
          </a:p>
        </p:txBody>
      </p:sp>
      <p:sp>
        <p:nvSpPr>
          <p:cNvPr id="19" name="Text 17"/>
          <p:cNvSpPr/>
          <p:nvPr/>
        </p:nvSpPr>
        <p:spPr>
          <a:xfrm>
            <a:off x="484632" y="1828800"/>
            <a:ext cx="2212848" cy="457200"/>
          </a:xfrm>
          <a:prstGeom prst="rect">
            <a:avLst/>
          </a:prstGeom>
          <a:noFill/>
          <a:ln/>
        </p:spPr>
        <p:txBody>
          <a:bodyPr wrap="square" rtlCol="0" anchor="ctr"/>
          <a:lstStyle/>
          <a:p>
            <a:pPr marL="0" indent="0">
              <a:buNone/>
            </a:pPr>
            <a:r>
              <a:rPr lang="en-US" sz="1100" b="1" dirty="0">
                <a:solidFill>
                  <a:srgbClr val="1A2B52"/>
                </a:solidFill>
                <a:latin typeface="Calibri" pitchFamily="34" charset="0"/>
                <a:ea typeface="Calibri" pitchFamily="34" charset="-122"/>
                <a:cs typeface="Calibri" pitchFamily="34" charset="-120"/>
              </a:rPr>
              <a:t>RAG Pipeline</a:t>
            </a:r>
            <a:endParaRPr lang="en-US" sz="1100" dirty="0"/>
          </a:p>
        </p:txBody>
      </p:sp>
      <p:sp>
        <p:nvSpPr>
          <p:cNvPr id="21" name="Text 19"/>
          <p:cNvSpPr/>
          <p:nvPr/>
        </p:nvSpPr>
        <p:spPr>
          <a:xfrm>
            <a:off x="2770632" y="1828800"/>
            <a:ext cx="749808" cy="457200"/>
          </a:xfrm>
          <a:prstGeom prst="rect">
            <a:avLst/>
          </a:prstGeom>
          <a:noFill/>
          <a:ln/>
        </p:spPr>
        <p:txBody>
          <a:bodyPr wrap="square" rtlCol="0" anchor="ctr"/>
          <a:lstStyle/>
          <a:p>
            <a:pPr marL="0" indent="0" algn="ctr">
              <a:buNone/>
            </a:pPr>
            <a:endParaRPr lang="en-US" sz="1100" dirty="0"/>
          </a:p>
        </p:txBody>
      </p:sp>
      <p:sp>
        <p:nvSpPr>
          <p:cNvPr id="22" name="Shape 20"/>
          <p:cNvSpPr/>
          <p:nvPr/>
        </p:nvSpPr>
        <p:spPr>
          <a:xfrm>
            <a:off x="3520440" y="1828800"/>
            <a:ext cx="5577840" cy="457200"/>
          </a:xfrm>
          <a:prstGeom prst="rect">
            <a:avLst/>
          </a:prstGeom>
          <a:solidFill>
            <a:srgbClr val="F4F7FB"/>
          </a:solidFill>
          <a:ln w="6350">
            <a:solidFill>
              <a:srgbClr val="D1DCF0"/>
            </a:solidFill>
            <a:prstDash val="solid"/>
          </a:ln>
        </p:spPr>
        <p:txBody>
          <a:bodyPr/>
          <a:lstStyle/>
          <a:p>
            <a:endParaRPr lang="en-US"/>
          </a:p>
        </p:txBody>
      </p:sp>
      <p:sp>
        <p:nvSpPr>
          <p:cNvPr id="23" name="Text 21"/>
          <p:cNvSpPr/>
          <p:nvPr/>
        </p:nvSpPr>
        <p:spPr>
          <a:xfrm>
            <a:off x="3593592" y="1828800"/>
            <a:ext cx="5486400" cy="45720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ChromaDB + sentence-transformers fallback for drugs not in NADAC/Orange Book warehouse</a:t>
            </a:r>
            <a:endParaRPr lang="en-US" sz="1050" dirty="0"/>
          </a:p>
        </p:txBody>
      </p:sp>
      <p:sp>
        <p:nvSpPr>
          <p:cNvPr id="24" name="Shape 22"/>
          <p:cNvSpPr/>
          <p:nvPr/>
        </p:nvSpPr>
        <p:spPr>
          <a:xfrm>
            <a:off x="411480" y="2286000"/>
            <a:ext cx="3108960" cy="457200"/>
          </a:xfrm>
          <a:prstGeom prst="rect">
            <a:avLst/>
          </a:prstGeom>
          <a:solidFill>
            <a:srgbClr val="FFFFFF"/>
          </a:solidFill>
          <a:ln w="6350">
            <a:solidFill>
              <a:srgbClr val="D1DCF0"/>
            </a:solidFill>
            <a:prstDash val="solid"/>
          </a:ln>
        </p:spPr>
        <p:txBody>
          <a:bodyPr/>
          <a:lstStyle/>
          <a:p>
            <a:endParaRPr lang="en-US"/>
          </a:p>
        </p:txBody>
      </p:sp>
      <p:sp>
        <p:nvSpPr>
          <p:cNvPr id="25" name="Text 23"/>
          <p:cNvSpPr/>
          <p:nvPr/>
        </p:nvSpPr>
        <p:spPr>
          <a:xfrm>
            <a:off x="484632" y="2286000"/>
            <a:ext cx="2212848" cy="457200"/>
          </a:xfrm>
          <a:prstGeom prst="rect">
            <a:avLst/>
          </a:prstGeom>
          <a:noFill/>
          <a:ln/>
        </p:spPr>
        <p:txBody>
          <a:bodyPr wrap="square" rtlCol="0" anchor="ctr"/>
          <a:lstStyle/>
          <a:p>
            <a:pPr marL="0" indent="0">
              <a:buNone/>
            </a:pPr>
            <a:r>
              <a:rPr lang="en-US" sz="1100" b="1" dirty="0">
                <a:solidFill>
                  <a:srgbClr val="1A2B52"/>
                </a:solidFill>
                <a:latin typeface="Calibri" pitchFamily="34" charset="0"/>
                <a:ea typeface="Calibri" pitchFamily="34" charset="-122"/>
                <a:cs typeface="Calibri" pitchFamily="34" charset="-120"/>
              </a:rPr>
              <a:t>Structured Output + Pydantic</a:t>
            </a:r>
            <a:endParaRPr lang="en-US" sz="1100" dirty="0"/>
          </a:p>
        </p:txBody>
      </p:sp>
      <p:sp>
        <p:nvSpPr>
          <p:cNvPr id="27" name="Text 25"/>
          <p:cNvSpPr/>
          <p:nvPr/>
        </p:nvSpPr>
        <p:spPr>
          <a:xfrm>
            <a:off x="2770632" y="2286000"/>
            <a:ext cx="749808" cy="457200"/>
          </a:xfrm>
          <a:prstGeom prst="rect">
            <a:avLst/>
          </a:prstGeom>
          <a:noFill/>
          <a:ln/>
        </p:spPr>
        <p:txBody>
          <a:bodyPr wrap="square" rtlCol="0" anchor="ctr"/>
          <a:lstStyle/>
          <a:p>
            <a:pPr marL="0" indent="0" algn="ctr">
              <a:buNone/>
            </a:pPr>
            <a:endParaRPr lang="en-US" sz="1100" dirty="0"/>
          </a:p>
        </p:txBody>
      </p:sp>
      <p:sp>
        <p:nvSpPr>
          <p:cNvPr id="28" name="Shape 26"/>
          <p:cNvSpPr/>
          <p:nvPr/>
        </p:nvSpPr>
        <p:spPr>
          <a:xfrm>
            <a:off x="3520440" y="2286000"/>
            <a:ext cx="5577840" cy="457200"/>
          </a:xfrm>
          <a:prstGeom prst="rect">
            <a:avLst/>
          </a:prstGeom>
          <a:solidFill>
            <a:srgbClr val="FFFFFF"/>
          </a:solidFill>
          <a:ln w="6350">
            <a:solidFill>
              <a:srgbClr val="D1DCF0"/>
            </a:solidFill>
            <a:prstDash val="solid"/>
          </a:ln>
        </p:spPr>
        <p:txBody>
          <a:bodyPr/>
          <a:lstStyle/>
          <a:p>
            <a:endParaRPr lang="en-US"/>
          </a:p>
        </p:txBody>
      </p:sp>
      <p:sp>
        <p:nvSpPr>
          <p:cNvPr id="29" name="Text 27"/>
          <p:cNvSpPr/>
          <p:nvPr/>
        </p:nvSpPr>
        <p:spPr>
          <a:xfrm>
            <a:off x="3593592" y="2286000"/>
            <a:ext cx="5486400" cy="45720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All agents emit typed Pydantic v2 models. LLM fallback retries once on schema validation failure</a:t>
            </a:r>
            <a:endParaRPr lang="en-US" sz="1050" dirty="0"/>
          </a:p>
        </p:txBody>
      </p:sp>
      <p:sp>
        <p:nvSpPr>
          <p:cNvPr id="30" name="Shape 28"/>
          <p:cNvSpPr/>
          <p:nvPr/>
        </p:nvSpPr>
        <p:spPr>
          <a:xfrm>
            <a:off x="411480" y="2743200"/>
            <a:ext cx="3108960" cy="457200"/>
          </a:xfrm>
          <a:prstGeom prst="rect">
            <a:avLst/>
          </a:prstGeom>
          <a:solidFill>
            <a:srgbClr val="F4F7FB"/>
          </a:solidFill>
          <a:ln w="6350">
            <a:solidFill>
              <a:srgbClr val="D1DCF0"/>
            </a:solidFill>
            <a:prstDash val="solid"/>
          </a:ln>
        </p:spPr>
        <p:txBody>
          <a:bodyPr/>
          <a:lstStyle/>
          <a:p>
            <a:endParaRPr lang="en-US"/>
          </a:p>
        </p:txBody>
      </p:sp>
      <p:sp>
        <p:nvSpPr>
          <p:cNvPr id="31" name="Text 29"/>
          <p:cNvSpPr/>
          <p:nvPr/>
        </p:nvSpPr>
        <p:spPr>
          <a:xfrm>
            <a:off x="484632" y="2743200"/>
            <a:ext cx="2212848" cy="457200"/>
          </a:xfrm>
          <a:prstGeom prst="rect">
            <a:avLst/>
          </a:prstGeom>
          <a:noFill/>
          <a:ln/>
        </p:spPr>
        <p:txBody>
          <a:bodyPr wrap="square" rtlCol="0" anchor="ctr"/>
          <a:lstStyle/>
          <a:p>
            <a:pPr marL="0" indent="0">
              <a:buNone/>
            </a:pPr>
            <a:r>
              <a:rPr lang="en-US" sz="1100" b="1" dirty="0">
                <a:solidFill>
                  <a:srgbClr val="1A2B52"/>
                </a:solidFill>
                <a:latin typeface="Calibri" pitchFamily="34" charset="0"/>
                <a:ea typeface="Calibri" pitchFamily="34" charset="-122"/>
                <a:cs typeface="Calibri" pitchFamily="34" charset="-120"/>
              </a:rPr>
              <a:t>Iterative Refinement</a:t>
            </a:r>
            <a:endParaRPr lang="en-US" sz="1100" dirty="0"/>
          </a:p>
        </p:txBody>
      </p:sp>
      <p:sp>
        <p:nvSpPr>
          <p:cNvPr id="33" name="Text 31"/>
          <p:cNvSpPr/>
          <p:nvPr/>
        </p:nvSpPr>
        <p:spPr>
          <a:xfrm>
            <a:off x="2770632" y="2743200"/>
            <a:ext cx="749808" cy="457200"/>
          </a:xfrm>
          <a:prstGeom prst="rect">
            <a:avLst/>
          </a:prstGeom>
          <a:noFill/>
          <a:ln/>
        </p:spPr>
        <p:txBody>
          <a:bodyPr wrap="square" rtlCol="0" anchor="ctr"/>
          <a:lstStyle/>
          <a:p>
            <a:pPr marL="0" indent="0" algn="ctr">
              <a:buNone/>
            </a:pPr>
            <a:endParaRPr lang="en-US" sz="1100" dirty="0"/>
          </a:p>
        </p:txBody>
      </p:sp>
      <p:sp>
        <p:nvSpPr>
          <p:cNvPr id="34" name="Shape 32"/>
          <p:cNvSpPr/>
          <p:nvPr/>
        </p:nvSpPr>
        <p:spPr>
          <a:xfrm>
            <a:off x="3520440" y="2743200"/>
            <a:ext cx="5577840" cy="457200"/>
          </a:xfrm>
          <a:prstGeom prst="rect">
            <a:avLst/>
          </a:prstGeom>
          <a:solidFill>
            <a:srgbClr val="F4F7FB"/>
          </a:solidFill>
          <a:ln w="6350">
            <a:solidFill>
              <a:srgbClr val="D1DCF0"/>
            </a:solidFill>
            <a:prstDash val="solid"/>
          </a:ln>
        </p:spPr>
        <p:txBody>
          <a:bodyPr/>
          <a:lstStyle/>
          <a:p>
            <a:endParaRPr lang="en-US"/>
          </a:p>
        </p:txBody>
      </p:sp>
      <p:sp>
        <p:nvSpPr>
          <p:cNvPr id="35" name="Text 33"/>
          <p:cNvSpPr/>
          <p:nvPr/>
        </p:nvSpPr>
        <p:spPr>
          <a:xfrm>
            <a:off x="3593592" y="2743200"/>
            <a:ext cx="5486400" cy="45720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4-stage savings loop: gross → − clinical risk → − adherence penalty → risk-adjusted savings + band</a:t>
            </a:r>
            <a:endParaRPr lang="en-US" sz="1050" dirty="0"/>
          </a:p>
        </p:txBody>
      </p:sp>
      <p:sp>
        <p:nvSpPr>
          <p:cNvPr id="36" name="Shape 34"/>
          <p:cNvSpPr/>
          <p:nvPr/>
        </p:nvSpPr>
        <p:spPr>
          <a:xfrm>
            <a:off x="411480" y="3200400"/>
            <a:ext cx="3108960" cy="457200"/>
          </a:xfrm>
          <a:prstGeom prst="rect">
            <a:avLst/>
          </a:prstGeom>
          <a:solidFill>
            <a:srgbClr val="FFFFFF"/>
          </a:solidFill>
          <a:ln w="6350">
            <a:solidFill>
              <a:srgbClr val="D1DCF0"/>
            </a:solidFill>
            <a:prstDash val="solid"/>
          </a:ln>
        </p:spPr>
        <p:txBody>
          <a:bodyPr/>
          <a:lstStyle/>
          <a:p>
            <a:endParaRPr lang="en-US"/>
          </a:p>
        </p:txBody>
      </p:sp>
      <p:sp>
        <p:nvSpPr>
          <p:cNvPr id="37" name="Text 35"/>
          <p:cNvSpPr/>
          <p:nvPr/>
        </p:nvSpPr>
        <p:spPr>
          <a:xfrm>
            <a:off x="484632" y="3200400"/>
            <a:ext cx="2212848" cy="457200"/>
          </a:xfrm>
          <a:prstGeom prst="rect">
            <a:avLst/>
          </a:prstGeom>
          <a:noFill/>
          <a:ln/>
        </p:spPr>
        <p:txBody>
          <a:bodyPr wrap="square" rtlCol="0" anchor="ctr"/>
          <a:lstStyle/>
          <a:p>
            <a:pPr marL="0" indent="0">
              <a:buNone/>
            </a:pPr>
            <a:r>
              <a:rPr lang="en-US" sz="1100" b="1" dirty="0">
                <a:solidFill>
                  <a:srgbClr val="1A2B52"/>
                </a:solidFill>
                <a:latin typeface="Calibri" pitchFamily="34" charset="0"/>
                <a:ea typeface="Calibri" pitchFamily="34" charset="-122"/>
                <a:cs typeface="Calibri" pitchFamily="34" charset="-120"/>
              </a:rPr>
              <a:t>Artifacts</a:t>
            </a:r>
            <a:endParaRPr lang="en-US" sz="1100" dirty="0"/>
          </a:p>
        </p:txBody>
      </p:sp>
      <p:sp>
        <p:nvSpPr>
          <p:cNvPr id="39" name="Text 37"/>
          <p:cNvSpPr/>
          <p:nvPr/>
        </p:nvSpPr>
        <p:spPr>
          <a:xfrm>
            <a:off x="2770632" y="3200400"/>
            <a:ext cx="749808" cy="457200"/>
          </a:xfrm>
          <a:prstGeom prst="rect">
            <a:avLst/>
          </a:prstGeom>
          <a:noFill/>
          <a:ln/>
        </p:spPr>
        <p:txBody>
          <a:bodyPr wrap="square" rtlCol="0" anchor="ctr"/>
          <a:lstStyle/>
          <a:p>
            <a:pPr marL="0" indent="0" algn="ctr">
              <a:buNone/>
            </a:pPr>
            <a:endParaRPr lang="en-US" sz="1100" dirty="0"/>
          </a:p>
        </p:txBody>
      </p:sp>
      <p:sp>
        <p:nvSpPr>
          <p:cNvPr id="40" name="Shape 38"/>
          <p:cNvSpPr/>
          <p:nvPr/>
        </p:nvSpPr>
        <p:spPr>
          <a:xfrm>
            <a:off x="3520440" y="3200400"/>
            <a:ext cx="5577840" cy="457200"/>
          </a:xfrm>
          <a:prstGeom prst="rect">
            <a:avLst/>
          </a:prstGeom>
          <a:solidFill>
            <a:srgbClr val="FFFFFF"/>
          </a:solidFill>
          <a:ln w="6350">
            <a:solidFill>
              <a:srgbClr val="D1DCF0"/>
            </a:solidFill>
            <a:prstDash val="solid"/>
          </a:ln>
        </p:spPr>
        <p:txBody>
          <a:bodyPr/>
          <a:lstStyle/>
          <a:p>
            <a:endParaRPr lang="en-US"/>
          </a:p>
        </p:txBody>
      </p:sp>
      <p:sp>
        <p:nvSpPr>
          <p:cNvPr id="41" name="Text 39"/>
          <p:cNvSpPr/>
          <p:nvPr/>
        </p:nvSpPr>
        <p:spPr>
          <a:xfrm>
            <a:off x="3593592" y="3200400"/>
            <a:ext cx="5486400" cy="45720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4-PDF Switch Package (reportlab) + CSV export. Clicking 'Download' returns a ZIP at runtime</a:t>
            </a:r>
            <a:endParaRPr lang="en-US" sz="1050" dirty="0"/>
          </a:p>
        </p:txBody>
      </p:sp>
      <p:sp>
        <p:nvSpPr>
          <p:cNvPr id="42" name="Shape 40"/>
          <p:cNvSpPr/>
          <p:nvPr/>
        </p:nvSpPr>
        <p:spPr>
          <a:xfrm>
            <a:off x="411480" y="3657600"/>
            <a:ext cx="3108960" cy="457200"/>
          </a:xfrm>
          <a:prstGeom prst="rect">
            <a:avLst/>
          </a:prstGeom>
          <a:solidFill>
            <a:srgbClr val="F4F7FB"/>
          </a:solidFill>
          <a:ln w="6350">
            <a:solidFill>
              <a:srgbClr val="D1DCF0"/>
            </a:solidFill>
            <a:prstDash val="solid"/>
          </a:ln>
        </p:spPr>
        <p:txBody>
          <a:bodyPr/>
          <a:lstStyle/>
          <a:p>
            <a:endParaRPr lang="en-US"/>
          </a:p>
        </p:txBody>
      </p:sp>
      <p:sp>
        <p:nvSpPr>
          <p:cNvPr id="43" name="Text 41"/>
          <p:cNvSpPr/>
          <p:nvPr/>
        </p:nvSpPr>
        <p:spPr>
          <a:xfrm>
            <a:off x="484632" y="3657600"/>
            <a:ext cx="2212848" cy="457200"/>
          </a:xfrm>
          <a:prstGeom prst="rect">
            <a:avLst/>
          </a:prstGeom>
          <a:noFill/>
          <a:ln/>
        </p:spPr>
        <p:txBody>
          <a:bodyPr wrap="square" rtlCol="0" anchor="ctr"/>
          <a:lstStyle/>
          <a:p>
            <a:pPr marL="0" indent="0">
              <a:buNone/>
            </a:pPr>
            <a:r>
              <a:rPr lang="en-US" sz="1100" b="1" dirty="0">
                <a:solidFill>
                  <a:srgbClr val="1A2B52"/>
                </a:solidFill>
                <a:latin typeface="Calibri" pitchFamily="34" charset="0"/>
                <a:ea typeface="Calibri" pitchFamily="34" charset="-122"/>
                <a:cs typeface="Calibri" pitchFamily="34" charset="-120"/>
              </a:rPr>
              <a:t>Code Execution</a:t>
            </a:r>
            <a:endParaRPr lang="en-US" sz="1100" dirty="0"/>
          </a:p>
        </p:txBody>
      </p:sp>
      <p:sp>
        <p:nvSpPr>
          <p:cNvPr id="45" name="Text 43"/>
          <p:cNvSpPr/>
          <p:nvPr/>
        </p:nvSpPr>
        <p:spPr>
          <a:xfrm>
            <a:off x="2770632" y="3657600"/>
            <a:ext cx="749808" cy="457200"/>
          </a:xfrm>
          <a:prstGeom prst="rect">
            <a:avLst/>
          </a:prstGeom>
          <a:noFill/>
          <a:ln/>
        </p:spPr>
        <p:txBody>
          <a:bodyPr wrap="square" rtlCol="0" anchor="ctr"/>
          <a:lstStyle/>
          <a:p>
            <a:pPr marL="0" indent="0" algn="ctr">
              <a:buNone/>
            </a:pPr>
            <a:endParaRPr lang="en-US" sz="1100" dirty="0"/>
          </a:p>
        </p:txBody>
      </p:sp>
      <p:sp>
        <p:nvSpPr>
          <p:cNvPr id="46" name="Shape 44"/>
          <p:cNvSpPr/>
          <p:nvPr/>
        </p:nvSpPr>
        <p:spPr>
          <a:xfrm>
            <a:off x="3520440" y="3657600"/>
            <a:ext cx="5577840" cy="457200"/>
          </a:xfrm>
          <a:prstGeom prst="rect">
            <a:avLst/>
          </a:prstGeom>
          <a:solidFill>
            <a:srgbClr val="F4F7FB"/>
          </a:solidFill>
          <a:ln w="6350">
            <a:solidFill>
              <a:srgbClr val="D1DCF0"/>
            </a:solidFill>
            <a:prstDash val="solid"/>
          </a:ln>
        </p:spPr>
        <p:txBody>
          <a:bodyPr/>
          <a:lstStyle/>
          <a:p>
            <a:endParaRPr lang="en-US"/>
          </a:p>
        </p:txBody>
      </p:sp>
      <p:sp>
        <p:nvSpPr>
          <p:cNvPr id="47" name="Text 45"/>
          <p:cNvSpPr/>
          <p:nvPr/>
        </p:nvSpPr>
        <p:spPr>
          <a:xfrm>
            <a:off x="3593592" y="3657600"/>
            <a:ext cx="5486400" cy="45720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Chat endpoint runs pandas CSV parsing + full agent pipeline per row at request time — no pre-processing</a:t>
            </a:r>
            <a:endParaRPr lang="en-US" sz="1050" dirty="0"/>
          </a:p>
        </p:txBody>
      </p:sp>
      <p:sp>
        <p:nvSpPr>
          <p:cNvPr id="48" name="Shape 46"/>
          <p:cNvSpPr/>
          <p:nvPr/>
        </p:nvSpPr>
        <p:spPr>
          <a:xfrm>
            <a:off x="411480" y="4114800"/>
            <a:ext cx="3108960" cy="457200"/>
          </a:xfrm>
          <a:prstGeom prst="rect">
            <a:avLst/>
          </a:prstGeom>
          <a:solidFill>
            <a:srgbClr val="FFFFFF"/>
          </a:solidFill>
          <a:ln w="6350">
            <a:solidFill>
              <a:srgbClr val="D1DCF0"/>
            </a:solidFill>
            <a:prstDash val="solid"/>
          </a:ln>
        </p:spPr>
        <p:txBody>
          <a:bodyPr/>
          <a:lstStyle/>
          <a:p>
            <a:endParaRPr lang="en-US"/>
          </a:p>
        </p:txBody>
      </p:sp>
      <p:sp>
        <p:nvSpPr>
          <p:cNvPr id="49" name="Text 47"/>
          <p:cNvSpPr/>
          <p:nvPr/>
        </p:nvSpPr>
        <p:spPr>
          <a:xfrm>
            <a:off x="484632" y="4114800"/>
            <a:ext cx="2212848" cy="457200"/>
          </a:xfrm>
          <a:prstGeom prst="rect">
            <a:avLst/>
          </a:prstGeom>
          <a:noFill/>
          <a:ln/>
        </p:spPr>
        <p:txBody>
          <a:bodyPr wrap="square" rtlCol="0" anchor="ctr"/>
          <a:lstStyle/>
          <a:p>
            <a:pPr marL="0" indent="0">
              <a:buNone/>
            </a:pPr>
            <a:r>
              <a:rPr lang="en-US" sz="1100" b="1" dirty="0">
                <a:solidFill>
                  <a:srgbClr val="1A2B52"/>
                </a:solidFill>
                <a:latin typeface="Calibri" pitchFamily="34" charset="0"/>
                <a:ea typeface="Calibri" pitchFamily="34" charset="-122"/>
                <a:cs typeface="Calibri" pitchFamily="34" charset="-120"/>
              </a:rPr>
              <a:t>Data Visualization</a:t>
            </a:r>
            <a:endParaRPr lang="en-US" sz="1100" dirty="0"/>
          </a:p>
        </p:txBody>
      </p:sp>
      <p:sp>
        <p:nvSpPr>
          <p:cNvPr id="51" name="Text 49"/>
          <p:cNvSpPr/>
          <p:nvPr/>
        </p:nvSpPr>
        <p:spPr>
          <a:xfrm>
            <a:off x="2770632" y="4114800"/>
            <a:ext cx="749808" cy="457200"/>
          </a:xfrm>
          <a:prstGeom prst="rect">
            <a:avLst/>
          </a:prstGeom>
          <a:noFill/>
          <a:ln/>
        </p:spPr>
        <p:txBody>
          <a:bodyPr wrap="square" rtlCol="0" anchor="ctr"/>
          <a:lstStyle/>
          <a:p>
            <a:pPr marL="0" indent="0" algn="ctr">
              <a:buNone/>
            </a:pPr>
            <a:endParaRPr lang="en-US" sz="1100" dirty="0"/>
          </a:p>
        </p:txBody>
      </p:sp>
      <p:sp>
        <p:nvSpPr>
          <p:cNvPr id="52" name="Shape 50"/>
          <p:cNvSpPr/>
          <p:nvPr/>
        </p:nvSpPr>
        <p:spPr>
          <a:xfrm>
            <a:off x="3520440" y="4114800"/>
            <a:ext cx="5577840" cy="457200"/>
          </a:xfrm>
          <a:prstGeom prst="rect">
            <a:avLst/>
          </a:prstGeom>
          <a:solidFill>
            <a:srgbClr val="FFFFFF"/>
          </a:solidFill>
          <a:ln w="6350">
            <a:solidFill>
              <a:srgbClr val="D1DCF0"/>
            </a:solidFill>
            <a:prstDash val="solid"/>
          </a:ln>
        </p:spPr>
        <p:txBody>
          <a:bodyPr/>
          <a:lstStyle/>
          <a:p>
            <a:endParaRPr lang="en-US"/>
          </a:p>
        </p:txBody>
      </p:sp>
      <p:sp>
        <p:nvSpPr>
          <p:cNvPr id="53" name="Text 51"/>
          <p:cNvSpPr/>
          <p:nvPr/>
        </p:nvSpPr>
        <p:spPr>
          <a:xfrm>
            <a:off x="3593592" y="4114800"/>
            <a:ext cx="5486400" cy="45720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3 Chart.js charts on dashboard: savings by band, clinical risk histogram, top 10 drugs</a:t>
            </a:r>
            <a:endParaRPr lang="en-US" sz="1050" dirty="0"/>
          </a:p>
        </p:txBody>
      </p:sp>
      <p:sp>
        <p:nvSpPr>
          <p:cNvPr id="55" name="Text 53"/>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1775</Words>
  <Application>Microsoft Macintosh PowerPoint</Application>
  <PresentationFormat>On-screen Show (16:9)</PresentationFormat>
  <Paragraphs>233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PharmaFlow AI</dc:title>
  <dc:subject>PptxGenJS Presentation</dc:subject>
  <dc:creator>PptxGenJS</dc:creator>
  <cp:lastModifiedBy>am6845</cp:lastModifiedBy>
  <cp:revision>2</cp:revision>
  <dcterms:created xsi:type="dcterms:W3CDTF">2026-05-03T20:56:43Z</dcterms:created>
  <dcterms:modified xsi:type="dcterms:W3CDTF">2026-05-03T23:26:52Z</dcterms:modified>
</cp:coreProperties>
</file>